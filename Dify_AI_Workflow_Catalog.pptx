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CCFF"/>
                </a:solidFill>
                <a:latin typeface="Meiryo"/>
              </a:defRPr>
            </a:pPr>
            <a:r>
              <a:t>Dify AI ワークフロー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Meiryo"/>
              </a:defRPr>
            </a:pPr>
            <a:r>
              <a:t>ファミレスメニュー カタログ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Meiryo"/>
              </a:defRPr>
            </a:pPr>
            <a:r>
              <a:t>〜 全170品 × 3つの探し方 〜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474720"/>
            <a:ext cx="274320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292608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Meiryo"/>
              </a:defRPr>
            </a:pPr>
            <a:r>
              <a:t>お悩みで選ぶ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389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「文書作成が遅い」</a:t>
            </a:r>
            <a:br/>
            <a:r>
              <a:t>「コスト削減したい」…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840480"/>
            <a:ext cx="2926080" cy="16459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Meiryo"/>
              </a:defRPr>
            </a:pPr>
            <a:r>
              <a:t>部門で選ぶ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389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営業・マーケ・人事・</a:t>
            </a:r>
            <a:br/>
            <a:r>
              <a:t>法務・経理・IT…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40480"/>
            <a:ext cx="292608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2A4A"/>
                </a:solidFill>
                <a:latin typeface="Meiryo"/>
              </a:defRPr>
            </a:pPr>
            <a:r>
              <a:t>業界で選ぶ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43891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製造・金融・医療・</a:t>
            </a:r>
            <a:br/>
            <a:r>
              <a:t>自動車・製薬・農業…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eiryo"/>
              </a:defRPr>
            </a:pPr>
            <a:r>
              <a:t>2026年02月  |  Powered by Dify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メニュー全体構成：21コース × 170品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どの業界のどの部門にも「すぐ出せる」AIソリューションを網羅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9144000" cy="4837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926080"/>
                <a:gridCol w="3200400"/>
                <a:gridCol w="731520"/>
                <a:gridCol w="1828800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コース名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対象業界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品数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番号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共通コース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全業種共通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25品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AIS-01〜25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製造業コース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製造業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AIS-26〜33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金融・保険コース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銀行・証券・保険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AIS-34〜41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医療・ヘルスケアコース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病院・クリニック・薬局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AIS-42〜49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小売・ECコース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小売・EC事業者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AIS-50〜57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不動産コース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不動産会社・管理会社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AIS-58〜64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教育コース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学校・塾・研修機関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AIS-65〜71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物流・SCMコース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物流会社・メーカー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AIS-72〜77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IT・SaaSコース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IT企業・SaaS事業者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AIS-78〜84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飲食・ホスピタリティ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飲食店・ホテル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AIS-85〜90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建設コース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建設会社・工務店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AIS-91〜96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メディア・広告コース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メディア・広告代理店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AIS-97〜102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士業・専門サービス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法律・会計・特許事務所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AIS-103〜108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自治体・公共コース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自治体・公共機関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AIS-109〜114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人材・派遣コース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人材紹介・派遣会社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AIS-115〜120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クロスファンクション上級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全業種（高度AI活用）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10品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AIS-121〜130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自動車・モビリティ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自動車メーカー・ディーラー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AIS-131〜138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医薬品・ライフサイエンス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製薬・CRO・医療機器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AIS-139〜146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エネルギー・インフラ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電力・ガス・再エネ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AIS-147〜154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旅行・観光・ホテル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旅行代理店・宿泊施設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AIS-155〜162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農業・食品加工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農業法人・食品メーカー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8品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AIS-163〜170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合計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21コース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170品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AIS-01〜170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6400800"/>
            <a:ext cx="3657600" cy="320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■ オレンジ = 今回の新規追加 50品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探し方 1：お悩みで選ぶ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「こんなことで困っている」→ おすすめワークフローがすぐ見つかります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474720" cy="2423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291840" cy="59436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文書作成に</a:t>
            </a:r>
            <a:br/>
            <a:r>
              <a:t>時間がかかりすぎる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AIS-121 AI文書校正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AIS-04 議事録AI要約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0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AIS-129 ダッシュボードナラティブ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AIS-09 営業提案書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92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AIS-127 RFP自動回答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371600"/>
            <a:ext cx="3474720" cy="2423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1463040"/>
            <a:ext cx="3291840" cy="5943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630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顧客対応を</a:t>
            </a:r>
            <a:br/>
            <a:r>
              <a:t>効率化したい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AIS-122 商談録音AI分析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AIS-03 FAQチャットボット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770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AIS-126 リードスコアリング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AIS-15 問い合わせ自動分類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392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AIS-14 VOC分析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1371600"/>
            <a:ext cx="3474720" cy="2423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19" y="1463040"/>
            <a:ext cx="3291840" cy="5943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9" y="14630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マーケティングを</a:t>
            </a:r>
            <a:br/>
            <a:r>
              <a:t>強化したい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AIS-01 SEO記事自動生成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AIS-125 ブランドモニタリング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2770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AIS-08 コピー一括生成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30815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AIS-13 A/Bテスト生成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3392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AIS-162 観光マーケティング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977639"/>
            <a:ext cx="3474720" cy="2423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4069079"/>
            <a:ext cx="3291840" cy="594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069079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コスト削減・</a:t>
            </a:r>
            <a:br/>
            <a:r>
              <a:t>業務効率化を実現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AIS-124 請求書→仕訳変換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6577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AIS-123 多言語ローカライズ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7667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AIS-128 ESGレポート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68756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AIS-167 補助金申請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9846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AIS-130 社内規程AI検索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3977639"/>
            <a:ext cx="3474720" cy="2423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297680" y="4069079"/>
            <a:ext cx="3291840" cy="5943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069079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コンプライアンス</a:t>
            </a:r>
            <a:br/>
            <a:r>
              <a:t>リスク管理を強化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7548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AIS-02 契約書リスクレビュー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06577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AIS-152 保安規程チェック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37667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AIS-166 食品表示チェック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68756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AIS-161 旅行業約款チェック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99846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AIS-17 コンプライアンスCL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55279" y="3977639"/>
            <a:ext cx="3474720" cy="24231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46719" y="4069079"/>
            <a:ext cx="329184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59" y="4069079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業界の専門業務を</a:t>
            </a:r>
            <a:br/>
            <a:r>
              <a:t>DXしたい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59" y="47548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AIS-131 DRBFM分析(自動車)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59" y="5065775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AIS-139 治験プロトコル(製薬)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59" y="5376671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AIS-147 巡視点検(エネルギー)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59" y="568756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AIS-155 旅行プラン(観光)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59" y="599846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AIS-163 栽培記録(農業)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探し方 2：部門で選ぶ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あなたの部門で「今日から使える」ワークフローを見つけてください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6974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2606040" cy="41148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356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営業部門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AIS-122 商談録音AI分析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AIS-126 リードスコアリング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AIS-127 RFP自動回答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AIS-09 営業提案書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371600"/>
            <a:ext cx="26974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1417320"/>
            <a:ext cx="2606040" cy="411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4356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マーケティング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920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AIS-125 ブランドモニタリング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AIS-01 SEO記事自動生成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AIS-08 コピー一括生成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154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AIS-162 観光マーケティング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371600"/>
            <a:ext cx="26974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260604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4356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人事・HR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920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AIS-10 求人票自動生成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AIS-18 履歴書スクリーニング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AIS-19 面接質問生成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154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AIS-25 研修コンテンツ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1371600"/>
            <a:ext cx="26974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52560" y="1417320"/>
            <a:ext cx="260604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4356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法務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19202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AIS-02 契約書リスクレビュー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AIS-130 社内規程AI検索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AIS-17 コンプライアンスCL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1546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AIS-16 利用規約生成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886200"/>
            <a:ext cx="26974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1480" y="3931920"/>
            <a:ext cx="260604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9502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経理・財務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434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AIS-124 請求書→仕訳変換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846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AIS-128 ESGレポート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AIS-21 財務分析レポート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669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AIS-129 ダッシュボードナラティブ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46120" y="3886200"/>
            <a:ext cx="26974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291840" y="3931920"/>
            <a:ext cx="260604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39502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品質管理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434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AIS-131 DRBFM分析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4846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AIS-133 FMEA分析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AIS-143 GMP逸脱報告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669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AIS-138 IATF監査CL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3886200"/>
            <a:ext cx="26974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72200" y="3931920"/>
            <a:ext cx="260604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9502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経営企画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434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AIS-129 ダッシュボードナラティブ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4846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eiryo"/>
              </a:defRPr>
            </a:pPr>
            <a:r>
              <a:t>★ AIS-121 AI文書校正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AIS-04 議事録AI要約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5669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AIS-06 長文ドキュメント要約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06840" y="3886200"/>
            <a:ext cx="26974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052560" y="3931920"/>
            <a:ext cx="2606040" cy="411480"/>
          </a:xfrm>
          <a:prstGeom prst="roundRect">
            <a:avLst/>
          </a:prstGeom>
          <a:solidFill>
            <a:srgbClr val="45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98280" y="395020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IT・情シス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44348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AIS-05 ナレッジAI検索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48463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AIS-23 Text-to-SQL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AIS-78 障害報告書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56692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eiryo"/>
              </a:defRPr>
            </a:pPr>
            <a:r>
              <a:t>  AIS-81 テストケース生成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コース16：クロスファンクション上級 10品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既存の単独AIサービスを Dify で再現し、外部コストを削減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96012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再現対象（既存AIサービス）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主な効果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AI文書校正・品質改善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Grammarly / 文賢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外部ツール月額×人数分を削減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商談録音AI分析・コーチング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Gong / MiiTel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営業1人月2h振り返り効率化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多言語翻訳・ローカライズ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DeepL / WOVN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翻訳外注コスト70%削減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請求書AI読取→仕訳提案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freee / invox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経理1人月10h入力作業削減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SNSブランドモニタリング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Meltwater / Brandwatch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月額10〜30万のツール代替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リードスコアリング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Salesforce Einstein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営業の無駄アプローチ50%削減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RFP自動回答ジェネレーター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RFPIO / Loopio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提案書作成時間70%短縮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ESGレポート生成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Workiva / Diligent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外部コンサル費用を大幅削減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経営ダッシュボードナラティブ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Narrative Science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月次報告書作成80%短縮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社内規程AI検索・改訂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（自社開発が必要だった領域）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規程管理の属人化を解消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5760720"/>
            <a:ext cx="11430000" cy="5029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Meiryo"/>
              </a:defRPr>
            </a:pPr>
            <a:r>
              <a:t>Point：外部AI SaaS合計 1人あたり月5,000〜20,000円 → Dify一括代替で100名規模なら年間600〜2,400万円削減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コース17：自動車・モビリティ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日本の基幹産業。品質文書・ディーラー業務をAIで革新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品質不具合分析（DRBFM）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不具合→DRBFM形式の変化点分析・対策レポート自動生成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リコール影響範囲分析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リコール情報→影響範囲・優先度・顧客通知文を生成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品質保証・CS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FMEA分析シート生成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設計/工程情報→故障モード・影響・検出のFMEAシート作成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設計・生産技術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ディーラー接客スクリプト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車種・顧客属性→試乗誘導・クロージングのスクリプト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ディーラー営業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車両点検レポート生成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点検データ→顧客向けレポート＋整備提案を自動作成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サービスフロント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自動車保険見積説明書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車両・顧客情報→保険見積の比較説明書を自動生成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保険窓口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サービスキャンペーン通知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キャンペーン情報→DM・メール・SMS通知文を一括生成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マーケティング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IATF 16949監査チェック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監査範囲→IATF要求事項の監査チェックリスト生成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品質管理・監査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5760720"/>
            <a:ext cx="11612880" cy="502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Meiryo"/>
              </a:defRPr>
            </a:pPr>
            <a:r>
              <a:t>対象企業：自動車OEM / Tier1-3サプライヤー / カーディーラー / 自動車整備工場 / 自動車保険会社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コース18：医薬品・ライフサイエンス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GxP文書・治験・薬事申請の膨大な文書作成をAIで効率化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治験プロトコル要約生成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治験計画書→IRB向け構造化要約（PICOT形式）を自動作成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臨床開発部門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添付文書ドラフト生成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薬理情報・臨床データ→添付文書ドラフトを自動生成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薬事部門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副作用報告（CIOMS）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副作用情報→CIOMS-I形式の安全性報告書ドラフト作成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PV部門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MRディテーリング資料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製品・競合情報→MR用ディテーリング資料を生成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MR・営業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GMP逸脱報告書生成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逸脱概要→GMP逸脱報告書（CAPA付き）を自動作成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品質保証部門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安定性試験レポート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試験データ→ICH Q1準拠の安定性試験レポートを生成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品質管理部門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薬事申請CTD要約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CTDデータ→品質・非臨床・臨床の概要ドラフト自動生成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薬事申請担当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PVシグナル分析レポート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有害事象データ→シグナル検出・評価・対応推奨を分析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PV責任者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5760720"/>
            <a:ext cx="11612880" cy="502920"/>
          </a:xfrm>
          <a:prstGeom prst="roundRect">
            <a:avLst/>
          </a:prstGeom>
          <a:solidFill>
            <a:srgbClr val="E8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Meiryo"/>
              </a:defRPr>
            </a:pPr>
            <a:r>
              <a:t>全出力に「AIドラフト・専門家確認必須」注記を自動付与。GxP環境ではDify監査ログとの連携を推奨。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コース19：エネルギー・インフラ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脱炭素・電力自由化時代の安全管理・環境対応をAIで支援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プラント巡視点検レポート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点検データ→異常検知ハイライト付きレポート自動作成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保全担当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電力需給予測ナラティブ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需給データ・気象予報→需給予測説明レポート自動生成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需給運用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環境アセスメント報告書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環境調査データ→環境影響評価報告書ドラフト生成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環境部門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設備故障RCAレポート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故障情報→根本原因分析＋再発防止策レポート自動作成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設備保全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カーボンフットプリント計算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排出データ→CO2排出量計算書（Scope1-3）を生成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ESG推進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保安規程チェックリスト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施設情報→電気/ガス事業法の保安規程チェック生成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保安管理者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電力料金プラン提案書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使用電力量→最適料金プラン比較＋提案書を自動作成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営業担当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再エネ発電所月次報告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発電データ→月次運転報告書を自動生成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発電所管理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5760720"/>
            <a:ext cx="1161288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eiryo"/>
              </a:defRPr>
            </a:pPr>
            <a:r>
              <a:t>対象企業：電力会社 / ガス会社 / 再エネ事業者 / プラントエンジニアリング / 公共インフラ管理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コース20：旅行・観光・ホテル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インバウンド4,000万人時代。多言語対応と顧客体験をAIで強化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旅行プラン自動提案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希望条件→パーソナライズ旅行プラン＋見積を自動生成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旅行カウンター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観光地多言語ガイド生成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スポット情報→日英中韓の多言語ガイド文を一括生成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DMO・観光協会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OTA口コミ分析・改善提案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Booking/じゃらん口コミ→分析・改善優先度・回答文生成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宿泊施設GM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宿泊プラン企画書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施設特徴・ターゲット→プラン企画書（料金・販促文含む）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企画担当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インバウンド接客フレーズ集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業態・FAQ→英中韓の接客フレーズ＋対応マニュアル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フロント・接客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ツアーガイド台本生成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ルート情報→ガイドスクリプト（歴史・豆知識含む）作成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ツアーガイド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旅行業約款チェックリスト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ツアー内容→旅行業法に基づく説明事項チェック生成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旅行業務取扱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観光マーケティングレポート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観光客データ→観光DMP分析レポートを自動生成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DMO・行政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5760720"/>
            <a:ext cx="11612880" cy="502920"/>
          </a:xfrm>
          <a:prstGeom prst="round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Meiryo"/>
              </a:defRPr>
            </a:pPr>
            <a:r>
              <a:t>対象企業：旅行会社 / OTA / ホテル・旅館 / 観光施設 / 自治体観光課 / DMO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コース21：農業・食品加工 8品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スマート農業・HACCP対応・6次産業化をAIで推進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371600"/>
          <a:ext cx="9601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4937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メニュー名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対象ユーザー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栽培記録・出荷記録生成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作物情報・農薬使用→GAP準拠の栽培・出荷記録作成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農業法人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HACCP管理記録シート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加工工程・CCP情報→HACCP対応の管理記録シート生成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食品工場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農産物POP・商品説明文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農産物特徴→直売所POP＋EC用商品説明を自動生成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直売所・EC担当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食品表示ラベルチェック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原材料・アレルゲン→食品表示法準拠のチェック結果生成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農水省補助金申請ドラフト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事業計画→農水省系補助金の申請書ドラフト自動作成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経営企画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病害虫診断・対策提案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症状・栽培環境→病害虫の推定診断＋防除対策を提案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営農指導員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トレーサビリティ報告書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生産〜流通データ→食品トレーサビリティ報告書を生成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品質保証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6次産業化事業計画書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農産物・加工品→6次産業化の事業計画書ドラフト作成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農業経営者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5760720"/>
            <a:ext cx="1161288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Meiryo"/>
              </a:defRPr>
            </a:pPr>
            <a:r>
              <a:t>対象企業：農業法人 / JA / 食品加工メーカー / 食品流通 / 自治体農政課 / 農業支援機関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探し方 3：業界で選ぶ — 業界×課題マトリクス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「何から始めるべきか」を一目で判断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969264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274320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業界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まず試すべき1品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次に広げる2品目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最終ゴール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製造業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AIS-26 品質検査レポート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AIS-27 SOP自動生成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品質文書の完全自動化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金融・保険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AIS-34 融資審査コメント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AIS-37 AML/KYCチェック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規制対応のスピード化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医療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AIS-43 診療サマリー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AIS-42 患者説明文書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医師の文書作成ゼロ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小売・EC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AIS-50 商品説明文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AIS-51 レビュー分析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データドリブン経営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不動産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AIS-58 物件紹介文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AIS-59 重説チェック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物件登録スピード3倍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AIS-68 通知表所見文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AIS-66 テスト問題生成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教員の働き方改革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IT・SaaS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AIS-78 障害報告書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AIS-81 テストケース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ドキュメント負債の解消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自動車【NEW】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AIS-131 DRBFM分析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AIS-133 FMEA生成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品質管理DX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医薬品【NEW】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AIS-139 治験プロトコル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AIS-143 GMP逸脱報告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GxP文書の効率化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エネルギー【NEW】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AIS-147 巡視点検レポート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AIS-151 CO2計算書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脱炭素対応の加速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旅行・観光【NEW】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AIS-155 旅行プラン提案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AIS-156 多言語ガイド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インバウンド対応完備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農業【NEW】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AIS-163 栽培記録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AIS-164 HACCP記録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6B35"/>
                          </a:solidFill>
                          <a:latin typeface="Meiryo"/>
                        </a:defRPr>
                      </a:pPr>
                      <a:r>
                        <a:t>スマート農業の実現</a:t>
                      </a:r>
                    </a:p>
                  </a:txBody>
                  <a:tcPr anchor="ctr"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導入効果シミュレーション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ワークフロー1品あたりの平均ROIは年間900万円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CDF"/>
                </a:solidFill>
                <a:latin typeface="Meiryo"/>
              </a:defRPr>
            </a:pPr>
            <a:r>
              <a:t>1品あたりの年間コスト削減効果（試算）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79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対象担当者数:                    10名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利用頻度:                              週2回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1回あたり時間削減:            1.8時間（3h → 1.2h）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年間削減時間:                      1,800時間</a:t>
            </a:r>
          </a:p>
          <a:p>
            <a:pPr algn="l">
              <a:spcAft>
                <a:spcPts val="979"/>
              </a:spcAft>
              <a:defRPr sz="1400" b="0">
                <a:solidFill>
                  <a:srgbClr val="333333"/>
                </a:solidFill>
                <a:latin typeface="Meiryo"/>
              </a:defRPr>
            </a:pPr>
            <a:r>
              <a:t>時給換算（@5,000円）:       900万円 / 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Meiryo"/>
              </a:defRPr>
            </a:pPr>
            <a:r>
              <a:t>導入パターン別 年間効果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011680"/>
          <a:ext cx="47548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40080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導入パターン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品数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コスト削減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売上向上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年間合計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スモールスタート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600万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部門導入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15品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1,500万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1,800万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全社導入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25品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3,000万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1,000万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4,000万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フル活用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30品+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5,000万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2,000万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Meiryo"/>
                        </a:defRPr>
                      </a:pPr>
                      <a:r>
                        <a:t>7,000万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389120"/>
            <a:ext cx="1097280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Meiryo"/>
              </a:defRPr>
            </a:pPr>
            <a:r>
              <a:t>外部AI SaaSサービスの代替効果（コース16導入時）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Grammarly Business: 月額$25/人 × 100名 = 年間約450万円 → Difyで代替</a:t>
            </a:r>
          </a:p>
          <a:p>
            <a:pPr algn="l">
              <a:spcAft>
                <a:spcPts val="5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翻訳外注: 月50万円 × 12ヶ月 = 年間600万円 → 70%削減で420万円の効果</a:t>
            </a:r>
          </a:p>
          <a:p>
            <a:pPr algn="l">
              <a:spcAft>
                <a:spcPts val="55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ブランドモニタリングツール: 月額30万 × 12ヶ月 = 年間360万円 → Difyで代替</a:t>
            </a:r>
          </a:p>
          <a:p>
            <a:pPr algn="l">
              <a:spcAft>
                <a:spcPts val="559"/>
              </a:spcAft>
              <a:defRPr sz="1400" b="1">
                <a:solidFill>
                  <a:srgbClr val="27AE60"/>
                </a:solidFill>
                <a:latin typeface="Meiryo"/>
              </a:defRPr>
            </a:pPr>
            <a:r>
              <a:t>合計: 年間1,200万円以上の外部サービスコストを Dify に一本化可能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導入ロードマップ：5ステップ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PoC（概念実証）から全社展開まで、段階的に進めます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5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6CDF"/>
                </a:solidFill>
                <a:latin typeface="Meiryo"/>
              </a:defRPr>
            </a:pPr>
            <a:r>
              <a:t>課題特定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280160" cy="27432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現場ヒアリングで</a:t>
            </a:r>
            <a:br/>
            <a:r>
              <a:t>対象業務を選定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77440" y="1874520"/>
            <a:ext cx="27432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91840" y="164592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5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  <a:latin typeface="Meiryo"/>
              </a:defRPr>
            </a:pPr>
            <a:r>
              <a:t>PoC構築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926080"/>
            <a:ext cx="1280160" cy="274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1〜2週間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メニューから2〜3品を</a:t>
            </a:r>
            <a:br/>
            <a:r>
              <a:t>選びプロトタイプ構築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663440" y="1874520"/>
            <a:ext cx="27432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77840" y="164592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5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Meiryo"/>
              </a:defRPr>
            </a:pPr>
            <a:r>
              <a:t>パイロット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2926080"/>
            <a:ext cx="128016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1ヶ月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限定チーム(5-10名)で</a:t>
            </a:r>
            <a:br/>
            <a:r>
              <a:t>実運用・KPI測定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949440" y="1874520"/>
            <a:ext cx="27432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0" y="1645920"/>
            <a:ext cx="731520" cy="7315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5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9C12"/>
                </a:solidFill>
                <a:latin typeface="Meiryo"/>
              </a:defRPr>
            </a:pPr>
            <a:r>
              <a:t>本格導入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2926080"/>
            <a:ext cx="128016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2〜3ヶ月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全社展開</a:t>
            </a:r>
            <a:br/>
            <a:r>
              <a:t>追加ワークフロー導入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235440" y="1874520"/>
            <a:ext cx="27432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49840" y="164592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5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Meiryo"/>
              </a:defRPr>
            </a:pPr>
            <a:r>
              <a:t>拡張最適化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2926080"/>
            <a:ext cx="1280160" cy="274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0" y="2926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継続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337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プロンプトチューニング</a:t>
            </a:r>
            <a:br/>
            <a:r>
              <a:t>他部門・他拠点へ横展開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572000"/>
            <a:ext cx="11430000" cy="36576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Meiryo"/>
              </a:defRPr>
            </a:pPr>
            <a:r>
              <a:t>パイロット運用の成功基準（KPI）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20640"/>
            <a:ext cx="2468880" cy="11887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CDF"/>
                </a:solidFill>
                <a:latin typeface="Meiryo"/>
              </a:defRPr>
            </a:pPr>
            <a:r>
              <a:t>時間削減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32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対象業務の</a:t>
            </a:r>
            <a:br/>
            <a:r>
              <a:t>作成時間 50%↓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5120640"/>
            <a:ext cx="2468880" cy="11887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CDF"/>
                </a:solidFill>
                <a:latin typeface="Meiryo"/>
              </a:defRPr>
            </a:pPr>
            <a:r>
              <a:t>品質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5532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出力修正率</a:t>
            </a:r>
            <a:br/>
            <a:r>
              <a:t>30%以下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120640"/>
            <a:ext cx="2468880" cy="11887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CDF"/>
                </a:solidFill>
                <a:latin typeface="Meiryo"/>
              </a:defRPr>
            </a:pPr>
            <a:r>
              <a:t>利用率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532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対象者の</a:t>
            </a:r>
            <a:br/>
            <a:r>
              <a:t>80%以上が利用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5120640"/>
            <a:ext cx="2468880" cy="11887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6CDF"/>
                </a:solidFill>
                <a:latin typeface="Meiryo"/>
              </a:defRPr>
            </a:pPr>
            <a:r>
              <a:t>満足度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5532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19"/>
              </a:spcAft>
              <a:defRPr sz="1300" b="0">
                <a:solidFill>
                  <a:srgbClr val="333333"/>
                </a:solidFill>
                <a:latin typeface="Meiryo"/>
              </a:defRPr>
            </a:pPr>
            <a:r>
              <a:t>ユーザー満足度</a:t>
            </a:r>
            <a:br/>
            <a:r>
              <a:t>4.0 / 5.0 以上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eiryo"/>
              </a:defRPr>
            </a:pPr>
            <a:r>
              <a:t>ワークフロー構成：全品共通のセキュアな7ノード設計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eiryo"/>
              </a:defRPr>
            </a:pPr>
            <a:r>
              <a:t>Dify DSL準拠。入力検証・インジェクション防御・出力整形を標準装備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eiryo"/>
              </a:defRPr>
            </a:pPr>
            <a:r>
              <a:t>Dify AI ワークフロー カタログ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Meiryo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45920"/>
            <a:ext cx="1463040" cy="146304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開始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FFFFFF"/>
                </a:solidFill>
                <a:latin typeface="Meiryo"/>
              </a:defRPr>
            </a:pPr>
            <a:r>
              <a:t>入力パラメータ</a:t>
            </a:r>
            <a:br/>
            <a:r>
              <a:t>を受け取る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645920"/>
            <a:ext cx="1463040" cy="1463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入力検証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48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FFFFFF"/>
                </a:solidFill>
                <a:latin typeface="Meiryo"/>
              </a:defRPr>
            </a:pPr>
            <a:r>
              <a:t>文字数チェック</a:t>
            </a:r>
            <a:br/>
            <a:r>
              <a:t>インジェクション検出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645920"/>
            <a:ext cx="1463040" cy="14630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検証分岐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48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FFFFFF"/>
                </a:solidFill>
                <a:latin typeface="Meiryo"/>
              </a:defRPr>
            </a:pPr>
            <a:r>
              <a:t>Valid / Invalid</a:t>
            </a:r>
            <a:br/>
            <a:r>
              <a:t>で分岐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1645920"/>
            <a:ext cx="1463040" cy="1463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AI生成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148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FFFFFF"/>
                </a:solidFill>
                <a:latin typeface="Meiryo"/>
              </a:defRPr>
            </a:pPr>
            <a:r>
              <a:t>LLMが</a:t>
            </a:r>
            <a:br/>
            <a:r>
              <a:t>専門回答を生成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645920"/>
            <a:ext cx="146304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出力整形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148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FFFFFF"/>
                </a:solidFill>
                <a:latin typeface="Meiryo"/>
              </a:defRPr>
            </a:pPr>
            <a:r>
              <a:t>メタ情報付与</a:t>
            </a:r>
            <a:br/>
            <a:r>
              <a:t>フォーマット整形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645920"/>
            <a:ext cx="1463040" cy="1463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1783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終了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1488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FFFFFF"/>
                </a:solidFill>
                <a:latin typeface="Meiryo"/>
              </a:defRPr>
            </a:pPr>
            <a:r>
              <a:t>結果を</a:t>
            </a:r>
            <a:br/>
            <a:r>
              <a:t>出力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783080" y="219456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3429000" y="219456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074920" y="219456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720840" y="219456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8366760" y="2194560"/>
            <a:ext cx="36576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Meiryo"/>
              </a:defRPr>
            </a:pPr>
            <a:r>
              <a:t>Invalid 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3520440"/>
            <a:ext cx="146304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611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エラー応答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99"/>
              </a:spcAft>
              <a:defRPr sz="1000" b="0">
                <a:solidFill>
                  <a:srgbClr val="FFFFFF"/>
                </a:solidFill>
                <a:latin typeface="Meiryo"/>
              </a:defRPr>
            </a:pPr>
            <a:r>
              <a:t>エラーメッセージ</a:t>
            </a:r>
            <a:br/>
            <a:r>
              <a:t>を整形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4754880"/>
            <a:ext cx="26974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754880"/>
            <a:ext cx="269748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892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プロンプトインジェクション防御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257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99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正規表現パターンマッチングで</a:t>
            </a:r>
            <a:br/>
            <a:r>
              <a:t>不正な入力を検出・ブロック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54679" y="4754880"/>
            <a:ext cx="26974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54679" y="4754880"/>
            <a:ext cx="269748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19" y="4892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Meiryo"/>
              </a:defRPr>
            </a:pPr>
            <a:r>
              <a:t>センシティブワード検出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19" y="5257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99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爆弾・殺害等の危険キーワードを</a:t>
            </a:r>
            <a:br/>
            <a:r>
              <a:t>入力・出力の両方で検出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4754880"/>
            <a:ext cx="26974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4754880"/>
            <a:ext cx="2697480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4892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6CDF"/>
                </a:solidFill>
                <a:latin typeface="Meiryo"/>
              </a:defRPr>
            </a:pPr>
            <a:r>
              <a:t>AIドラフト注記の自動付与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257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99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全出力に「専門家確認必須」の</a:t>
            </a:r>
            <a:br/>
            <a:r>
              <a:t>注記を自動で付与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15400" y="4754880"/>
            <a:ext cx="26974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15400" y="4754880"/>
            <a:ext cx="26974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06840" y="48920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  <a:latin typeface="Meiryo"/>
              </a:defRPr>
            </a:pPr>
            <a:r>
              <a:t>Dify DSL 0.1.5 準拠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52578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99"/>
              </a:spcAft>
              <a:defRPr sz="1000" b="0">
                <a:solidFill>
                  <a:srgbClr val="333333"/>
                </a:solidFill>
                <a:latin typeface="Meiryo"/>
              </a:defRPr>
            </a:pPr>
            <a:r>
              <a:t>Difyにそのままインポートして</a:t>
            </a:r>
            <a:br/>
            <a:r>
              <a:t>即座に利用開始可能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8872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6B35"/>
                </a:solidFill>
                <a:latin typeface="Meiryo"/>
              </a:defRPr>
            </a:pPr>
            <a:r>
              <a:t>170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B35"/>
                </a:solidFill>
                <a:latin typeface="Meiryo"/>
              </a:defRPr>
            </a:pPr>
            <a:r>
              <a:t>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FF"/>
                </a:solidFill>
                <a:latin typeface="Meiryo"/>
              </a:defRPr>
            </a:pPr>
            <a:r>
              <a:t>AIワークフロー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6B35"/>
                </a:solidFill>
                <a:latin typeface="Meiryo"/>
              </a:defRPr>
            </a:pPr>
            <a: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B35"/>
                </a:solidFill>
                <a:latin typeface="Meiryo"/>
              </a:defRPr>
            </a:pPr>
            <a:r>
              <a:t>コース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FF"/>
                </a:solidFill>
                <a:latin typeface="Meiryo"/>
              </a:defRPr>
            </a:pPr>
            <a:r>
              <a:t>業界カバー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6B35"/>
                </a:solidFill>
                <a:latin typeface="Meiryo"/>
              </a:defRPr>
            </a:pPr>
            <a: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B35"/>
                </a:solidFill>
                <a:latin typeface="Meiryo"/>
              </a:defRPr>
            </a:pPr>
            <a:r>
              <a:t>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FF"/>
                </a:solidFill>
                <a:latin typeface="Meiryo"/>
              </a:defRPr>
            </a:pPr>
            <a:r>
              <a:t>新規追加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6B35"/>
                </a:solidFill>
                <a:latin typeface="Meiryo"/>
              </a:defRPr>
            </a:pPr>
            <a:r>
              <a:t>7,000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B35"/>
                </a:solidFill>
                <a:latin typeface="Meiryo"/>
              </a:defRPr>
            </a:pPr>
            <a:r>
              <a:t>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CCFF"/>
                </a:solidFill>
                <a:latin typeface="Meiryo"/>
              </a:defRPr>
            </a:pPr>
            <a:r>
              <a:t>年間最大ROI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00400"/>
            <a:ext cx="10332720" cy="2743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3つの探し方で、どの顧客にも「これです」と即提案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94760"/>
            <a:ext cx="320040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Meiryo"/>
              </a:defRPr>
            </a:pPr>
            <a:r>
              <a:t>お悩みで選ぶ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「文書が遅い」「コスト削減」等</a:t>
            </a:r>
            <a:br/>
            <a:r>
              <a:t>6つの課題から最適WFを提案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794760"/>
            <a:ext cx="3200400" cy="13716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Meiryo"/>
              </a:defRPr>
            </a:pPr>
            <a:r>
              <a:t>部門で選ぶ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51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営業・マーケ・人事・法務等</a:t>
            </a:r>
            <a:br/>
            <a:r>
              <a:t>8部門の即戦力WFを提案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794760"/>
            <a:ext cx="3200400" cy="13716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886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Meiryo"/>
              </a:defRPr>
            </a:pPr>
            <a:r>
              <a:t>業界で選ぶ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251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333333"/>
                </a:solidFill>
                <a:latin typeface="Meiryo"/>
              </a:defRPr>
            </a:pPr>
            <a:r>
              <a:t>21業界のステップマップで</a:t>
            </a:r>
            <a:br/>
            <a:r>
              <a:t>導入ロードマップを提示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394960"/>
            <a:ext cx="1033272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Meiryo"/>
              </a:defRPr>
            </a:pPr>
            <a:r>
              <a:t>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CCDDFF"/>
                </a:solidFill>
                <a:latin typeface="Meiryo"/>
              </a:defRPr>
            </a:pPr>
            <a:r>
              <a:t>Step 1: 3つの探し方でメニューから2〜3品を選定 → Step 2: 1〜2週間でPoC構築 → Step 3: 効果を実感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