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1097280"/>
          </a:xfrm>
          <a:prstGeom prst="rect">
            <a:avLst/>
          </a:prstGeom>
          <a:noFill/>
        </p:spPr>
        <p:txBody>
          <a:bodyPr wrap="square">
            <a:spAutoFit/>
          </a:bodyPr>
          <a:lstStyle/>
          <a:p>
            <a:pPr algn="ctr">
              <a:defRPr sz="4000" b="1">
                <a:solidFill>
                  <a:srgbClr val="FFFFFF"/>
                </a:solidFill>
                <a:latin typeface="Segoe UI"/>
              </a:defRPr>
            </a:pPr>
            <a:r>
              <a:rPr>
                <a:latin typeface="Segoe UI"/>
                <a:ea typeface="Meiryo UI"/>
              </a:rPr>
              <a:t>製造業向け AI ワークフロー ソリューション</a:t>
            </a:r>
          </a:p>
        </p:txBody>
      </p:sp>
      <p:sp>
        <p:nvSpPr>
          <p:cNvPr id="5" name="TextBox 4"/>
          <p:cNvSpPr txBox="1"/>
          <p:nvPr/>
        </p:nvSpPr>
        <p:spPr>
          <a:xfrm>
            <a:off x="1371600" y="2926080"/>
            <a:ext cx="9144000" cy="731520"/>
          </a:xfrm>
          <a:prstGeom prst="rect">
            <a:avLst/>
          </a:prstGeom>
          <a:noFill/>
        </p:spPr>
        <p:txBody>
          <a:bodyPr wrap="square">
            <a:spAutoFit/>
          </a:bodyPr>
          <a:lstStyle/>
          <a:p>
            <a:pPr algn="ctr">
              <a:defRPr sz="2200" b="0">
                <a:solidFill>
                  <a:srgbClr val="A0D0B0"/>
                </a:solidFill>
                <a:latin typeface="Segoe UI"/>
              </a:defRPr>
            </a:pPr>
            <a:r>
              <a:rPr>
                <a:latin typeface="Segoe UI"/>
                <a:ea typeface="Meiryo UI"/>
              </a:rPr>
              <a:t>Dify プラットフォームによる品質・保全・生産業務の高度化</a:t>
            </a:r>
          </a:p>
        </p:txBody>
      </p:sp>
      <p:sp>
        <p:nvSpPr>
          <p:cNvPr id="6" name="Rectangle 5"/>
          <p:cNvSpPr/>
          <p:nvPr/>
        </p:nvSpPr>
        <p:spPr>
          <a:xfrm>
            <a:off x="4572000" y="3840480"/>
            <a:ext cx="3017520" cy="508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206240"/>
            <a:ext cx="9144000" cy="548640"/>
          </a:xfrm>
          <a:prstGeom prst="rect">
            <a:avLst/>
          </a:prstGeom>
          <a:noFill/>
        </p:spPr>
        <p:txBody>
          <a:bodyPr wrap="square">
            <a:spAutoFit/>
          </a:bodyPr>
          <a:lstStyle/>
          <a:p>
            <a:pPr algn="ctr">
              <a:defRPr sz="1600" b="0">
                <a:solidFill>
                  <a:srgbClr val="80B090"/>
                </a:solidFill>
                <a:latin typeface="Segoe UI"/>
              </a:defRPr>
            </a:pPr>
            <a:r>
              <a:rPr>
                <a:latin typeface="Segoe UI"/>
                <a:ea typeface="Meiryo UI"/>
              </a:rPr>
              <a:t>5 つの業務シーン  |  32 ノード  |  即時インポート可能な DSL テンプレート</a:t>
            </a:r>
          </a:p>
        </p:txBody>
      </p:sp>
      <p:sp>
        <p:nvSpPr>
          <p:cNvPr id="8" name="TextBox 7"/>
          <p:cNvSpPr txBox="1"/>
          <p:nvPr/>
        </p:nvSpPr>
        <p:spPr>
          <a:xfrm>
            <a:off x="1371600" y="5669280"/>
            <a:ext cx="9144000" cy="457200"/>
          </a:xfrm>
          <a:prstGeom prst="rect">
            <a:avLst/>
          </a:prstGeom>
          <a:noFill/>
        </p:spPr>
        <p:txBody>
          <a:bodyPr wrap="square">
            <a:spAutoFit/>
          </a:bodyPr>
          <a:lstStyle/>
          <a:p>
            <a:pPr algn="ctr">
              <a:defRPr sz="1200" b="0">
                <a:solidFill>
                  <a:srgbClr val="609070"/>
                </a:solidFill>
                <a:latin typeface="Segoe UI"/>
              </a:defRPr>
            </a:pPr>
            <a:r>
              <a:rPr>
                <a:latin typeface="Segoe UI"/>
                <a:ea typeface="Meiryo UI"/>
              </a:rPr>
              <a:t>Confidential  |  事例紹介資料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エグゼクティブサマリー</a:t>
            </a:r>
          </a:p>
        </p:txBody>
      </p:sp>
      <p:sp>
        <p:nvSpPr>
          <p:cNvPr id="4" name="Rounded Rectangle 3"/>
          <p:cNvSpPr/>
          <p:nvPr/>
        </p:nvSpPr>
        <p:spPr>
          <a:xfrm>
            <a:off x="914400" y="1371600"/>
            <a:ext cx="3108960" cy="182880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554480"/>
            <a:ext cx="2560320" cy="731520"/>
          </a:xfrm>
          <a:prstGeom prst="rect">
            <a:avLst/>
          </a:prstGeom>
          <a:noFill/>
        </p:spPr>
        <p:txBody>
          <a:bodyPr wrap="square">
            <a:spAutoFit/>
          </a:bodyPr>
          <a:lstStyle/>
          <a:p>
            <a:pPr algn="ctr">
              <a:defRPr sz="4800" b="1">
                <a:solidFill>
                  <a:srgbClr val="00896B"/>
                </a:solidFill>
                <a:latin typeface="Segoe UI"/>
              </a:defRPr>
            </a:pPr>
            <a:r>
              <a:rPr>
                <a:latin typeface="Segoe UI"/>
                <a:ea typeface="Meiryo UI"/>
              </a:rPr>
              <a:t>5</a:t>
            </a:r>
          </a:p>
        </p:txBody>
      </p:sp>
      <p:sp>
        <p:nvSpPr>
          <p:cNvPr id="6" name="TextBox 5"/>
          <p:cNvSpPr txBox="1"/>
          <p:nvPr/>
        </p:nvSpPr>
        <p:spPr>
          <a:xfrm>
            <a:off x="118872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業務シーン</a:t>
            </a:r>
          </a:p>
        </p:txBody>
      </p:sp>
      <p:sp>
        <p:nvSpPr>
          <p:cNvPr id="7" name="TextBox 6"/>
          <p:cNvSpPr txBox="1"/>
          <p:nvPr/>
        </p:nvSpPr>
        <p:spPr>
          <a:xfrm>
            <a:off x="118872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品質管理・設備保全・</a:t>
            </a:r>
            <a:br/>
            <a:r>
              <a:rPr>
                <a:latin typeface="Segoe UI"/>
                <a:ea typeface="Meiryo UI"/>
              </a:rPr>
              <a:t>ナレッジ・調達・翻訳</a:t>
            </a:r>
          </a:p>
        </p:txBody>
      </p:sp>
      <p:sp>
        <p:nvSpPr>
          <p:cNvPr id="8" name="Rounded Rectangle 7"/>
          <p:cNvSpPr/>
          <p:nvPr/>
        </p:nvSpPr>
        <p:spPr>
          <a:xfrm>
            <a:off x="4480560" y="1371600"/>
            <a:ext cx="3108960" cy="182880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554480"/>
            <a:ext cx="2560320" cy="731520"/>
          </a:xfrm>
          <a:prstGeom prst="rect">
            <a:avLst/>
          </a:prstGeom>
          <a:noFill/>
        </p:spPr>
        <p:txBody>
          <a:bodyPr wrap="square">
            <a:spAutoFit/>
          </a:bodyPr>
          <a:lstStyle/>
          <a:p>
            <a:pPr algn="ctr">
              <a:defRPr sz="4800" b="1">
                <a:solidFill>
                  <a:srgbClr val="00896B"/>
                </a:solidFill>
                <a:latin typeface="Segoe UI"/>
              </a:defRPr>
            </a:pPr>
            <a:r>
              <a:rPr>
                <a:latin typeface="Segoe UI"/>
                <a:ea typeface="Meiryo UI"/>
              </a:rPr>
              <a:t>32</a:t>
            </a:r>
          </a:p>
        </p:txBody>
      </p:sp>
      <p:sp>
        <p:nvSpPr>
          <p:cNvPr id="10" name="TextBox 9"/>
          <p:cNvSpPr txBox="1"/>
          <p:nvPr/>
        </p:nvSpPr>
        <p:spPr>
          <a:xfrm>
            <a:off x="475488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ノード</a:t>
            </a:r>
          </a:p>
        </p:txBody>
      </p:sp>
      <p:sp>
        <p:nvSpPr>
          <p:cNvPr id="11" name="TextBox 10"/>
          <p:cNvSpPr txBox="1"/>
          <p:nvPr/>
        </p:nvSpPr>
        <p:spPr>
          <a:xfrm>
            <a:off x="475488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実用ワークフローを</a:t>
            </a:r>
            <a:br/>
            <a:r>
              <a:rPr>
                <a:latin typeface="Segoe UI"/>
                <a:ea typeface="Meiryo UI"/>
              </a:rPr>
              <a:t>即座にインポート可能</a:t>
            </a:r>
          </a:p>
        </p:txBody>
      </p:sp>
      <p:sp>
        <p:nvSpPr>
          <p:cNvPr id="12" name="Rounded Rectangle 11"/>
          <p:cNvSpPr/>
          <p:nvPr/>
        </p:nvSpPr>
        <p:spPr>
          <a:xfrm>
            <a:off x="8046720" y="1371600"/>
            <a:ext cx="3108960" cy="182880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554480"/>
            <a:ext cx="2560320" cy="731520"/>
          </a:xfrm>
          <a:prstGeom prst="rect">
            <a:avLst/>
          </a:prstGeom>
          <a:noFill/>
        </p:spPr>
        <p:txBody>
          <a:bodyPr wrap="square">
            <a:spAutoFit/>
          </a:bodyPr>
          <a:lstStyle/>
          <a:p>
            <a:pPr algn="ctr">
              <a:defRPr sz="4800" b="1">
                <a:solidFill>
                  <a:srgbClr val="00896B"/>
                </a:solidFill>
                <a:latin typeface="Segoe UI"/>
              </a:defRPr>
            </a:pPr>
            <a:r>
              <a:rPr>
                <a:latin typeface="Segoe UI"/>
                <a:ea typeface="Meiryo UI"/>
              </a:rPr>
              <a:t>4</a:t>
            </a:r>
          </a:p>
        </p:txBody>
      </p:sp>
      <p:sp>
        <p:nvSpPr>
          <p:cNvPr id="14" name="TextBox 13"/>
          <p:cNvSpPr txBox="1"/>
          <p:nvPr/>
        </p:nvSpPr>
        <p:spPr>
          <a:xfrm>
            <a:off x="832104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部門</a:t>
            </a:r>
          </a:p>
        </p:txBody>
      </p:sp>
      <p:sp>
        <p:nvSpPr>
          <p:cNvPr id="15" name="TextBox 14"/>
          <p:cNvSpPr txBox="1"/>
          <p:nvPr/>
        </p:nvSpPr>
        <p:spPr>
          <a:xfrm>
            <a:off x="832104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品質・保全・生産・</a:t>
            </a:r>
            <a:br/>
            <a:r>
              <a:rPr>
                <a:latin typeface="Segoe UI"/>
                <a:ea typeface="Meiryo UI"/>
              </a:rPr>
              <a:t>調達を横断的にカバー</a:t>
            </a:r>
          </a:p>
        </p:txBody>
      </p:sp>
      <p:sp>
        <p:nvSpPr>
          <p:cNvPr id="16" name="TextBox 15"/>
          <p:cNvSpPr txBox="1"/>
          <p:nvPr/>
        </p:nvSpPr>
        <p:spPr>
          <a:xfrm>
            <a:off x="731520" y="3657600"/>
            <a:ext cx="10515600" cy="2743200"/>
          </a:xfrm>
          <a:prstGeom prst="rect">
            <a:avLst/>
          </a:prstGeom>
          <a:noFill/>
        </p:spPr>
        <p:txBody>
          <a:bodyPr wrap="square">
            <a:spAutoFit/>
          </a:bodyPr>
          <a:lstStyle/>
          <a:p>
            <a:pPr algn="l">
              <a:defRPr sz="2000" b="1">
                <a:solidFill>
                  <a:srgbClr val="1A1A2E"/>
                </a:solidFill>
                <a:latin typeface="Segoe UI"/>
              </a:defRPr>
            </a:pPr>
            <a:r>
              <a:rPr>
                <a:latin typeface="Segoe UI"/>
                <a:ea typeface="Meiryo UI"/>
              </a:rPr>
              <a:t>本ソリューションの特長</a:t>
            </a:r>
          </a:p>
          <a:p>
            <a:pPr algn="l">
              <a:spcBef>
                <a:spcPts val="800"/>
              </a:spcBef>
              <a:spcAft>
                <a:spcPts val="200"/>
              </a:spcAft>
              <a:defRPr sz="1400" b="0">
                <a:solidFill>
                  <a:srgbClr val="4A5A6A"/>
                </a:solidFill>
                <a:latin typeface="Segoe UI"/>
              </a:defRPr>
            </a:pPr>
            <a:r>
              <a:rPr>
                <a:latin typeface="Segoe UI"/>
                <a:ea typeface="Meiryo UI"/>
              </a:rPr>
              <a:t>    Dify にインポートするだけで動作する「即戦力テンプレート」— ゼロからの構築不要</a:t>
            </a:r>
          </a:p>
          <a:p>
            <a:pPr algn="l">
              <a:spcBef>
                <a:spcPts val="800"/>
              </a:spcBef>
              <a:spcAft>
                <a:spcPts val="200"/>
              </a:spcAft>
              <a:defRPr sz="1400" b="0">
                <a:solidFill>
                  <a:srgbClr val="4A5A6A"/>
                </a:solidFill>
                <a:latin typeface="Segoe UI"/>
              </a:defRPr>
            </a:pPr>
            <a:r>
              <a:rPr>
                <a:latin typeface="Segoe UI"/>
                <a:ea typeface="Meiryo UI"/>
              </a:rPr>
              <a:t>    品質検査・設備保全・サプライヤー管理など製造業の中核業務を網羅</a:t>
            </a:r>
          </a:p>
          <a:p>
            <a:pPr algn="l">
              <a:spcBef>
                <a:spcPts val="800"/>
              </a:spcBef>
              <a:spcAft>
                <a:spcPts val="200"/>
              </a:spcAft>
              <a:defRPr sz="1400" b="0">
                <a:solidFill>
                  <a:srgbClr val="4A5A6A"/>
                </a:solidFill>
                <a:latin typeface="Segoe UI"/>
              </a:defRPr>
            </a:pPr>
            <a:r>
              <a:rPr>
                <a:latin typeface="Segoe UI"/>
                <a:ea typeface="Meiryo UI"/>
              </a:rPr>
              <a:t>    外部 API 連携・バッチ処理・ナレッジ検索など実践的な技術パターンを組み込み済み</a:t>
            </a:r>
          </a:p>
          <a:p>
            <a:pPr algn="l">
              <a:spcBef>
                <a:spcPts val="800"/>
              </a:spcBef>
              <a:spcAft>
                <a:spcPts val="200"/>
              </a:spcAft>
              <a:defRPr sz="1400" b="0">
                <a:solidFill>
                  <a:srgbClr val="4A5A6A"/>
                </a:solidFill>
                <a:latin typeface="Segoe UI"/>
              </a:defRPr>
            </a:pPr>
            <a:r>
              <a:rPr>
                <a:latin typeface="Segoe UI"/>
                <a:ea typeface="Meiryo UI"/>
              </a:rPr>
              <a:t>    LLM モデル・API エンドポイント・判定閾値を差し替えるだけで自社環境に適用可能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ワークフロー一覧  ─  5 つの業務シーン</a:t>
            </a:r>
          </a:p>
        </p:txBody>
      </p:sp>
      <p:graphicFrame>
        <p:nvGraphicFramePr>
          <p:cNvPr id="4" name="Table 3"/>
          <p:cNvGraphicFramePr>
            <a:graphicFrameLocks noGrp="1"/>
          </p:cNvGraphicFramePr>
          <p:nvPr/>
        </p:nvGraphicFramePr>
        <p:xfrm>
          <a:off x="914400" y="1371600"/>
          <a:ext cx="10058400" cy="3657600"/>
        </p:xfrm>
        <a:graphic>
          <a:graphicData uri="http://schemas.openxmlformats.org/drawingml/2006/table">
            <a:tbl>
              <a:tblPr firstRow="1" bandRow="1">
                <a:tableStyleId>{5C22544A-7EE6-4342-B048-85BDC9FD1C3A}</a:tableStyleId>
              </a:tblPr>
              <a:tblGrid>
                <a:gridCol w="548640"/>
                <a:gridCol w="2743200"/>
                <a:gridCol w="2011680"/>
                <a:gridCol w="3840480"/>
                <a:gridCol w="914400"/>
              </a:tblGrid>
              <a:tr h="609600">
                <a:tc>
                  <a:txBody>
                    <a:bodyPr/>
                    <a:lstStyle/>
                    <a:p>
                      <a:pPr algn="ctr">
                        <a:defRPr sz="1200" b="1">
                          <a:solidFill>
                            <a:srgbClr val="FFFFFF"/>
                          </a:solidFill>
                          <a:latin typeface="Segoe UI"/>
                        </a:defRPr>
                      </a:pPr>
                      <a:r>
                        <a:rPr>
                          <a:latin typeface="Segoe UI"/>
                          <a:ea typeface="Meiryo UI"/>
                        </a:rPr>
                        <a:t>#</a:t>
                      </a:r>
                    </a:p>
                  </a:txBody>
                  <a:tcPr anchor="ctr">
                    <a:solidFill>
                      <a:srgbClr val="1A3A2A"/>
                    </a:solidFill>
                  </a:tcPr>
                </a:tc>
                <a:tc>
                  <a:txBody>
                    <a:bodyPr/>
                    <a:lstStyle/>
                    <a:p>
                      <a:pPr algn="ctr">
                        <a:defRPr sz="1200" b="1">
                          <a:solidFill>
                            <a:srgbClr val="FFFFFF"/>
                          </a:solidFill>
                          <a:latin typeface="Segoe UI"/>
                        </a:defRPr>
                      </a:pPr>
                      <a:r>
                        <a:rPr>
                          <a:latin typeface="Segoe UI"/>
                          <a:ea typeface="Meiryo UI"/>
                        </a:rPr>
                        <a:t>ワークフロー名</a:t>
                      </a:r>
                    </a:p>
                  </a:txBody>
                  <a:tcPr anchor="ctr">
                    <a:solidFill>
                      <a:srgbClr val="1A3A2A"/>
                    </a:solidFill>
                  </a:tcPr>
                </a:tc>
                <a:tc>
                  <a:txBody>
                    <a:bodyPr/>
                    <a:lstStyle/>
                    <a:p>
                      <a:pPr algn="ctr">
                        <a:defRPr sz="1200" b="1">
                          <a:solidFill>
                            <a:srgbClr val="FFFFFF"/>
                          </a:solidFill>
                          <a:latin typeface="Segoe UI"/>
                        </a:defRPr>
                      </a:pPr>
                      <a:r>
                        <a:rPr>
                          <a:latin typeface="Segoe UI"/>
                          <a:ea typeface="Meiryo UI"/>
                        </a:rPr>
                        <a:t>対象部門</a:t>
                      </a:r>
                    </a:p>
                  </a:txBody>
                  <a:tcPr anchor="ctr">
                    <a:solidFill>
                      <a:srgbClr val="1A3A2A"/>
                    </a:solidFill>
                  </a:tcPr>
                </a:tc>
                <a:tc>
                  <a:txBody>
                    <a:bodyPr/>
                    <a:lstStyle/>
                    <a:p>
                      <a:pPr algn="ctr">
                        <a:defRPr sz="1200" b="1">
                          <a:solidFill>
                            <a:srgbClr val="FFFFFF"/>
                          </a:solidFill>
                          <a:latin typeface="Segoe UI"/>
                        </a:defRPr>
                      </a:pPr>
                      <a:r>
                        <a:rPr>
                          <a:latin typeface="Segoe UI"/>
                          <a:ea typeface="Meiryo UI"/>
                        </a:rPr>
                        <a:t>主要パターン</a:t>
                      </a:r>
                    </a:p>
                  </a:txBody>
                  <a:tcPr anchor="ctr">
                    <a:solidFill>
                      <a:srgbClr val="1A3A2A"/>
                    </a:solidFill>
                  </a:tcPr>
                </a:tc>
                <a:tc>
                  <a:txBody>
                    <a:bodyPr/>
                    <a:lstStyle/>
                    <a:p>
                      <a:pPr algn="ctr">
                        <a:defRPr sz="1200" b="1">
                          <a:solidFill>
                            <a:srgbClr val="FFFFFF"/>
                          </a:solidFill>
                          <a:latin typeface="Segoe UI"/>
                        </a:defRPr>
                      </a:pPr>
                      <a:r>
                        <a:rPr>
                          <a:latin typeface="Segoe UI"/>
                          <a:ea typeface="Meiryo UI"/>
                        </a:rPr>
                        <a:t>ノード数</a:t>
                      </a:r>
                    </a:p>
                  </a:txBody>
                  <a:tcPr anchor="ctr">
                    <a:solidFill>
                      <a:srgbClr val="1A3A2A"/>
                    </a:solidFill>
                  </a:tcPr>
                </a:tc>
              </a:tr>
              <a:tr h="609600">
                <a:tc>
                  <a:txBody>
                    <a:bodyPr/>
                    <a:lstStyle/>
                    <a:p>
                      <a:pPr algn="ctr">
                        <a:defRPr sz="1200">
                          <a:solidFill>
                            <a:srgbClr val="1A1A2E"/>
                          </a:solidFill>
                          <a:latin typeface="Segoe UI"/>
                        </a:defRPr>
                      </a:pPr>
                      <a:r>
                        <a:rPr>
                          <a:latin typeface="Segoe UI"/>
                          <a:ea typeface="Meiryo UI"/>
                        </a:rPr>
                        <a:t>1</a:t>
                      </a:r>
                    </a:p>
                  </a:txBody>
                  <a:tcPr anchor="ctr"/>
                </a:tc>
                <a:tc>
                  <a:txBody>
                    <a:bodyPr/>
                    <a:lstStyle/>
                    <a:p>
                      <a:pPr algn="l">
                        <a:defRPr sz="1200">
                          <a:solidFill>
                            <a:srgbClr val="1A1A2E"/>
                          </a:solidFill>
                          <a:latin typeface="Segoe UI"/>
                        </a:defRPr>
                      </a:pPr>
                      <a:r>
                        <a:rPr>
                          <a:latin typeface="Segoe UI"/>
                          <a:ea typeface="Meiryo UI"/>
                        </a:rPr>
                        <a:t>品質検査レポート自動生成</a:t>
                      </a:r>
                    </a:p>
                  </a:txBody>
                  <a:tcPr anchor="ctr"/>
                </a:tc>
                <a:tc>
                  <a:txBody>
                    <a:bodyPr/>
                    <a:lstStyle/>
                    <a:p>
                      <a:pPr algn="l">
                        <a:defRPr sz="1200">
                          <a:solidFill>
                            <a:srgbClr val="1A1A2E"/>
                          </a:solidFill>
                          <a:latin typeface="Segoe UI"/>
                        </a:defRPr>
                      </a:pPr>
                      <a:r>
                        <a:rPr>
                          <a:latin typeface="Segoe UI"/>
                          <a:ea typeface="Meiryo UI"/>
                        </a:rPr>
                        <a:t>品質管理部門</a:t>
                      </a:r>
                    </a:p>
                  </a:txBody>
                  <a:tcPr anchor="ctr"/>
                </a:tc>
                <a:tc>
                  <a:txBody>
                    <a:bodyPr/>
                    <a:lstStyle/>
                    <a:p>
                      <a:pPr algn="l">
                        <a:defRPr sz="1200">
                          <a:solidFill>
                            <a:srgbClr val="1A1A2E"/>
                          </a:solidFill>
                          <a:latin typeface="Segoe UI"/>
                        </a:defRPr>
                      </a:pPr>
                      <a:r>
                        <a:rPr>
                          <a:latin typeface="Segoe UI"/>
                          <a:ea typeface="Meiryo UI"/>
                        </a:rPr>
                        <a:t>Code(URLenc) → HTTP → Code → LLM</a:t>
                      </a:r>
                    </a:p>
                  </a:txBody>
                  <a:tcPr anchor="ctr"/>
                </a:tc>
                <a:tc>
                  <a:txBody>
                    <a:bodyPr/>
                    <a:lstStyle/>
                    <a:p>
                      <a:pPr algn="ctr">
                        <a:defRPr sz="1200">
                          <a:solidFill>
                            <a:srgbClr val="1A1A2E"/>
                          </a:solidFill>
                          <a:latin typeface="Segoe UI"/>
                        </a:defRPr>
                      </a:pPr>
                      <a:r>
                        <a:rPr>
                          <a:latin typeface="Segoe UI"/>
                          <a:ea typeface="Meiryo UI"/>
                        </a:rPr>
                        <a:t>6</a:t>
                      </a:r>
                    </a:p>
                  </a:txBody>
                  <a:tcPr anchor="ctr"/>
                </a:tc>
              </a:tr>
              <a:tr h="609600">
                <a:tc>
                  <a:txBody>
                    <a:bodyPr/>
                    <a:lstStyle/>
                    <a:p>
                      <a:pPr algn="ctr">
                        <a:defRPr sz="1200">
                          <a:solidFill>
                            <a:srgbClr val="1A1A2E"/>
                          </a:solidFill>
                          <a:latin typeface="Segoe UI"/>
                        </a:defRPr>
                      </a:pPr>
                      <a:r>
                        <a:rPr>
                          <a:latin typeface="Segoe UI"/>
                          <a:ea typeface="Meiryo UI"/>
                        </a:rPr>
                        <a:t>2</a:t>
                      </a:r>
                    </a:p>
                  </a:txBody>
                  <a:tcPr anchor="ctr">
                    <a:solidFill>
                      <a:srgbClr val="F0F7F4"/>
                    </a:solidFill>
                  </a:tcPr>
                </a:tc>
                <a:tc>
                  <a:txBody>
                    <a:bodyPr/>
                    <a:lstStyle/>
                    <a:p>
                      <a:pPr algn="l">
                        <a:defRPr sz="1200">
                          <a:solidFill>
                            <a:srgbClr val="1A1A2E"/>
                          </a:solidFill>
                          <a:latin typeface="Segoe UI"/>
                        </a:defRPr>
                      </a:pPr>
                      <a:r>
                        <a:rPr>
                          <a:latin typeface="Segoe UI"/>
                          <a:ea typeface="Meiryo UI"/>
                        </a:rPr>
                        <a:t>設備保全アラート対応</a:t>
                      </a:r>
                    </a:p>
                  </a:txBody>
                  <a:tcPr anchor="ctr">
                    <a:solidFill>
                      <a:srgbClr val="F0F7F4"/>
                    </a:solidFill>
                  </a:tcPr>
                </a:tc>
                <a:tc>
                  <a:txBody>
                    <a:bodyPr/>
                    <a:lstStyle/>
                    <a:p>
                      <a:pPr algn="l">
                        <a:defRPr sz="1200">
                          <a:solidFill>
                            <a:srgbClr val="1A1A2E"/>
                          </a:solidFill>
                          <a:latin typeface="Segoe UI"/>
                        </a:defRPr>
                      </a:pPr>
                      <a:r>
                        <a:rPr>
                          <a:latin typeface="Segoe UI"/>
                          <a:ea typeface="Meiryo UI"/>
                        </a:rPr>
                        <a:t>設備保全部門</a:t>
                      </a:r>
                    </a:p>
                  </a:txBody>
                  <a:tcPr anchor="ctr">
                    <a:solidFill>
                      <a:srgbClr val="F0F7F4"/>
                    </a:solidFill>
                  </a:tcPr>
                </a:tc>
                <a:tc>
                  <a:txBody>
                    <a:bodyPr/>
                    <a:lstStyle/>
                    <a:p>
                      <a:pPr algn="l">
                        <a:defRPr sz="1200">
                          <a:solidFill>
                            <a:srgbClr val="1A1A2E"/>
                          </a:solidFill>
                          <a:latin typeface="Segoe UI"/>
                        </a:defRPr>
                      </a:pPr>
                      <a:r>
                        <a:rPr>
                          <a:latin typeface="Segoe UI"/>
                          <a:ea typeface="Meiryo UI"/>
                        </a:rPr>
                        <a:t>LLM → IF/ELSE → Code(JSON) → HTTP</a:t>
                      </a:r>
                    </a:p>
                  </a:txBody>
                  <a:tcPr anchor="ctr">
                    <a:solidFill>
                      <a:srgbClr val="F0F7F4"/>
                    </a:solidFill>
                  </a:tcPr>
                </a:tc>
                <a:tc>
                  <a:txBody>
                    <a:bodyPr/>
                    <a:lstStyle/>
                    <a:p>
                      <a:pPr algn="ctr">
                        <a:defRPr sz="1200">
                          <a:solidFill>
                            <a:srgbClr val="1A1A2E"/>
                          </a:solidFill>
                          <a:latin typeface="Segoe UI"/>
                        </a:defRPr>
                      </a:pPr>
                      <a:r>
                        <a:rPr>
                          <a:latin typeface="Segoe UI"/>
                          <a:ea typeface="Meiryo UI"/>
                        </a:rPr>
                        <a:t>8</a:t>
                      </a:r>
                    </a:p>
                  </a:txBody>
                  <a:tcPr anchor="ctr">
                    <a:solidFill>
                      <a:srgbClr val="F0F7F4"/>
                    </a:solidFill>
                  </a:tcPr>
                </a:tc>
              </a:tr>
              <a:tr h="609600">
                <a:tc>
                  <a:txBody>
                    <a:bodyPr/>
                    <a:lstStyle/>
                    <a:p>
                      <a:pPr algn="ctr">
                        <a:defRPr sz="1200">
                          <a:solidFill>
                            <a:srgbClr val="1A1A2E"/>
                          </a:solidFill>
                          <a:latin typeface="Segoe UI"/>
                        </a:defRPr>
                      </a:pPr>
                      <a:r>
                        <a:rPr>
                          <a:latin typeface="Segoe UI"/>
                          <a:ea typeface="Meiryo UI"/>
                        </a:rPr>
                        <a:t>3</a:t>
                      </a:r>
                    </a:p>
                  </a:txBody>
                  <a:tcPr anchor="ctr"/>
                </a:tc>
                <a:tc>
                  <a:txBody>
                    <a:bodyPr/>
                    <a:lstStyle/>
                    <a:p>
                      <a:pPr algn="l">
                        <a:defRPr sz="1200">
                          <a:solidFill>
                            <a:srgbClr val="1A1A2E"/>
                          </a:solidFill>
                          <a:latin typeface="Segoe UI"/>
                        </a:defRPr>
                      </a:pPr>
                      <a:r>
                        <a:rPr>
                          <a:latin typeface="Segoe UI"/>
                          <a:ea typeface="Meiryo UI"/>
                        </a:rPr>
                        <a:t>生産現場ナレッジ検索</a:t>
                      </a:r>
                    </a:p>
                  </a:txBody>
                  <a:tcPr anchor="ctr"/>
                </a:tc>
                <a:tc>
                  <a:txBody>
                    <a:bodyPr/>
                    <a:lstStyle/>
                    <a:p>
                      <a:pPr algn="l">
                        <a:defRPr sz="1200">
                          <a:solidFill>
                            <a:srgbClr val="1A1A2E"/>
                          </a:solidFill>
                          <a:latin typeface="Segoe UI"/>
                        </a:defRPr>
                      </a:pPr>
                      <a:r>
                        <a:rPr>
                          <a:latin typeface="Segoe UI"/>
                          <a:ea typeface="Meiryo UI"/>
                        </a:rPr>
                        <a:t>生産現場</a:t>
                      </a:r>
                    </a:p>
                  </a:txBody>
                  <a:tcPr anchor="ctr"/>
                </a:tc>
                <a:tc>
                  <a:txBody>
                    <a:bodyPr/>
                    <a:lstStyle/>
                    <a:p>
                      <a:pPr algn="l">
                        <a:defRPr sz="1200">
                          <a:solidFill>
                            <a:srgbClr val="1A1A2E"/>
                          </a:solidFill>
                          <a:latin typeface="Segoe UI"/>
                        </a:defRPr>
                      </a:pPr>
                      <a:r>
                        <a:rPr>
                          <a:latin typeface="Segoe UI"/>
                          <a:ea typeface="Meiryo UI"/>
                        </a:rPr>
                        <a:t>RAG（ナレッジ検索 + LLM）</a:t>
                      </a:r>
                    </a:p>
                  </a:txBody>
                  <a:tcPr anchor="ctr"/>
                </a:tc>
                <a:tc>
                  <a:txBody>
                    <a:bodyPr/>
                    <a:lstStyle/>
                    <a:p>
                      <a:pPr algn="ctr">
                        <a:defRPr sz="1200">
                          <a:solidFill>
                            <a:srgbClr val="1A1A2E"/>
                          </a:solidFill>
                          <a:latin typeface="Segoe UI"/>
                        </a:defRPr>
                      </a:pPr>
                      <a:r>
                        <a:rPr>
                          <a:latin typeface="Segoe UI"/>
                          <a:ea typeface="Meiryo UI"/>
                        </a:rPr>
                        <a:t>4</a:t>
                      </a:r>
                    </a:p>
                  </a:txBody>
                  <a:tcPr anchor="ctr"/>
                </a:tc>
              </a:tr>
              <a:tr h="609600">
                <a:tc>
                  <a:txBody>
                    <a:bodyPr/>
                    <a:lstStyle/>
                    <a:p>
                      <a:pPr algn="ctr">
                        <a:defRPr sz="1200">
                          <a:solidFill>
                            <a:srgbClr val="1A1A2E"/>
                          </a:solidFill>
                          <a:latin typeface="Segoe UI"/>
                        </a:defRPr>
                      </a:pPr>
                      <a:r>
                        <a:rPr>
                          <a:latin typeface="Segoe UI"/>
                          <a:ea typeface="Meiryo UI"/>
                        </a:rPr>
                        <a:t>4</a:t>
                      </a:r>
                    </a:p>
                  </a:txBody>
                  <a:tcPr anchor="ctr">
                    <a:solidFill>
                      <a:srgbClr val="F0F7F4"/>
                    </a:solidFill>
                  </a:tcPr>
                </a:tc>
                <a:tc>
                  <a:txBody>
                    <a:bodyPr/>
                    <a:lstStyle/>
                    <a:p>
                      <a:pPr algn="l">
                        <a:defRPr sz="1200">
                          <a:solidFill>
                            <a:srgbClr val="1A1A2E"/>
                          </a:solidFill>
                          <a:latin typeface="Segoe UI"/>
                        </a:defRPr>
                      </a:pPr>
                      <a:r>
                        <a:rPr>
                          <a:latin typeface="Segoe UI"/>
                          <a:ea typeface="Meiryo UI"/>
                        </a:rPr>
                        <a:t>サプライヤー品質評価バッチ</a:t>
                      </a:r>
                    </a:p>
                  </a:txBody>
                  <a:tcPr anchor="ctr">
                    <a:solidFill>
                      <a:srgbClr val="F0F7F4"/>
                    </a:solidFill>
                  </a:tcPr>
                </a:tc>
                <a:tc>
                  <a:txBody>
                    <a:bodyPr/>
                    <a:lstStyle/>
                    <a:p>
                      <a:pPr algn="l">
                        <a:defRPr sz="1200">
                          <a:solidFill>
                            <a:srgbClr val="1A1A2E"/>
                          </a:solidFill>
                          <a:latin typeface="Segoe UI"/>
                        </a:defRPr>
                      </a:pPr>
                      <a:r>
                        <a:rPr>
                          <a:latin typeface="Segoe UI"/>
                          <a:ea typeface="Meiryo UI"/>
                        </a:rPr>
                        <a:t>調達 / 品質管理</a:t>
                      </a:r>
                    </a:p>
                  </a:txBody>
                  <a:tcPr anchor="ctr">
                    <a:solidFill>
                      <a:srgbClr val="F0F7F4"/>
                    </a:solidFill>
                  </a:tcPr>
                </a:tc>
                <a:tc>
                  <a:txBody>
                    <a:bodyPr/>
                    <a:lstStyle/>
                    <a:p>
                      <a:pPr algn="l">
                        <a:defRPr sz="1200">
                          <a:solidFill>
                            <a:srgbClr val="1A1A2E"/>
                          </a:solidFill>
                          <a:latin typeface="Segoe UI"/>
                        </a:defRPr>
                      </a:pPr>
                      <a:r>
                        <a:rPr>
                          <a:latin typeface="Segoe UI"/>
                          <a:ea typeface="Meiryo UI"/>
                        </a:rPr>
                        <a:t>Iteration[HTTP] → Code → LLM</a:t>
                      </a:r>
                    </a:p>
                  </a:txBody>
                  <a:tcPr anchor="ctr">
                    <a:solidFill>
                      <a:srgbClr val="F0F7F4"/>
                    </a:solidFill>
                  </a:tcPr>
                </a:tc>
                <a:tc>
                  <a:txBody>
                    <a:bodyPr/>
                    <a:lstStyle/>
                    <a:p>
                      <a:pPr algn="ctr">
                        <a:defRPr sz="1200">
                          <a:solidFill>
                            <a:srgbClr val="1A1A2E"/>
                          </a:solidFill>
                          <a:latin typeface="Segoe UI"/>
                        </a:defRPr>
                      </a:pPr>
                      <a:r>
                        <a:rPr>
                          <a:latin typeface="Segoe UI"/>
                          <a:ea typeface="Meiryo UI"/>
                        </a:rPr>
                        <a:t>7</a:t>
                      </a:r>
                    </a:p>
                  </a:txBody>
                  <a:tcPr anchor="ctr">
                    <a:solidFill>
                      <a:srgbClr val="F0F7F4"/>
                    </a:solidFill>
                  </a:tcPr>
                </a:tc>
              </a:tr>
              <a:tr h="609600">
                <a:tc>
                  <a:txBody>
                    <a:bodyPr/>
                    <a:lstStyle/>
                    <a:p>
                      <a:pPr algn="ctr">
                        <a:defRPr sz="1200">
                          <a:solidFill>
                            <a:srgbClr val="1A1A2E"/>
                          </a:solidFill>
                          <a:latin typeface="Segoe UI"/>
                        </a:defRPr>
                      </a:pPr>
                      <a:r>
                        <a:rPr>
                          <a:latin typeface="Segoe UI"/>
                          <a:ea typeface="Meiryo UI"/>
                        </a:rPr>
                        <a:t>5</a:t>
                      </a:r>
                    </a:p>
                  </a:txBody>
                  <a:tcPr anchor="ctr"/>
                </a:tc>
                <a:tc>
                  <a:txBody>
                    <a:bodyPr/>
                    <a:lstStyle/>
                    <a:p>
                      <a:pPr algn="l">
                        <a:defRPr sz="1200">
                          <a:solidFill>
                            <a:srgbClr val="1A1A2E"/>
                          </a:solidFill>
                          <a:latin typeface="Segoe UI"/>
                        </a:defRPr>
                      </a:pPr>
                      <a:r>
                        <a:rPr>
                          <a:latin typeface="Segoe UI"/>
                          <a:ea typeface="Meiryo UI"/>
                        </a:rPr>
                        <a:t>作業手順書多言語翻訳</a:t>
                      </a:r>
                    </a:p>
                  </a:txBody>
                  <a:tcPr anchor="ctr"/>
                </a:tc>
                <a:tc>
                  <a:txBody>
                    <a:bodyPr/>
                    <a:lstStyle/>
                    <a:p>
                      <a:pPr algn="l">
                        <a:defRPr sz="1200">
                          <a:solidFill>
                            <a:srgbClr val="1A1A2E"/>
                          </a:solidFill>
                          <a:latin typeface="Segoe UI"/>
                        </a:defRPr>
                      </a:pPr>
                      <a:r>
                        <a:rPr>
                          <a:latin typeface="Segoe UI"/>
                          <a:ea typeface="Meiryo UI"/>
                        </a:rPr>
                        <a:t>生産技術部門</a:t>
                      </a:r>
                    </a:p>
                  </a:txBody>
                  <a:tcPr anchor="ctr"/>
                </a:tc>
                <a:tc>
                  <a:txBody>
                    <a:bodyPr/>
                    <a:lstStyle/>
                    <a:p>
                      <a:pPr algn="l">
                        <a:defRPr sz="1200">
                          <a:solidFill>
                            <a:srgbClr val="1A1A2E"/>
                          </a:solidFill>
                          <a:latin typeface="Segoe UI"/>
                        </a:defRPr>
                      </a:pPr>
                      <a:r>
                        <a:rPr>
                          <a:latin typeface="Segoe UI"/>
                          <a:ea typeface="Meiryo UI"/>
                        </a:rPr>
                        <a:t>QC 3分岐 → LLM×3</a:t>
                      </a:r>
                    </a:p>
                  </a:txBody>
                  <a:tcPr anchor="ctr"/>
                </a:tc>
                <a:tc>
                  <a:txBody>
                    <a:bodyPr/>
                    <a:lstStyle/>
                    <a:p>
                      <a:pPr algn="ctr">
                        <a:defRPr sz="1200">
                          <a:solidFill>
                            <a:srgbClr val="1A1A2E"/>
                          </a:solidFill>
                          <a:latin typeface="Segoe UI"/>
                        </a:defRPr>
                      </a:pPr>
                      <a:r>
                        <a:rPr>
                          <a:latin typeface="Segoe UI"/>
                          <a:ea typeface="Meiryo UI"/>
                        </a:rPr>
                        <a:t>7</a:t>
                      </a:r>
                    </a:p>
                  </a:txBody>
                  <a:tcPr anchor="ct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設計思想  ─  製造業固有の要件への対応</a:t>
            </a:r>
          </a:p>
        </p:txBody>
      </p:sp>
      <p:sp>
        <p:nvSpPr>
          <p:cNvPr id="4" name="Rectangle 3"/>
          <p:cNvSpPr/>
          <p:nvPr/>
        </p:nvSpPr>
        <p:spPr>
          <a:xfrm>
            <a:off x="548640" y="1280160"/>
            <a:ext cx="63500" cy="201168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75640" y="1280160"/>
            <a:ext cx="329184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3017520" cy="365760"/>
          </a:xfrm>
          <a:prstGeom prst="rect">
            <a:avLst/>
          </a:prstGeom>
          <a:noFill/>
        </p:spPr>
        <p:txBody>
          <a:bodyPr wrap="square">
            <a:spAutoFit/>
          </a:bodyPr>
          <a:lstStyle/>
          <a:p>
            <a:pPr algn="l">
              <a:defRPr sz="1600" b="1">
                <a:solidFill>
                  <a:srgbClr val="C62828"/>
                </a:solidFill>
                <a:latin typeface="Segoe UI"/>
              </a:defRPr>
            </a:pPr>
            <a:r>
              <a:rPr>
                <a:latin typeface="Segoe UI"/>
                <a:ea typeface="Meiryo UI"/>
              </a:rPr>
              <a:t>安全第一</a:t>
            </a:r>
          </a:p>
        </p:txBody>
      </p:sp>
      <p:sp>
        <p:nvSpPr>
          <p:cNvPr id="7" name="TextBox 6"/>
          <p:cNvSpPr txBox="1"/>
          <p:nvPr/>
        </p:nvSpPr>
        <p:spPr>
          <a:xfrm>
            <a:off x="731520"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設備アラートは安全側に判定。critical/emergency は</a:t>
            </a:r>
            <a:br/>
            <a:r>
              <a:rPr>
                <a:latin typeface="Segoe UI"/>
                <a:ea typeface="Meiryo UI"/>
              </a:rPr>
              <a:t>自動エスカレーションで見逃しを防止。</a:t>
            </a:r>
          </a:p>
        </p:txBody>
      </p:sp>
      <p:sp>
        <p:nvSpPr>
          <p:cNvPr id="8" name="Rectangle 7"/>
          <p:cNvSpPr/>
          <p:nvPr/>
        </p:nvSpPr>
        <p:spPr>
          <a:xfrm>
            <a:off x="4297679" y="1280160"/>
            <a:ext cx="63500" cy="201168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24679" y="1280160"/>
            <a:ext cx="329184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417320"/>
            <a:ext cx="3017520" cy="365760"/>
          </a:xfrm>
          <a:prstGeom prst="rect">
            <a:avLst/>
          </a:prstGeom>
          <a:noFill/>
        </p:spPr>
        <p:txBody>
          <a:bodyPr wrap="square">
            <a:spAutoFit/>
          </a:bodyPr>
          <a:lstStyle/>
          <a:p>
            <a:pPr algn="l">
              <a:defRPr sz="1600" b="1">
                <a:solidFill>
                  <a:srgbClr val="00896B"/>
                </a:solidFill>
                <a:latin typeface="Segoe UI"/>
              </a:defRPr>
            </a:pPr>
            <a:r>
              <a:rPr>
                <a:latin typeface="Segoe UI"/>
                <a:ea typeface="Meiryo UI"/>
              </a:rPr>
              <a:t>データ駆動</a:t>
            </a:r>
          </a:p>
        </p:txBody>
      </p:sp>
      <p:sp>
        <p:nvSpPr>
          <p:cNvPr id="11" name="TextBox 10"/>
          <p:cNvSpPr txBox="1"/>
          <p:nvPr/>
        </p:nvSpPr>
        <p:spPr>
          <a:xfrm>
            <a:off x="4480559"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APIから取得した実測データに基づく判定。</a:t>
            </a:r>
            <a:br/>
            <a:r>
              <a:rPr>
                <a:latin typeface="Segoe UI"/>
                <a:ea typeface="Meiryo UI"/>
              </a:rPr>
              <a:t>不良率・納期遵守率など定量指標で評価。</a:t>
            </a:r>
          </a:p>
        </p:txBody>
      </p:sp>
      <p:sp>
        <p:nvSpPr>
          <p:cNvPr id="12" name="Rectangle 11"/>
          <p:cNvSpPr/>
          <p:nvPr/>
        </p:nvSpPr>
        <p:spPr>
          <a:xfrm>
            <a:off x="8046719" y="1280160"/>
            <a:ext cx="63500" cy="201168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73719" y="1280160"/>
            <a:ext cx="329184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417320"/>
            <a:ext cx="3017520" cy="365760"/>
          </a:xfrm>
          <a:prstGeom prst="rect">
            <a:avLst/>
          </a:prstGeom>
          <a:noFill/>
        </p:spPr>
        <p:txBody>
          <a:bodyPr wrap="square">
            <a:spAutoFit/>
          </a:bodyPr>
          <a:lstStyle/>
          <a:p>
            <a:pPr algn="l">
              <a:defRPr sz="1600" b="1">
                <a:solidFill>
                  <a:srgbClr val="006EBF"/>
                </a:solidFill>
                <a:latin typeface="Segoe UI"/>
              </a:defRPr>
            </a:pPr>
            <a:r>
              <a:rPr>
                <a:latin typeface="Segoe UI"/>
                <a:ea typeface="Meiryo UI"/>
              </a:rPr>
              <a:t>多言語対応</a:t>
            </a:r>
          </a:p>
        </p:txBody>
      </p:sp>
      <p:sp>
        <p:nvSpPr>
          <p:cNvPr id="15" name="TextBox 14"/>
          <p:cNvSpPr txBox="1"/>
          <p:nvPr/>
        </p:nvSpPr>
        <p:spPr>
          <a:xfrm>
            <a:off x="8229599"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海外拠点向けに作業手順書の自動翻訳。</a:t>
            </a:r>
            <a:br/>
            <a:r>
              <a:rPr>
                <a:latin typeface="Segoe UI"/>
                <a:ea typeface="Meiryo UI"/>
              </a:rPr>
              <a:t>製造業専門用語を考慮した高品質翻訳。</a:t>
            </a:r>
          </a:p>
        </p:txBody>
      </p:sp>
      <p:sp>
        <p:nvSpPr>
          <p:cNvPr id="16" name="Rectangle 15"/>
          <p:cNvSpPr/>
          <p:nvPr/>
        </p:nvSpPr>
        <p:spPr>
          <a:xfrm>
            <a:off x="548640" y="3931920"/>
            <a:ext cx="63500" cy="2011680"/>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5640" y="3931920"/>
            <a:ext cx="329184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69080"/>
            <a:ext cx="3017520" cy="365760"/>
          </a:xfrm>
          <a:prstGeom prst="rect">
            <a:avLst/>
          </a:prstGeom>
          <a:noFill/>
        </p:spPr>
        <p:txBody>
          <a:bodyPr wrap="square">
            <a:spAutoFit/>
          </a:bodyPr>
          <a:lstStyle/>
          <a:p>
            <a:pPr algn="l">
              <a:defRPr sz="1600" b="1">
                <a:solidFill>
                  <a:srgbClr val="E86C00"/>
                </a:solidFill>
                <a:latin typeface="Segoe UI"/>
              </a:defRPr>
            </a:pPr>
            <a:r>
              <a:rPr>
                <a:latin typeface="Segoe UI"/>
                <a:ea typeface="Meiryo UI"/>
              </a:rPr>
              <a:t>バッチ処理</a:t>
            </a:r>
          </a:p>
        </p:txBody>
      </p:sp>
      <p:sp>
        <p:nvSpPr>
          <p:cNvPr id="19" name="TextBox 18"/>
          <p:cNvSpPr txBox="1"/>
          <p:nvPr/>
        </p:nvSpPr>
        <p:spPr>
          <a:xfrm>
            <a:off x="731520"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Iteration パターンで複数サプライヤーを</a:t>
            </a:r>
            <a:br/>
            <a:r>
              <a:rPr>
                <a:latin typeface="Segoe UI"/>
                <a:ea typeface="Meiryo UI"/>
              </a:rPr>
              <a:t>一括評価。APIを並列呼び出しで高速化。</a:t>
            </a:r>
          </a:p>
        </p:txBody>
      </p:sp>
      <p:sp>
        <p:nvSpPr>
          <p:cNvPr id="20" name="Rectangle 19"/>
          <p:cNvSpPr/>
          <p:nvPr/>
        </p:nvSpPr>
        <p:spPr>
          <a:xfrm>
            <a:off x="4297679" y="3931920"/>
            <a:ext cx="63500" cy="20116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24679" y="3931920"/>
            <a:ext cx="329184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4069080"/>
            <a:ext cx="3017520" cy="365760"/>
          </a:xfrm>
          <a:prstGeom prst="rect">
            <a:avLst/>
          </a:prstGeom>
          <a:noFill/>
        </p:spPr>
        <p:txBody>
          <a:bodyPr wrap="square">
            <a:spAutoFit/>
          </a:bodyPr>
          <a:lstStyle/>
          <a:p>
            <a:pPr algn="l">
              <a:defRPr sz="1600" b="1">
                <a:solidFill>
                  <a:srgbClr val="2E7D32"/>
                </a:solidFill>
                <a:latin typeface="Segoe UI"/>
              </a:defRPr>
            </a:pPr>
            <a:r>
              <a:rPr>
                <a:latin typeface="Segoe UI"/>
                <a:ea typeface="Meiryo UI"/>
              </a:rPr>
              <a:t>ナレッジ活用</a:t>
            </a:r>
          </a:p>
        </p:txBody>
      </p:sp>
      <p:sp>
        <p:nvSpPr>
          <p:cNvPr id="23" name="TextBox 22"/>
          <p:cNvSpPr txBox="1"/>
          <p:nvPr/>
        </p:nvSpPr>
        <p:spPr>
          <a:xfrm>
            <a:off x="4480559"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SOP・設備マニュアルを RAG で即時検索。</a:t>
            </a:r>
            <a:br/>
            <a:r>
              <a:rPr>
                <a:latin typeface="Segoe UI"/>
                <a:ea typeface="Meiryo UI"/>
              </a:rPr>
              <a:t>現場の疑問をその場で解決。</a:t>
            </a:r>
          </a:p>
        </p:txBody>
      </p:sp>
      <p:sp>
        <p:nvSpPr>
          <p:cNvPr id="24" name="Rectangle 23"/>
          <p:cNvSpPr/>
          <p:nvPr/>
        </p:nvSpPr>
        <p:spPr>
          <a:xfrm>
            <a:off x="8046719" y="3931920"/>
            <a:ext cx="63500" cy="201168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73719" y="3931920"/>
            <a:ext cx="329184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9" y="4069080"/>
            <a:ext cx="3017520" cy="365760"/>
          </a:xfrm>
          <a:prstGeom prst="rect">
            <a:avLst/>
          </a:prstGeom>
          <a:noFill/>
        </p:spPr>
        <p:txBody>
          <a:bodyPr wrap="square">
            <a:spAutoFit/>
          </a:bodyPr>
          <a:lstStyle/>
          <a:p>
            <a:pPr algn="l">
              <a:defRPr sz="1600" b="1">
                <a:solidFill>
                  <a:srgbClr val="37474F"/>
                </a:solidFill>
                <a:latin typeface="Segoe UI"/>
              </a:defRPr>
            </a:pPr>
            <a:r>
              <a:rPr>
                <a:latin typeface="Segoe UI"/>
                <a:ea typeface="Meiryo UI"/>
              </a:rPr>
              <a:t>URL/JSON 安全構築</a:t>
            </a:r>
          </a:p>
        </p:txBody>
      </p:sp>
      <p:sp>
        <p:nvSpPr>
          <p:cNvPr id="27" name="TextBox 26"/>
          <p:cNvSpPr txBox="1"/>
          <p:nvPr/>
        </p:nvSpPr>
        <p:spPr>
          <a:xfrm>
            <a:off x="8229599"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入力値の URL エンコードと json.dumps() による</a:t>
            </a:r>
            <a:br/>
            <a:r>
              <a:rPr>
                <a:latin typeface="Segoe UI"/>
                <a:ea typeface="Meiryo UI"/>
              </a:rPr>
              <a:t>安全なAPI連携。インジェクションを防止。</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詳細 ①  品質管理・設備保全</a:t>
            </a:r>
          </a:p>
        </p:txBody>
      </p:sp>
      <p:sp>
        <p:nvSpPr>
          <p:cNvPr id="4" name="Rounded Rectangle 3"/>
          <p:cNvSpPr/>
          <p:nvPr/>
        </p:nvSpPr>
        <p:spPr>
          <a:xfrm>
            <a:off x="457200" y="1188720"/>
            <a:ext cx="5349240" cy="512064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5349240" cy="635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49834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MFG-01  品質検査レポート自動生成</a:t>
            </a:r>
          </a:p>
        </p:txBody>
      </p:sp>
      <p:sp>
        <p:nvSpPr>
          <p:cNvPr id="7" name="TextBox 6"/>
          <p:cNvSpPr txBox="1"/>
          <p:nvPr/>
        </p:nvSpPr>
        <p:spPr>
          <a:xfrm>
            <a:off x="640080" y="1737360"/>
            <a:ext cx="49834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品質管理部門</a:t>
            </a:r>
          </a:p>
        </p:txBody>
      </p:sp>
      <p:sp>
        <p:nvSpPr>
          <p:cNvPr id="8" name="Rectangle 7"/>
          <p:cNvSpPr/>
          <p:nvPr/>
        </p:nvSpPr>
        <p:spPr>
          <a:xfrm>
            <a:off x="640080" y="2057400"/>
            <a:ext cx="49834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フロー</a:t>
            </a:r>
          </a:p>
        </p:txBody>
      </p:sp>
      <p:sp>
        <p:nvSpPr>
          <p:cNvPr id="10" name="TextBox 9"/>
          <p:cNvSpPr txBox="1"/>
          <p:nvPr/>
        </p:nvSpPr>
        <p:spPr>
          <a:xfrm>
            <a:off x="640080" y="2423160"/>
            <a:ext cx="49834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URLエンコード → HTTP(検査API) → データ解析 → LLM(レポート) → 終了</a:t>
            </a:r>
          </a:p>
        </p:txBody>
      </p:sp>
      <p:sp>
        <p:nvSpPr>
          <p:cNvPr id="11" name="TextBox 10"/>
          <p:cNvSpPr txBox="1"/>
          <p:nvPr/>
        </p:nvSpPr>
        <p:spPr>
          <a:xfrm>
            <a:off x="640080" y="347472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概要</a:t>
            </a:r>
          </a:p>
        </p:txBody>
      </p:sp>
      <p:sp>
        <p:nvSpPr>
          <p:cNvPr id="12" name="TextBox 11"/>
          <p:cNvSpPr txBox="1"/>
          <p:nvPr/>
        </p:nvSpPr>
        <p:spPr>
          <a:xfrm>
            <a:off x="640080" y="3703320"/>
            <a:ext cx="49834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ロット番号指定でAPIから検査データ取得、不良率算出・PASS/FAIL判定後、品質レポートを自動生成。</a:t>
            </a:r>
          </a:p>
        </p:txBody>
      </p:sp>
      <p:sp>
        <p:nvSpPr>
          <p:cNvPr id="13" name="Rounded Rectangle 12"/>
          <p:cNvSpPr/>
          <p:nvPr/>
        </p:nvSpPr>
        <p:spPr>
          <a:xfrm>
            <a:off x="640080" y="5120640"/>
            <a:ext cx="4983480" cy="822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4800600" cy="22860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導入効果</a:t>
            </a:r>
          </a:p>
        </p:txBody>
      </p:sp>
      <p:sp>
        <p:nvSpPr>
          <p:cNvPr id="15" name="TextBox 14"/>
          <p:cNvSpPr txBox="1"/>
          <p:nvPr/>
        </p:nvSpPr>
        <p:spPr>
          <a:xfrm>
            <a:off x="731520" y="5394960"/>
            <a:ext cx="4800600" cy="457200"/>
          </a:xfrm>
          <a:prstGeom prst="rect">
            <a:avLst/>
          </a:prstGeom>
          <a:noFill/>
        </p:spPr>
        <p:txBody>
          <a:bodyPr wrap="square">
            <a:spAutoFit/>
          </a:bodyPr>
          <a:lstStyle/>
          <a:p>
            <a:pPr algn="l">
              <a:defRPr sz="1100" b="1">
                <a:solidFill>
                  <a:srgbClr val="2E7D32"/>
                </a:solidFill>
                <a:latin typeface="Segoe UI"/>
              </a:defRPr>
            </a:pPr>
            <a:r>
              <a:rPr>
                <a:latin typeface="Segoe UI"/>
                <a:ea typeface="Meiryo UI"/>
              </a:rPr>
              <a:t>検査レポート作成の自動化、判定の均質化</a:t>
            </a:r>
          </a:p>
        </p:txBody>
      </p:sp>
      <p:sp>
        <p:nvSpPr>
          <p:cNvPr id="16" name="Rounded Rectangle 15"/>
          <p:cNvSpPr/>
          <p:nvPr/>
        </p:nvSpPr>
        <p:spPr>
          <a:xfrm>
            <a:off x="6035040" y="1188720"/>
            <a:ext cx="5349240" cy="512064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0" y="1188720"/>
            <a:ext cx="5349240" cy="635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325880"/>
            <a:ext cx="49834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MFG-02  設備保全アラート対応</a:t>
            </a:r>
          </a:p>
        </p:txBody>
      </p:sp>
      <p:sp>
        <p:nvSpPr>
          <p:cNvPr id="19" name="TextBox 18"/>
          <p:cNvSpPr txBox="1"/>
          <p:nvPr/>
        </p:nvSpPr>
        <p:spPr>
          <a:xfrm>
            <a:off x="6217920" y="1737360"/>
            <a:ext cx="49834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設備保全部門</a:t>
            </a:r>
          </a:p>
        </p:txBody>
      </p:sp>
      <p:sp>
        <p:nvSpPr>
          <p:cNvPr id="20" name="Rectangle 19"/>
          <p:cNvSpPr/>
          <p:nvPr/>
        </p:nvSpPr>
        <p:spPr>
          <a:xfrm>
            <a:off x="6217920" y="2057400"/>
            <a:ext cx="49834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219456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フロー</a:t>
            </a:r>
          </a:p>
        </p:txBody>
      </p:sp>
      <p:sp>
        <p:nvSpPr>
          <p:cNvPr id="22" name="TextBox 21"/>
          <p:cNvSpPr txBox="1"/>
          <p:nvPr/>
        </p:nvSpPr>
        <p:spPr>
          <a:xfrm>
            <a:off x="6217920" y="2423160"/>
            <a:ext cx="49834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LLM(緊急度評価) → IF/ELSE → Code(JSON) → HTTP(通知) / Template(手順)</a:t>
            </a:r>
          </a:p>
        </p:txBody>
      </p:sp>
      <p:sp>
        <p:nvSpPr>
          <p:cNvPr id="23" name="TextBox 22"/>
          <p:cNvSpPr txBox="1"/>
          <p:nvPr/>
        </p:nvSpPr>
        <p:spPr>
          <a:xfrm>
            <a:off x="6217920" y="347472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概要</a:t>
            </a:r>
          </a:p>
        </p:txBody>
      </p:sp>
      <p:sp>
        <p:nvSpPr>
          <p:cNvPr id="24" name="TextBox 23"/>
          <p:cNvSpPr txBox="1"/>
          <p:nvPr/>
        </p:nvSpPr>
        <p:spPr>
          <a:xfrm>
            <a:off x="6217920" y="3703320"/>
            <a:ext cx="49834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アラートをLLMで分析、critical時は保全チームに自動通知、軽微なものは保全手順ガイドを生成。</a:t>
            </a:r>
          </a:p>
        </p:txBody>
      </p:sp>
      <p:sp>
        <p:nvSpPr>
          <p:cNvPr id="25" name="Rounded Rectangle 24"/>
          <p:cNvSpPr/>
          <p:nvPr/>
        </p:nvSpPr>
        <p:spPr>
          <a:xfrm>
            <a:off x="6217920" y="5120640"/>
            <a:ext cx="4983480" cy="822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5166360"/>
            <a:ext cx="4800600" cy="22860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導入効果</a:t>
            </a:r>
          </a:p>
        </p:txBody>
      </p:sp>
      <p:sp>
        <p:nvSpPr>
          <p:cNvPr id="27" name="TextBox 26"/>
          <p:cNvSpPr txBox="1"/>
          <p:nvPr/>
        </p:nvSpPr>
        <p:spPr>
          <a:xfrm>
            <a:off x="6309360" y="5394960"/>
            <a:ext cx="4800600" cy="457200"/>
          </a:xfrm>
          <a:prstGeom prst="rect">
            <a:avLst/>
          </a:prstGeom>
          <a:noFill/>
        </p:spPr>
        <p:txBody>
          <a:bodyPr wrap="square">
            <a:spAutoFit/>
          </a:bodyPr>
          <a:lstStyle/>
          <a:p>
            <a:pPr algn="l">
              <a:defRPr sz="1100" b="1">
                <a:solidFill>
                  <a:srgbClr val="2E7D32"/>
                </a:solidFill>
                <a:latin typeface="Segoe UI"/>
              </a:defRPr>
            </a:pPr>
            <a:r>
              <a:rPr>
                <a:latin typeface="Segoe UI"/>
                <a:ea typeface="Meiryo UI"/>
              </a:rPr>
              <a:t>アラート初動の迅速化、重大インシデント見逃し防止</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詳細 ②  ナレッジ・サプライヤー管理</a:t>
            </a:r>
          </a:p>
        </p:txBody>
      </p:sp>
      <p:sp>
        <p:nvSpPr>
          <p:cNvPr id="4" name="Rounded Rectangle 3"/>
          <p:cNvSpPr/>
          <p:nvPr/>
        </p:nvSpPr>
        <p:spPr>
          <a:xfrm>
            <a:off x="457200" y="1188720"/>
            <a:ext cx="5349240" cy="512064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5349240" cy="635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49834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MFG-03  生産現場ナレッジ検索</a:t>
            </a:r>
          </a:p>
        </p:txBody>
      </p:sp>
      <p:sp>
        <p:nvSpPr>
          <p:cNvPr id="7" name="TextBox 6"/>
          <p:cNvSpPr txBox="1"/>
          <p:nvPr/>
        </p:nvSpPr>
        <p:spPr>
          <a:xfrm>
            <a:off x="640080" y="1737360"/>
            <a:ext cx="49834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生産現場（オペレーター・班長）</a:t>
            </a:r>
          </a:p>
        </p:txBody>
      </p:sp>
      <p:sp>
        <p:nvSpPr>
          <p:cNvPr id="8" name="Rectangle 7"/>
          <p:cNvSpPr/>
          <p:nvPr/>
        </p:nvSpPr>
        <p:spPr>
          <a:xfrm>
            <a:off x="640080" y="2057400"/>
            <a:ext cx="49834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フロー</a:t>
            </a:r>
          </a:p>
        </p:txBody>
      </p:sp>
      <p:sp>
        <p:nvSpPr>
          <p:cNvPr id="10" name="TextBox 9"/>
          <p:cNvSpPr txBox="1"/>
          <p:nvPr/>
        </p:nvSpPr>
        <p:spPr>
          <a:xfrm>
            <a:off x="640080" y="2423160"/>
            <a:ext cx="49834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ナレッジ検索(KR) → LLM回答生成(context有効) → 終了</a:t>
            </a:r>
          </a:p>
        </p:txBody>
      </p:sp>
      <p:sp>
        <p:nvSpPr>
          <p:cNvPr id="11" name="TextBox 10"/>
          <p:cNvSpPr txBox="1"/>
          <p:nvPr/>
        </p:nvSpPr>
        <p:spPr>
          <a:xfrm>
            <a:off x="640080" y="347472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概要</a:t>
            </a:r>
          </a:p>
        </p:txBody>
      </p:sp>
      <p:sp>
        <p:nvSpPr>
          <p:cNvPr id="12" name="TextBox 11"/>
          <p:cNvSpPr txBox="1"/>
          <p:nvPr/>
        </p:nvSpPr>
        <p:spPr>
          <a:xfrm>
            <a:off x="640080" y="3703320"/>
            <a:ext cx="49834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SOP・設備マニュアル・品質基準書をRAGで検索。情報不足時は担当部署への問い合わせを案内。</a:t>
            </a:r>
          </a:p>
        </p:txBody>
      </p:sp>
      <p:sp>
        <p:nvSpPr>
          <p:cNvPr id="13" name="Rounded Rectangle 12"/>
          <p:cNvSpPr/>
          <p:nvPr/>
        </p:nvSpPr>
        <p:spPr>
          <a:xfrm>
            <a:off x="640080" y="5120640"/>
            <a:ext cx="4983480" cy="822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4800600" cy="22860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導入効果</a:t>
            </a:r>
          </a:p>
        </p:txBody>
      </p:sp>
      <p:sp>
        <p:nvSpPr>
          <p:cNvPr id="15" name="TextBox 14"/>
          <p:cNvSpPr txBox="1"/>
          <p:nvPr/>
        </p:nvSpPr>
        <p:spPr>
          <a:xfrm>
            <a:off x="731520" y="5394960"/>
            <a:ext cx="4800600" cy="457200"/>
          </a:xfrm>
          <a:prstGeom prst="rect">
            <a:avLst/>
          </a:prstGeom>
          <a:noFill/>
        </p:spPr>
        <p:txBody>
          <a:bodyPr wrap="square">
            <a:spAutoFit/>
          </a:bodyPr>
          <a:lstStyle/>
          <a:p>
            <a:pPr algn="l">
              <a:defRPr sz="1100" b="1">
                <a:solidFill>
                  <a:srgbClr val="2E7D32"/>
                </a:solidFill>
                <a:latin typeface="Segoe UI"/>
              </a:defRPr>
            </a:pPr>
            <a:r>
              <a:rPr>
                <a:latin typeface="Segoe UI"/>
                <a:ea typeface="Meiryo UI"/>
              </a:rPr>
              <a:t>現場の疑問を即時解決、属人性排除</a:t>
            </a:r>
          </a:p>
        </p:txBody>
      </p:sp>
      <p:sp>
        <p:nvSpPr>
          <p:cNvPr id="16" name="Rounded Rectangle 15"/>
          <p:cNvSpPr/>
          <p:nvPr/>
        </p:nvSpPr>
        <p:spPr>
          <a:xfrm>
            <a:off x="6035040" y="1188720"/>
            <a:ext cx="5349240" cy="512064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0" y="1188720"/>
            <a:ext cx="5349240" cy="635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325880"/>
            <a:ext cx="49834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MFG-04  サプライヤー品質評価バッチ</a:t>
            </a:r>
          </a:p>
        </p:txBody>
      </p:sp>
      <p:sp>
        <p:nvSpPr>
          <p:cNvPr id="19" name="TextBox 18"/>
          <p:cNvSpPr txBox="1"/>
          <p:nvPr/>
        </p:nvSpPr>
        <p:spPr>
          <a:xfrm>
            <a:off x="6217920" y="1737360"/>
            <a:ext cx="49834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調達部門・品質管理部門</a:t>
            </a:r>
          </a:p>
        </p:txBody>
      </p:sp>
      <p:sp>
        <p:nvSpPr>
          <p:cNvPr id="20" name="Rectangle 19"/>
          <p:cNvSpPr/>
          <p:nvPr/>
        </p:nvSpPr>
        <p:spPr>
          <a:xfrm>
            <a:off x="6217920" y="2057400"/>
            <a:ext cx="49834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219456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フロー</a:t>
            </a:r>
          </a:p>
        </p:txBody>
      </p:sp>
      <p:sp>
        <p:nvSpPr>
          <p:cNvPr id="22" name="TextBox 21"/>
          <p:cNvSpPr txBox="1"/>
          <p:nvPr/>
        </p:nvSpPr>
        <p:spPr>
          <a:xfrm>
            <a:off x="6217920" y="2423160"/>
            <a:ext cx="49834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Code(配列化) → Iteration[HTTP(品質API)] → Code(集約) → LLM(評価) → 終了</a:t>
            </a:r>
          </a:p>
        </p:txBody>
      </p:sp>
      <p:sp>
        <p:nvSpPr>
          <p:cNvPr id="23" name="TextBox 22"/>
          <p:cNvSpPr txBox="1"/>
          <p:nvPr/>
        </p:nvSpPr>
        <p:spPr>
          <a:xfrm>
            <a:off x="6217920" y="3474720"/>
            <a:ext cx="49834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概要</a:t>
            </a:r>
          </a:p>
        </p:txBody>
      </p:sp>
      <p:sp>
        <p:nvSpPr>
          <p:cNvPr id="24" name="TextBox 23"/>
          <p:cNvSpPr txBox="1"/>
          <p:nvPr/>
        </p:nvSpPr>
        <p:spPr>
          <a:xfrm>
            <a:off x="6217920" y="3703320"/>
            <a:ext cx="49834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複数サプライヤーの不良率PPM・納期遵守率・認証情報をAPI一括取得、総合評価と推奨順位を生成。</a:t>
            </a:r>
          </a:p>
        </p:txBody>
      </p:sp>
      <p:sp>
        <p:nvSpPr>
          <p:cNvPr id="25" name="Rounded Rectangle 24"/>
          <p:cNvSpPr/>
          <p:nvPr/>
        </p:nvSpPr>
        <p:spPr>
          <a:xfrm>
            <a:off x="6217920" y="5120640"/>
            <a:ext cx="4983480" cy="822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5166360"/>
            <a:ext cx="4800600" cy="22860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導入効果</a:t>
            </a:r>
          </a:p>
        </p:txBody>
      </p:sp>
      <p:sp>
        <p:nvSpPr>
          <p:cNvPr id="27" name="TextBox 26"/>
          <p:cNvSpPr txBox="1"/>
          <p:nvPr/>
        </p:nvSpPr>
        <p:spPr>
          <a:xfrm>
            <a:off x="6309360" y="5394960"/>
            <a:ext cx="4800600" cy="457200"/>
          </a:xfrm>
          <a:prstGeom prst="rect">
            <a:avLst/>
          </a:prstGeom>
          <a:noFill/>
        </p:spPr>
        <p:txBody>
          <a:bodyPr wrap="square">
            <a:spAutoFit/>
          </a:bodyPr>
          <a:lstStyle/>
          <a:p>
            <a:pPr algn="l">
              <a:defRPr sz="1100" b="1">
                <a:solidFill>
                  <a:srgbClr val="2E7D32"/>
                </a:solidFill>
                <a:latin typeface="Segoe UI"/>
              </a:defRPr>
            </a:pPr>
            <a:r>
              <a:rPr>
                <a:latin typeface="Segoe UI"/>
                <a:ea typeface="Meiryo UI"/>
              </a:rPr>
              <a:t>サプライヤー評価の定量化・自動化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詳細 ③  生産技術・グローバル対応</a:t>
            </a:r>
          </a:p>
        </p:txBody>
      </p:sp>
      <p:sp>
        <p:nvSpPr>
          <p:cNvPr id="4" name="Rounded Rectangle 3"/>
          <p:cNvSpPr/>
          <p:nvPr/>
        </p:nvSpPr>
        <p:spPr>
          <a:xfrm>
            <a:off x="457200" y="1188720"/>
            <a:ext cx="10835640" cy="5120640"/>
          </a:xfrm>
          <a:prstGeom prst="roundRect">
            <a:avLst/>
          </a:prstGeom>
          <a:solidFill>
            <a:srgbClr val="F0F7F4"/>
          </a:solidFill>
          <a:ln w="1270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10835640" cy="635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104698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MFG-05  作業手順書多言語翻訳</a:t>
            </a:r>
          </a:p>
        </p:txBody>
      </p:sp>
      <p:sp>
        <p:nvSpPr>
          <p:cNvPr id="7" name="TextBox 6"/>
          <p:cNvSpPr txBox="1"/>
          <p:nvPr/>
        </p:nvSpPr>
        <p:spPr>
          <a:xfrm>
            <a:off x="640080" y="1737360"/>
            <a:ext cx="104698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生産技術部門</a:t>
            </a:r>
          </a:p>
        </p:txBody>
      </p:sp>
      <p:sp>
        <p:nvSpPr>
          <p:cNvPr id="8" name="Rectangle 7"/>
          <p:cNvSpPr/>
          <p:nvPr/>
        </p:nvSpPr>
        <p:spPr>
          <a:xfrm>
            <a:off x="640080" y="2057400"/>
            <a:ext cx="10469880" cy="12700"/>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104698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フロー</a:t>
            </a:r>
          </a:p>
        </p:txBody>
      </p:sp>
      <p:sp>
        <p:nvSpPr>
          <p:cNvPr id="10" name="TextBox 9"/>
          <p:cNvSpPr txBox="1"/>
          <p:nvPr/>
        </p:nvSpPr>
        <p:spPr>
          <a:xfrm>
            <a:off x="640080" y="2423160"/>
            <a:ext cx="104698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QC(3分岐: 英語/中国語/ベトナム語) → 専門LLM → 集約 → 終了</a:t>
            </a:r>
          </a:p>
        </p:txBody>
      </p:sp>
      <p:sp>
        <p:nvSpPr>
          <p:cNvPr id="11" name="TextBox 10"/>
          <p:cNvSpPr txBox="1"/>
          <p:nvPr/>
        </p:nvSpPr>
        <p:spPr>
          <a:xfrm>
            <a:off x="640080" y="3474720"/>
            <a:ext cx="10469880" cy="228600"/>
          </a:xfrm>
          <a:prstGeom prst="rect">
            <a:avLst/>
          </a:prstGeom>
          <a:noFill/>
        </p:spPr>
        <p:txBody>
          <a:bodyPr wrap="square">
            <a:spAutoFit/>
          </a:bodyPr>
          <a:lstStyle/>
          <a:p>
            <a:pPr algn="l">
              <a:defRPr sz="1000" b="1">
                <a:solidFill>
                  <a:srgbClr val="00896B"/>
                </a:solidFill>
                <a:latin typeface="Segoe UI"/>
              </a:defRPr>
            </a:pPr>
            <a:r>
              <a:rPr>
                <a:latin typeface="Segoe UI"/>
                <a:ea typeface="Meiryo UI"/>
              </a:rPr>
              <a:t>概要</a:t>
            </a:r>
          </a:p>
        </p:txBody>
      </p:sp>
      <p:sp>
        <p:nvSpPr>
          <p:cNvPr id="12" name="TextBox 11"/>
          <p:cNvSpPr txBox="1"/>
          <p:nvPr/>
        </p:nvSpPr>
        <p:spPr>
          <a:xfrm>
            <a:off x="640080" y="3703320"/>
            <a:ext cx="104698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日本語の作業手順書を指定言語に翻訳。製造業専門用語（締付トルク、加工原点等）に対応した高品質翻訳。</a:t>
            </a:r>
          </a:p>
        </p:txBody>
      </p:sp>
      <p:sp>
        <p:nvSpPr>
          <p:cNvPr id="13" name="Rounded Rectangle 12"/>
          <p:cNvSpPr/>
          <p:nvPr/>
        </p:nvSpPr>
        <p:spPr>
          <a:xfrm>
            <a:off x="640080" y="5120640"/>
            <a:ext cx="10469880" cy="822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10287000" cy="228600"/>
          </a:xfrm>
          <a:prstGeom prst="rect">
            <a:avLst/>
          </a:prstGeom>
          <a:noFill/>
        </p:spPr>
        <p:txBody>
          <a:bodyPr wrap="square">
            <a:spAutoFit/>
          </a:bodyPr>
          <a:lstStyle/>
          <a:p>
            <a:pPr algn="l">
              <a:defRPr sz="1000" b="1">
                <a:solidFill>
                  <a:srgbClr val="2E7D32"/>
                </a:solidFill>
                <a:latin typeface="Segoe UI"/>
              </a:defRPr>
            </a:pPr>
            <a:r>
              <a:rPr>
                <a:latin typeface="Segoe UI"/>
                <a:ea typeface="Meiryo UI"/>
              </a:rPr>
              <a:t>導入効果</a:t>
            </a:r>
          </a:p>
        </p:txBody>
      </p:sp>
      <p:sp>
        <p:nvSpPr>
          <p:cNvPr id="15" name="TextBox 14"/>
          <p:cNvSpPr txBox="1"/>
          <p:nvPr/>
        </p:nvSpPr>
        <p:spPr>
          <a:xfrm>
            <a:off x="731520" y="5394960"/>
            <a:ext cx="10287000" cy="457200"/>
          </a:xfrm>
          <a:prstGeom prst="rect">
            <a:avLst/>
          </a:prstGeom>
          <a:noFill/>
        </p:spPr>
        <p:txBody>
          <a:bodyPr wrap="square">
            <a:spAutoFit/>
          </a:bodyPr>
          <a:lstStyle/>
          <a:p>
            <a:pPr algn="l">
              <a:defRPr sz="1100" b="1">
                <a:solidFill>
                  <a:srgbClr val="2E7D32"/>
                </a:solidFill>
                <a:latin typeface="Segoe UI"/>
              </a:defRPr>
            </a:pPr>
            <a:r>
              <a:rPr>
                <a:latin typeface="Segoe UI"/>
                <a:ea typeface="Meiryo UI"/>
              </a:rPr>
              <a:t>翻訳工数の大幅削減、海外拠点展開の加速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使用技術  ─  Dify ノードタイプと適用パターン</a:t>
            </a:r>
          </a:p>
        </p:txBody>
      </p:sp>
      <p:sp>
        <p:nvSpPr>
          <p:cNvPr id="4" name="Rounded Rectangle 3"/>
          <p:cNvSpPr/>
          <p:nvPr/>
        </p:nvSpPr>
        <p:spPr>
          <a:xfrm>
            <a:off x="365760" y="11887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1560" y="1325880"/>
            <a:ext cx="731520" cy="73152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LLM</a:t>
            </a:r>
          </a:p>
        </p:txBody>
      </p:sp>
      <p:sp>
        <p:nvSpPr>
          <p:cNvPr id="7" name="TextBox 6"/>
          <p:cNvSpPr txBox="1"/>
          <p:nvPr/>
        </p:nvSpPr>
        <p:spPr>
          <a:xfrm>
            <a:off x="457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分析・レポート生成</a:t>
            </a:r>
            <a:br/>
            <a:r>
              <a:rPr>
                <a:latin typeface="Segoe UI"/>
                <a:ea typeface="Meiryo UI"/>
              </a:rPr>
              <a:t>翻訳・評価</a:t>
            </a:r>
          </a:p>
        </p:txBody>
      </p:sp>
      <p:sp>
        <p:nvSpPr>
          <p:cNvPr id="8" name="TextBox 7"/>
          <p:cNvSpPr txBox="1"/>
          <p:nvPr/>
        </p:nvSpPr>
        <p:spPr>
          <a:xfrm>
            <a:off x="457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全5ワークフロー</a:t>
            </a:r>
          </a:p>
        </p:txBody>
      </p:sp>
      <p:sp>
        <p:nvSpPr>
          <p:cNvPr id="9" name="Rounded Rectangle 8"/>
          <p:cNvSpPr/>
          <p:nvPr/>
        </p:nvSpPr>
        <p:spPr>
          <a:xfrm>
            <a:off x="2651760" y="11887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37560" y="1325880"/>
            <a:ext cx="731520" cy="73152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HTTP</a:t>
            </a:r>
            <a:br/>
            <a:r>
              <a:rPr>
                <a:latin typeface="Segoe UI"/>
                <a:ea typeface="Meiryo UI"/>
              </a:rPr>
              <a:t>Request</a:t>
            </a:r>
          </a:p>
        </p:txBody>
      </p:sp>
      <p:sp>
        <p:nvSpPr>
          <p:cNvPr id="12" name="TextBox 11"/>
          <p:cNvSpPr txBox="1"/>
          <p:nvPr/>
        </p:nvSpPr>
        <p:spPr>
          <a:xfrm>
            <a:off x="2743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外部API連携</a:t>
            </a:r>
            <a:br/>
            <a:r>
              <a:rPr>
                <a:latin typeface="Segoe UI"/>
                <a:ea typeface="Meiryo UI"/>
              </a:rPr>
              <a:t>（検査/保全/品質）</a:t>
            </a:r>
          </a:p>
        </p:txBody>
      </p:sp>
      <p:sp>
        <p:nvSpPr>
          <p:cNvPr id="13" name="TextBox 12"/>
          <p:cNvSpPr txBox="1"/>
          <p:nvPr/>
        </p:nvSpPr>
        <p:spPr>
          <a:xfrm>
            <a:off x="2743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MFG-01, 02, 04</a:t>
            </a:r>
          </a:p>
        </p:txBody>
      </p:sp>
      <p:sp>
        <p:nvSpPr>
          <p:cNvPr id="14" name="Rounded Rectangle 13"/>
          <p:cNvSpPr/>
          <p:nvPr/>
        </p:nvSpPr>
        <p:spPr>
          <a:xfrm>
            <a:off x="4937760" y="11887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23560" y="1325880"/>
            <a:ext cx="731520" cy="731520"/>
          </a:xfrm>
          <a:prstGeom prst="ellipse">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Code</a:t>
            </a:r>
          </a:p>
        </p:txBody>
      </p:sp>
      <p:sp>
        <p:nvSpPr>
          <p:cNvPr id="17" name="TextBox 16"/>
          <p:cNvSpPr txBox="1"/>
          <p:nvPr/>
        </p:nvSpPr>
        <p:spPr>
          <a:xfrm>
            <a:off x="5029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URL エンコード</a:t>
            </a:r>
            <a:br/>
            <a:r>
              <a:rPr>
                <a:latin typeface="Segoe UI"/>
                <a:ea typeface="Meiryo UI"/>
              </a:rPr>
              <a:t>データ解析・JSON構築</a:t>
            </a:r>
          </a:p>
        </p:txBody>
      </p:sp>
      <p:sp>
        <p:nvSpPr>
          <p:cNvPr id="18" name="TextBox 17"/>
          <p:cNvSpPr txBox="1"/>
          <p:nvPr/>
        </p:nvSpPr>
        <p:spPr>
          <a:xfrm>
            <a:off x="5029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MFG-01, 02, 04</a:t>
            </a:r>
          </a:p>
        </p:txBody>
      </p:sp>
      <p:sp>
        <p:nvSpPr>
          <p:cNvPr id="19" name="Rounded Rectangle 18"/>
          <p:cNvSpPr/>
          <p:nvPr/>
        </p:nvSpPr>
        <p:spPr>
          <a:xfrm>
            <a:off x="7223760" y="11887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09560" y="1325880"/>
            <a:ext cx="731520" cy="73152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Knowledge</a:t>
            </a:r>
            <a:br/>
            <a:r>
              <a:rPr>
                <a:latin typeface="Segoe UI"/>
                <a:ea typeface="Meiryo UI"/>
              </a:rPr>
              <a:t>Retrieval</a:t>
            </a:r>
          </a:p>
        </p:txBody>
      </p:sp>
      <p:sp>
        <p:nvSpPr>
          <p:cNvPr id="22" name="TextBox 21"/>
          <p:cNvSpPr txBox="1"/>
          <p:nvPr/>
        </p:nvSpPr>
        <p:spPr>
          <a:xfrm>
            <a:off x="7315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SOP・マニュアルの</a:t>
            </a:r>
            <a:br/>
            <a:r>
              <a:rPr>
                <a:latin typeface="Segoe UI"/>
                <a:ea typeface="Meiryo UI"/>
              </a:rPr>
              <a:t>RAG 検索</a:t>
            </a:r>
          </a:p>
        </p:txBody>
      </p:sp>
      <p:sp>
        <p:nvSpPr>
          <p:cNvPr id="23" name="TextBox 22"/>
          <p:cNvSpPr txBox="1"/>
          <p:nvPr/>
        </p:nvSpPr>
        <p:spPr>
          <a:xfrm>
            <a:off x="7315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MFG-03</a:t>
            </a:r>
          </a:p>
        </p:txBody>
      </p:sp>
      <p:sp>
        <p:nvSpPr>
          <p:cNvPr id="24" name="Rounded Rectangle 23"/>
          <p:cNvSpPr/>
          <p:nvPr/>
        </p:nvSpPr>
        <p:spPr>
          <a:xfrm>
            <a:off x="9509760" y="11887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95560" y="1325880"/>
            <a:ext cx="731520" cy="73152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Question</a:t>
            </a:r>
            <a:br/>
            <a:r>
              <a:rPr>
                <a:latin typeface="Segoe UI"/>
                <a:ea typeface="Meiryo UI"/>
              </a:rPr>
              <a:t>Classifier</a:t>
            </a:r>
          </a:p>
        </p:txBody>
      </p:sp>
      <p:sp>
        <p:nvSpPr>
          <p:cNvPr id="27" name="TextBox 26"/>
          <p:cNvSpPr txBox="1"/>
          <p:nvPr/>
        </p:nvSpPr>
        <p:spPr>
          <a:xfrm>
            <a:off x="9601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翻訳言語の</a:t>
            </a:r>
            <a:br/>
            <a:r>
              <a:rPr>
                <a:latin typeface="Segoe UI"/>
                <a:ea typeface="Meiryo UI"/>
              </a:rPr>
              <a:t>自動ルーティング</a:t>
            </a:r>
          </a:p>
        </p:txBody>
      </p:sp>
      <p:sp>
        <p:nvSpPr>
          <p:cNvPr id="28" name="TextBox 27"/>
          <p:cNvSpPr txBox="1"/>
          <p:nvPr/>
        </p:nvSpPr>
        <p:spPr>
          <a:xfrm>
            <a:off x="9601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MFG-05</a:t>
            </a:r>
          </a:p>
        </p:txBody>
      </p:sp>
      <p:sp>
        <p:nvSpPr>
          <p:cNvPr id="29" name="Rounded Rectangle 28"/>
          <p:cNvSpPr/>
          <p:nvPr/>
        </p:nvSpPr>
        <p:spPr>
          <a:xfrm>
            <a:off x="1508760" y="39319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194560" y="4069080"/>
            <a:ext cx="731520" cy="731520"/>
          </a:xfrm>
          <a:prstGeom prst="ellipse">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0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IF/ELSE</a:t>
            </a:r>
          </a:p>
        </p:txBody>
      </p:sp>
      <p:sp>
        <p:nvSpPr>
          <p:cNvPr id="32" name="TextBox 31"/>
          <p:cNvSpPr txBox="1"/>
          <p:nvPr/>
        </p:nvSpPr>
        <p:spPr>
          <a:xfrm>
            <a:off x="1600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緊急度による</a:t>
            </a:r>
            <a:br/>
            <a:r>
              <a:rPr>
                <a:latin typeface="Segoe UI"/>
                <a:ea typeface="Meiryo UI"/>
              </a:rPr>
              <a:t>処理分岐</a:t>
            </a:r>
          </a:p>
        </p:txBody>
      </p:sp>
      <p:sp>
        <p:nvSpPr>
          <p:cNvPr id="33" name="TextBox 32"/>
          <p:cNvSpPr txBox="1"/>
          <p:nvPr/>
        </p:nvSpPr>
        <p:spPr>
          <a:xfrm>
            <a:off x="1600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MFG-02</a:t>
            </a:r>
          </a:p>
        </p:txBody>
      </p:sp>
      <p:sp>
        <p:nvSpPr>
          <p:cNvPr id="34" name="Rounded Rectangle 33"/>
          <p:cNvSpPr/>
          <p:nvPr/>
        </p:nvSpPr>
        <p:spPr>
          <a:xfrm>
            <a:off x="3794760" y="39319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480560" y="4069080"/>
            <a:ext cx="731520" cy="731520"/>
          </a:xfrm>
          <a:prstGeom prst="ellipse">
            <a:avLst/>
          </a:prstGeom>
          <a:solidFill>
            <a:srgbClr val="006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86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Iteration</a:t>
            </a:r>
          </a:p>
        </p:txBody>
      </p:sp>
      <p:sp>
        <p:nvSpPr>
          <p:cNvPr id="37" name="TextBox 36"/>
          <p:cNvSpPr txBox="1"/>
          <p:nvPr/>
        </p:nvSpPr>
        <p:spPr>
          <a:xfrm>
            <a:off x="3886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サプライヤー</a:t>
            </a:r>
            <a:br/>
            <a:r>
              <a:rPr>
                <a:latin typeface="Segoe UI"/>
                <a:ea typeface="Meiryo UI"/>
              </a:rPr>
              <a:t>バッチ評価</a:t>
            </a:r>
          </a:p>
        </p:txBody>
      </p:sp>
      <p:sp>
        <p:nvSpPr>
          <p:cNvPr id="38" name="TextBox 37"/>
          <p:cNvSpPr txBox="1"/>
          <p:nvPr/>
        </p:nvSpPr>
        <p:spPr>
          <a:xfrm>
            <a:off x="3886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MFG-04</a:t>
            </a:r>
          </a:p>
        </p:txBody>
      </p:sp>
      <p:sp>
        <p:nvSpPr>
          <p:cNvPr id="39" name="Rounded Rectangle 38"/>
          <p:cNvSpPr/>
          <p:nvPr/>
        </p:nvSpPr>
        <p:spPr>
          <a:xfrm>
            <a:off x="6080760" y="39319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766560" y="4069080"/>
            <a:ext cx="731520" cy="731520"/>
          </a:xfrm>
          <a:prstGeom prst="ellipse">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72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Template</a:t>
            </a:r>
          </a:p>
        </p:txBody>
      </p:sp>
      <p:sp>
        <p:nvSpPr>
          <p:cNvPr id="42" name="TextBox 41"/>
          <p:cNvSpPr txBox="1"/>
          <p:nvPr/>
        </p:nvSpPr>
        <p:spPr>
          <a:xfrm>
            <a:off x="6172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保全手順</a:t>
            </a:r>
            <a:br/>
            <a:r>
              <a:rPr>
                <a:latin typeface="Segoe UI"/>
                <a:ea typeface="Meiryo UI"/>
              </a:rPr>
              <a:t>ガイド生成</a:t>
            </a:r>
          </a:p>
        </p:txBody>
      </p:sp>
      <p:sp>
        <p:nvSpPr>
          <p:cNvPr id="43" name="TextBox 42"/>
          <p:cNvSpPr txBox="1"/>
          <p:nvPr/>
        </p:nvSpPr>
        <p:spPr>
          <a:xfrm>
            <a:off x="6172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MFG-02</a:t>
            </a:r>
          </a:p>
        </p:txBody>
      </p:sp>
      <p:sp>
        <p:nvSpPr>
          <p:cNvPr id="44" name="Rounded Rectangle 43"/>
          <p:cNvSpPr/>
          <p:nvPr/>
        </p:nvSpPr>
        <p:spPr>
          <a:xfrm>
            <a:off x="8366760" y="3931920"/>
            <a:ext cx="2103120" cy="237744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052560" y="4069080"/>
            <a:ext cx="731520" cy="731520"/>
          </a:xfrm>
          <a:prstGeom prst="ellipse">
            <a:avLst/>
          </a:prstGeom>
          <a:solidFill>
            <a:srgbClr val="555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58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Variable</a:t>
            </a:r>
            <a:br/>
            <a:r>
              <a:rPr>
                <a:latin typeface="Segoe UI"/>
                <a:ea typeface="Meiryo UI"/>
              </a:rPr>
              <a:t>Aggregator</a:t>
            </a:r>
          </a:p>
        </p:txBody>
      </p:sp>
      <p:sp>
        <p:nvSpPr>
          <p:cNvPr id="47" name="TextBox 46"/>
          <p:cNvSpPr txBox="1"/>
          <p:nvPr/>
        </p:nvSpPr>
        <p:spPr>
          <a:xfrm>
            <a:off x="8458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分岐結果の</a:t>
            </a:r>
            <a:br/>
            <a:r>
              <a:rPr>
                <a:latin typeface="Segoe UI"/>
                <a:ea typeface="Meiryo UI"/>
              </a:rPr>
              <a:t>統合・集約</a:t>
            </a:r>
          </a:p>
        </p:txBody>
      </p:sp>
      <p:sp>
        <p:nvSpPr>
          <p:cNvPr id="48" name="TextBox 47"/>
          <p:cNvSpPr txBox="1"/>
          <p:nvPr/>
        </p:nvSpPr>
        <p:spPr>
          <a:xfrm>
            <a:off x="8458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MFG-02, 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導入ステップ</a:t>
            </a:r>
          </a:p>
        </p:txBody>
      </p:sp>
      <p:sp>
        <p:nvSpPr>
          <p:cNvPr id="4" name="Oval 3"/>
          <p:cNvSpPr/>
          <p:nvPr/>
        </p:nvSpPr>
        <p:spPr>
          <a:xfrm>
            <a:off x="960120" y="1371600"/>
            <a:ext cx="914400" cy="91440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1</a:t>
            </a:r>
          </a:p>
        </p:txBody>
      </p:sp>
      <p:sp>
        <p:nvSpPr>
          <p:cNvPr id="6" name="Right Arrow 5"/>
          <p:cNvSpPr/>
          <p:nvPr/>
        </p:nvSpPr>
        <p:spPr>
          <a:xfrm>
            <a:off x="2011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インポート</a:t>
            </a:r>
          </a:p>
        </p:txBody>
      </p:sp>
      <p:sp>
        <p:nvSpPr>
          <p:cNvPr id="8" name="Rounded Rectangle 7"/>
          <p:cNvSpPr/>
          <p:nvPr/>
        </p:nvSpPr>
        <p:spPr>
          <a:xfrm>
            <a:off x="365760" y="3017520"/>
            <a:ext cx="210312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DSL ファイルを Dify の</a:t>
            </a:r>
            <a:br/>
            <a:r>
              <a:rPr>
                <a:latin typeface="Segoe UI"/>
                <a:ea typeface="Meiryo UI"/>
              </a:rPr>
              <a:t>「スタジオ」画面から</a:t>
            </a:r>
            <a:br/>
            <a:r>
              <a:rPr>
                <a:latin typeface="Segoe UI"/>
                <a:ea typeface="Meiryo UI"/>
              </a:rPr>
              <a:t>インポート</a:t>
            </a:r>
          </a:p>
        </p:txBody>
      </p:sp>
      <p:sp>
        <p:nvSpPr>
          <p:cNvPr id="10" name="TextBox 9"/>
          <p:cNvSpPr txBox="1"/>
          <p:nvPr/>
        </p:nvSpPr>
        <p:spPr>
          <a:xfrm>
            <a:off x="502920" y="4480560"/>
            <a:ext cx="1828800" cy="274320"/>
          </a:xfrm>
          <a:prstGeom prst="rect">
            <a:avLst/>
          </a:prstGeom>
          <a:noFill/>
        </p:spPr>
        <p:txBody>
          <a:bodyPr wrap="square">
            <a:spAutoFit/>
          </a:bodyPr>
          <a:lstStyle/>
          <a:p>
            <a:pPr algn="ctr">
              <a:defRPr sz="1000" b="1">
                <a:solidFill>
                  <a:srgbClr val="00896B"/>
                </a:solidFill>
                <a:latin typeface="Segoe UI"/>
              </a:defRPr>
            </a:pPr>
            <a:r>
              <a:rPr>
                <a:latin typeface="Segoe UI"/>
                <a:ea typeface="Meiryo UI"/>
              </a:rPr>
              <a:t>所要: 数分</a:t>
            </a:r>
          </a:p>
        </p:txBody>
      </p:sp>
      <p:sp>
        <p:nvSpPr>
          <p:cNvPr id="11" name="Oval 10"/>
          <p:cNvSpPr/>
          <p:nvPr/>
        </p:nvSpPr>
        <p:spPr>
          <a:xfrm>
            <a:off x="3246120" y="1371600"/>
            <a:ext cx="914400" cy="91440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6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2</a:t>
            </a:r>
          </a:p>
        </p:txBody>
      </p:sp>
      <p:sp>
        <p:nvSpPr>
          <p:cNvPr id="13" name="Right Arrow 12"/>
          <p:cNvSpPr/>
          <p:nvPr/>
        </p:nvSpPr>
        <p:spPr>
          <a:xfrm>
            <a:off x="4297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モデル設定</a:t>
            </a:r>
          </a:p>
        </p:txBody>
      </p:sp>
      <p:sp>
        <p:nvSpPr>
          <p:cNvPr id="15" name="Rounded Rectangle 14"/>
          <p:cNvSpPr/>
          <p:nvPr/>
        </p:nvSpPr>
        <p:spPr>
          <a:xfrm>
            <a:off x="2651760" y="3017520"/>
            <a:ext cx="210312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openai / gpt-4o-mini を</a:t>
            </a:r>
            <a:br/>
            <a:r>
              <a:rPr>
                <a:latin typeface="Segoe UI"/>
                <a:ea typeface="Meiryo UI"/>
              </a:rPr>
              <a:t>利用可能な LLM</a:t>
            </a:r>
            <a:br/>
            <a:r>
              <a:rPr>
                <a:latin typeface="Segoe UI"/>
                <a:ea typeface="Meiryo UI"/>
              </a:rPr>
              <a:t>プロバイダーに変更</a:t>
            </a:r>
          </a:p>
        </p:txBody>
      </p:sp>
      <p:sp>
        <p:nvSpPr>
          <p:cNvPr id="17" name="TextBox 16"/>
          <p:cNvSpPr txBox="1"/>
          <p:nvPr/>
        </p:nvSpPr>
        <p:spPr>
          <a:xfrm>
            <a:off x="2788920" y="4480560"/>
            <a:ext cx="1828800" cy="274320"/>
          </a:xfrm>
          <a:prstGeom prst="rect">
            <a:avLst/>
          </a:prstGeom>
          <a:noFill/>
        </p:spPr>
        <p:txBody>
          <a:bodyPr wrap="square">
            <a:spAutoFit/>
          </a:bodyPr>
          <a:lstStyle/>
          <a:p>
            <a:pPr algn="ctr">
              <a:defRPr sz="1000" b="1">
                <a:solidFill>
                  <a:srgbClr val="00896B"/>
                </a:solidFill>
                <a:latin typeface="Segoe UI"/>
              </a:defRPr>
            </a:pPr>
            <a:r>
              <a:rPr>
                <a:latin typeface="Segoe UI"/>
                <a:ea typeface="Meiryo UI"/>
              </a:rPr>
              <a:t>所要: 数分</a:t>
            </a:r>
          </a:p>
        </p:txBody>
      </p:sp>
      <p:sp>
        <p:nvSpPr>
          <p:cNvPr id="18" name="Oval 17"/>
          <p:cNvSpPr/>
          <p:nvPr/>
        </p:nvSpPr>
        <p:spPr>
          <a:xfrm>
            <a:off x="5532120" y="1371600"/>
            <a:ext cx="914400" cy="91440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32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3</a:t>
            </a:r>
          </a:p>
        </p:txBody>
      </p:sp>
      <p:sp>
        <p:nvSpPr>
          <p:cNvPr id="20" name="Right Arrow 19"/>
          <p:cNvSpPr/>
          <p:nvPr/>
        </p:nvSpPr>
        <p:spPr>
          <a:xfrm>
            <a:off x="6583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API 接続</a:t>
            </a:r>
          </a:p>
        </p:txBody>
      </p:sp>
      <p:sp>
        <p:nvSpPr>
          <p:cNvPr id="22" name="Rounded Rectangle 21"/>
          <p:cNvSpPr/>
          <p:nvPr/>
        </p:nvSpPr>
        <p:spPr>
          <a:xfrm>
            <a:off x="4937760" y="3017520"/>
            <a:ext cx="210312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api.example.com を</a:t>
            </a:r>
            <a:br/>
            <a:r>
              <a:rPr>
                <a:latin typeface="Segoe UI"/>
                <a:ea typeface="Meiryo UI"/>
              </a:rPr>
              <a:t>実際の検査/保全/品質</a:t>
            </a:r>
            <a:br/>
            <a:r>
              <a:rPr>
                <a:latin typeface="Segoe UI"/>
                <a:ea typeface="Meiryo UI"/>
              </a:rPr>
              <a:t>API に変更</a:t>
            </a:r>
          </a:p>
        </p:txBody>
      </p:sp>
      <p:sp>
        <p:nvSpPr>
          <p:cNvPr id="24" name="TextBox 23"/>
          <p:cNvSpPr txBox="1"/>
          <p:nvPr/>
        </p:nvSpPr>
        <p:spPr>
          <a:xfrm>
            <a:off x="5074920" y="4480560"/>
            <a:ext cx="1828800" cy="274320"/>
          </a:xfrm>
          <a:prstGeom prst="rect">
            <a:avLst/>
          </a:prstGeom>
          <a:noFill/>
        </p:spPr>
        <p:txBody>
          <a:bodyPr wrap="square">
            <a:spAutoFit/>
          </a:bodyPr>
          <a:lstStyle/>
          <a:p>
            <a:pPr algn="ctr">
              <a:defRPr sz="1000" b="1">
                <a:solidFill>
                  <a:srgbClr val="00896B"/>
                </a:solidFill>
                <a:latin typeface="Segoe UI"/>
              </a:defRPr>
            </a:pPr>
            <a:r>
              <a:rPr>
                <a:latin typeface="Segoe UI"/>
                <a:ea typeface="Meiryo UI"/>
              </a:rPr>
              <a:t>所要: 数時間</a:t>
            </a:r>
          </a:p>
        </p:txBody>
      </p:sp>
      <p:sp>
        <p:nvSpPr>
          <p:cNvPr id="25" name="Oval 24"/>
          <p:cNvSpPr/>
          <p:nvPr/>
        </p:nvSpPr>
        <p:spPr>
          <a:xfrm>
            <a:off x="7818120" y="1371600"/>
            <a:ext cx="914400" cy="91440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4</a:t>
            </a:r>
          </a:p>
        </p:txBody>
      </p:sp>
      <p:sp>
        <p:nvSpPr>
          <p:cNvPr id="27" name="Right Arrow 26"/>
          <p:cNvSpPr/>
          <p:nvPr/>
        </p:nvSpPr>
        <p:spPr>
          <a:xfrm>
            <a:off x="8869680" y="1645920"/>
            <a:ext cx="457200" cy="365760"/>
          </a:xfrm>
          <a:prstGeom prst="rightArrow">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閾値・用語調整</a:t>
            </a:r>
          </a:p>
        </p:txBody>
      </p:sp>
      <p:sp>
        <p:nvSpPr>
          <p:cNvPr id="29" name="Rounded Rectangle 28"/>
          <p:cNvSpPr/>
          <p:nvPr/>
        </p:nvSpPr>
        <p:spPr>
          <a:xfrm>
            <a:off x="7223760" y="3017520"/>
            <a:ext cx="210312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0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不良率判定閾値、</a:t>
            </a:r>
            <a:br/>
            <a:r>
              <a:rPr>
                <a:latin typeface="Segoe UI"/>
                <a:ea typeface="Meiryo UI"/>
              </a:rPr>
              <a:t>専門用語辞書、</a:t>
            </a:r>
            <a:br/>
            <a:r>
              <a:rPr>
                <a:latin typeface="Segoe UI"/>
                <a:ea typeface="Meiryo UI"/>
              </a:rPr>
              <a:t>プロンプトを自社仕様に</a:t>
            </a:r>
          </a:p>
        </p:txBody>
      </p:sp>
      <p:sp>
        <p:nvSpPr>
          <p:cNvPr id="31" name="TextBox 30"/>
          <p:cNvSpPr txBox="1"/>
          <p:nvPr/>
        </p:nvSpPr>
        <p:spPr>
          <a:xfrm>
            <a:off x="7360920" y="4480560"/>
            <a:ext cx="1828800" cy="274320"/>
          </a:xfrm>
          <a:prstGeom prst="rect">
            <a:avLst/>
          </a:prstGeom>
          <a:noFill/>
        </p:spPr>
        <p:txBody>
          <a:bodyPr wrap="square">
            <a:spAutoFit/>
          </a:bodyPr>
          <a:lstStyle/>
          <a:p>
            <a:pPr algn="ctr">
              <a:defRPr sz="1000" b="1">
                <a:solidFill>
                  <a:srgbClr val="00896B"/>
                </a:solidFill>
                <a:latin typeface="Segoe UI"/>
              </a:defRPr>
            </a:pPr>
            <a:r>
              <a:rPr>
                <a:latin typeface="Segoe UI"/>
                <a:ea typeface="Meiryo UI"/>
              </a:rPr>
              <a:t>所要: 1〜2日</a:t>
            </a:r>
          </a:p>
        </p:txBody>
      </p:sp>
      <p:sp>
        <p:nvSpPr>
          <p:cNvPr id="32" name="Oval 31"/>
          <p:cNvSpPr/>
          <p:nvPr/>
        </p:nvSpPr>
        <p:spPr>
          <a:xfrm>
            <a:off x="10104120" y="1371600"/>
            <a:ext cx="914400" cy="91440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04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5</a:t>
            </a:r>
          </a:p>
        </p:txBody>
      </p:sp>
      <p:sp>
        <p:nvSpPr>
          <p:cNvPr id="34" name="TextBox 33"/>
          <p:cNvSpPr txBox="1"/>
          <p:nvPr/>
        </p:nvSpPr>
        <p:spPr>
          <a:xfrm>
            <a:off x="9509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テスト・運用開始</a:t>
            </a:r>
          </a:p>
        </p:txBody>
      </p:sp>
      <p:sp>
        <p:nvSpPr>
          <p:cNvPr id="35" name="Rounded Rectangle 34"/>
          <p:cNvSpPr/>
          <p:nvPr/>
        </p:nvSpPr>
        <p:spPr>
          <a:xfrm>
            <a:off x="9509760" y="3017520"/>
            <a:ext cx="2103120" cy="2011680"/>
          </a:xfrm>
          <a:prstGeom prst="roundRect">
            <a:avLst/>
          </a:prstGeom>
          <a:solidFill>
            <a:srgbClr val="F0F7F4"/>
          </a:solidFill>
          <a:ln w="6350">
            <a:solidFill>
              <a:srgbClr val="D0D8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評価データで検証</a:t>
            </a:r>
            <a:br/>
            <a:r>
              <a:rPr>
                <a:latin typeface="Segoe UI"/>
                <a:ea typeface="Meiryo UI"/>
              </a:rPr>
              <a:t>段階的に本番展開</a:t>
            </a:r>
            <a:br/>
            <a:r>
              <a:rPr>
                <a:latin typeface="Segoe UI"/>
                <a:ea typeface="Meiryo UI"/>
              </a:rPr>
              <a:t>モニタリング体制構築</a:t>
            </a:r>
          </a:p>
        </p:txBody>
      </p:sp>
      <p:sp>
        <p:nvSpPr>
          <p:cNvPr id="37" name="TextBox 36"/>
          <p:cNvSpPr txBox="1"/>
          <p:nvPr/>
        </p:nvSpPr>
        <p:spPr>
          <a:xfrm>
            <a:off x="9646920" y="4480560"/>
            <a:ext cx="1828800" cy="274320"/>
          </a:xfrm>
          <a:prstGeom prst="rect">
            <a:avLst/>
          </a:prstGeom>
          <a:noFill/>
        </p:spPr>
        <p:txBody>
          <a:bodyPr wrap="square">
            <a:spAutoFit/>
          </a:bodyPr>
          <a:lstStyle/>
          <a:p>
            <a:pPr algn="ctr">
              <a:defRPr sz="1000" b="1">
                <a:solidFill>
                  <a:srgbClr val="00896B"/>
                </a:solidFill>
                <a:latin typeface="Segoe UI"/>
              </a:defRPr>
            </a:pPr>
            <a:r>
              <a:rPr>
                <a:latin typeface="Segoe UI"/>
                <a:ea typeface="Meiryo UI"/>
              </a:rPr>
              <a:t>所要: 1〜2週間</a:t>
            </a:r>
          </a:p>
        </p:txBody>
      </p:sp>
      <p:sp>
        <p:nvSpPr>
          <p:cNvPr id="38" name="TextBox 37"/>
          <p:cNvSpPr txBox="1"/>
          <p:nvPr/>
        </p:nvSpPr>
        <p:spPr>
          <a:xfrm>
            <a:off x="731520" y="5486400"/>
            <a:ext cx="10515600" cy="7315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 上記は目安です。既存システムとの連携範囲や自社固有のカスタマイズ内容により変動します。</a:t>
            </a:r>
            <a:br/>
            <a:r>
              <a:rPr>
                <a:latin typeface="Segoe UI"/>
                <a:ea typeface="Meiryo UI"/>
              </a:rPr>
              <a:t>※ STEP 1〜2 はテンプレートの即時利用（PoC）として実施可能です。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914400"/>
          </a:xfrm>
          <a:prstGeom prst="rect">
            <a:avLst/>
          </a:prstGeom>
          <a:noFill/>
        </p:spPr>
        <p:txBody>
          <a:bodyPr wrap="square">
            <a:spAutoFit/>
          </a:bodyPr>
          <a:lstStyle/>
          <a:p>
            <a:pPr algn="ctr">
              <a:defRPr sz="3600" b="1">
                <a:solidFill>
                  <a:srgbClr val="FFFFFF"/>
                </a:solidFill>
                <a:latin typeface="Segoe UI"/>
              </a:defRPr>
            </a:pPr>
            <a:r>
              <a:rPr>
                <a:latin typeface="Segoe UI"/>
                <a:ea typeface="Meiryo UI"/>
              </a:rPr>
              <a:t>AI ワークフローで製造現場を変革する</a:t>
            </a:r>
          </a:p>
        </p:txBody>
      </p:sp>
      <p:sp>
        <p:nvSpPr>
          <p:cNvPr id="5" name="Rectangle 4"/>
          <p:cNvSpPr/>
          <p:nvPr/>
        </p:nvSpPr>
        <p:spPr>
          <a:xfrm>
            <a:off x="4572000" y="3017520"/>
            <a:ext cx="3017520" cy="5080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474720"/>
            <a:ext cx="8229600" cy="457200"/>
          </a:xfrm>
          <a:prstGeom prst="rect">
            <a:avLst/>
          </a:prstGeom>
          <a:noFill/>
        </p:spPr>
        <p:txBody>
          <a:bodyPr wrap="square">
            <a:spAutoFit/>
          </a:bodyPr>
          <a:lstStyle/>
          <a:p>
            <a:pPr algn="ctr">
              <a:defRPr sz="1800" b="0">
                <a:solidFill>
                  <a:srgbClr val="A0D0B0"/>
                </a:solidFill>
                <a:latin typeface="Segoe UI"/>
              </a:defRPr>
            </a:pPr>
            <a:r>
              <a:rPr>
                <a:latin typeface="Segoe UI"/>
                <a:ea typeface="Meiryo UI"/>
              </a:rPr>
              <a:t>5 つの実践的テンプレートで、導入初日から業務効率化を実現</a:t>
            </a:r>
          </a:p>
        </p:txBody>
      </p:sp>
      <p:sp>
        <p:nvSpPr>
          <p:cNvPr id="7" name="Rounded Rectangle 6"/>
          <p:cNvSpPr/>
          <p:nvPr/>
        </p:nvSpPr>
        <p:spPr>
          <a:xfrm>
            <a:off x="1645920" y="4206240"/>
            <a:ext cx="2743200" cy="731520"/>
          </a:xfrm>
          <a:prstGeom prst="roundRect">
            <a:avLst/>
          </a:prstGeom>
          <a:solidFill>
            <a:srgbClr val="1A3A2A"/>
          </a:solidFill>
          <a:ln w="12700">
            <a:solidFill>
              <a:srgbClr val="306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即座にインポート可能</a:t>
            </a:r>
          </a:p>
        </p:txBody>
      </p:sp>
      <p:sp>
        <p:nvSpPr>
          <p:cNvPr id="9" name="Rounded Rectangle 8"/>
          <p:cNvSpPr/>
          <p:nvPr/>
        </p:nvSpPr>
        <p:spPr>
          <a:xfrm>
            <a:off x="4846320" y="4206240"/>
            <a:ext cx="2743200" cy="731520"/>
          </a:xfrm>
          <a:prstGeom prst="roundRect">
            <a:avLst/>
          </a:prstGeom>
          <a:solidFill>
            <a:srgbClr val="1A3A2A"/>
          </a:solidFill>
          <a:ln w="12700">
            <a:solidFill>
              <a:srgbClr val="306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製造業固有の要件を内包</a:t>
            </a:r>
          </a:p>
        </p:txBody>
      </p:sp>
      <p:sp>
        <p:nvSpPr>
          <p:cNvPr id="11" name="Rounded Rectangle 10"/>
          <p:cNvSpPr/>
          <p:nvPr/>
        </p:nvSpPr>
        <p:spPr>
          <a:xfrm>
            <a:off x="8046720" y="4206240"/>
            <a:ext cx="2743200" cy="731520"/>
          </a:xfrm>
          <a:prstGeom prst="roundRect">
            <a:avLst/>
          </a:prstGeom>
          <a:solidFill>
            <a:srgbClr val="1A3A2A"/>
          </a:solidFill>
          <a:ln w="12700">
            <a:solidFill>
              <a:srgbClr val="306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柔軟なカスタマイズ性</a:t>
            </a:r>
          </a:p>
        </p:txBody>
      </p:sp>
      <p:sp>
        <p:nvSpPr>
          <p:cNvPr id="13" name="TextBox 12"/>
          <p:cNvSpPr txBox="1"/>
          <p:nvPr/>
        </p:nvSpPr>
        <p:spPr>
          <a:xfrm>
            <a:off x="1371600" y="5486400"/>
            <a:ext cx="9144000" cy="457200"/>
          </a:xfrm>
          <a:prstGeom prst="rect">
            <a:avLst/>
          </a:prstGeom>
          <a:noFill/>
        </p:spPr>
        <p:txBody>
          <a:bodyPr wrap="square">
            <a:spAutoFit/>
          </a:bodyPr>
          <a:lstStyle/>
          <a:p>
            <a:pPr algn="ctr">
              <a:defRPr sz="1400" b="0">
                <a:solidFill>
                  <a:srgbClr val="80B090"/>
                </a:solidFill>
                <a:latin typeface="Segoe UI"/>
              </a:defRPr>
            </a:pPr>
            <a:r>
              <a:rPr>
                <a:latin typeface="Segoe UI"/>
                <a:ea typeface="Meiryo UI"/>
              </a:rPr>
              <a:t>ご質問・デモのご依頼はお気軽にお問い合わせください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