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6200"/>
          </a:xfrm>
          <a:prstGeom prst="rect">
            <a:avLst/>
          </a:prstGeom>
          <a:solidFill>
            <a:srgbClr val="006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9144000" cy="1097280"/>
          </a:xfrm>
          <a:prstGeom prst="rect">
            <a:avLst/>
          </a:prstGeom>
          <a:noFill/>
        </p:spPr>
        <p:txBody>
          <a:bodyPr wrap="square">
            <a:spAutoFit/>
          </a:bodyPr>
          <a:lstStyle/>
          <a:p>
            <a:pPr algn="ctr">
              <a:defRPr sz="4000" b="1">
                <a:solidFill>
                  <a:srgbClr val="FFFFFF"/>
                </a:solidFill>
                <a:latin typeface="Segoe UI"/>
              </a:defRPr>
            </a:pPr>
            <a:r>
              <a:rPr>
                <a:latin typeface="Segoe UI"/>
                <a:ea typeface="Meiryo UI"/>
              </a:rPr>
              <a:t>銀行業向け AI ワークフロー ソリューション</a:t>
            </a:r>
          </a:p>
        </p:txBody>
      </p:sp>
      <p:sp>
        <p:nvSpPr>
          <p:cNvPr id="5" name="TextBox 4"/>
          <p:cNvSpPr txBox="1"/>
          <p:nvPr/>
        </p:nvSpPr>
        <p:spPr>
          <a:xfrm>
            <a:off x="1371600" y="2926080"/>
            <a:ext cx="9144000" cy="731520"/>
          </a:xfrm>
          <a:prstGeom prst="rect">
            <a:avLst/>
          </a:prstGeom>
          <a:noFill/>
        </p:spPr>
        <p:txBody>
          <a:bodyPr wrap="square">
            <a:spAutoFit/>
          </a:bodyPr>
          <a:lstStyle/>
          <a:p>
            <a:pPr algn="ctr">
              <a:defRPr sz="2200" b="0">
                <a:solidFill>
                  <a:srgbClr val="A0C0E0"/>
                </a:solidFill>
                <a:latin typeface="Segoe UI"/>
              </a:defRPr>
            </a:pPr>
            <a:r>
              <a:rPr>
                <a:latin typeface="Segoe UI"/>
                <a:ea typeface="Meiryo UI"/>
              </a:rPr>
              <a:t>Dify プラットフォームによる業務自動化・高度化の実現</a:t>
            </a:r>
          </a:p>
        </p:txBody>
      </p:sp>
      <p:sp>
        <p:nvSpPr>
          <p:cNvPr id="6" name="Rectangle 5"/>
          <p:cNvSpPr/>
          <p:nvPr/>
        </p:nvSpPr>
        <p:spPr>
          <a:xfrm>
            <a:off x="4572000" y="3840480"/>
            <a:ext cx="3017520" cy="50800"/>
          </a:xfrm>
          <a:prstGeom prst="rect">
            <a:avLst/>
          </a:prstGeom>
          <a:solidFill>
            <a:srgbClr val="006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4206240"/>
            <a:ext cx="9144000" cy="548640"/>
          </a:xfrm>
          <a:prstGeom prst="rect">
            <a:avLst/>
          </a:prstGeom>
          <a:noFill/>
        </p:spPr>
        <p:txBody>
          <a:bodyPr wrap="square">
            <a:spAutoFit/>
          </a:bodyPr>
          <a:lstStyle/>
          <a:p>
            <a:pPr algn="ctr">
              <a:defRPr sz="1600" b="0">
                <a:solidFill>
                  <a:srgbClr val="80A0C0"/>
                </a:solidFill>
                <a:latin typeface="Segoe UI"/>
              </a:defRPr>
            </a:pPr>
            <a:r>
              <a:rPr>
                <a:latin typeface="Segoe UI"/>
                <a:ea typeface="Meiryo UI"/>
              </a:rPr>
              <a:t>10 の業務シーン  |  74 ノード  |  即時インポート可能な DSL テンプレート</a:t>
            </a:r>
          </a:p>
        </p:txBody>
      </p:sp>
      <p:sp>
        <p:nvSpPr>
          <p:cNvPr id="8" name="TextBox 7"/>
          <p:cNvSpPr txBox="1"/>
          <p:nvPr/>
        </p:nvSpPr>
        <p:spPr>
          <a:xfrm>
            <a:off x="1371600" y="5669280"/>
            <a:ext cx="9144000" cy="457200"/>
          </a:xfrm>
          <a:prstGeom prst="rect">
            <a:avLst/>
          </a:prstGeom>
          <a:noFill/>
        </p:spPr>
        <p:txBody>
          <a:bodyPr wrap="square">
            <a:spAutoFit/>
          </a:bodyPr>
          <a:lstStyle/>
          <a:p>
            <a:pPr algn="ctr">
              <a:defRPr sz="1200" b="0">
                <a:solidFill>
                  <a:srgbClr val="6080A0"/>
                </a:solidFill>
                <a:latin typeface="Segoe UI"/>
              </a:defRPr>
            </a:pPr>
            <a:r>
              <a:rPr>
                <a:latin typeface="Segoe UI"/>
                <a:ea typeface="Meiryo UI"/>
              </a:rPr>
              <a:t>Confidential  |  事例紹介資料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600" b="1">
                <a:solidFill>
                  <a:srgbClr val="FFFFFF"/>
                </a:solidFill>
                <a:latin typeface="Segoe UI"/>
              </a:defRPr>
            </a:pPr>
            <a:r>
              <a:rPr>
                <a:latin typeface="Segoe UI"/>
                <a:ea typeface="Meiryo UI"/>
              </a:rPr>
              <a:t>エグゼクティブサマリー</a:t>
            </a:r>
          </a:p>
        </p:txBody>
      </p:sp>
      <p:sp>
        <p:nvSpPr>
          <p:cNvPr id="4" name="Rounded Rectangle 3"/>
          <p:cNvSpPr/>
          <p:nvPr/>
        </p:nvSpPr>
        <p:spPr>
          <a:xfrm>
            <a:off x="914400" y="1371600"/>
            <a:ext cx="3108960" cy="1828800"/>
          </a:xfrm>
          <a:prstGeom prst="roundRect">
            <a:avLst/>
          </a:prstGeom>
          <a:solidFill>
            <a:srgbClr val="F0F4F8"/>
          </a:solidFill>
          <a:ln w="1270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554480"/>
            <a:ext cx="2560320" cy="731520"/>
          </a:xfrm>
          <a:prstGeom prst="rect">
            <a:avLst/>
          </a:prstGeom>
          <a:noFill/>
        </p:spPr>
        <p:txBody>
          <a:bodyPr wrap="square">
            <a:spAutoFit/>
          </a:bodyPr>
          <a:lstStyle/>
          <a:p>
            <a:pPr algn="ctr">
              <a:defRPr sz="4800" b="1">
                <a:solidFill>
                  <a:srgbClr val="006EBF"/>
                </a:solidFill>
                <a:latin typeface="Segoe UI"/>
              </a:defRPr>
            </a:pPr>
            <a:r>
              <a:rPr>
                <a:latin typeface="Segoe UI"/>
                <a:ea typeface="Meiryo UI"/>
              </a:rPr>
              <a:t>10</a:t>
            </a:r>
          </a:p>
        </p:txBody>
      </p:sp>
      <p:sp>
        <p:nvSpPr>
          <p:cNvPr id="6" name="TextBox 5"/>
          <p:cNvSpPr txBox="1"/>
          <p:nvPr/>
        </p:nvSpPr>
        <p:spPr>
          <a:xfrm>
            <a:off x="1188720" y="2148840"/>
            <a:ext cx="2560320" cy="274320"/>
          </a:xfrm>
          <a:prstGeom prst="rect">
            <a:avLst/>
          </a:prstGeom>
          <a:noFill/>
        </p:spPr>
        <p:txBody>
          <a:bodyPr wrap="square">
            <a:spAutoFit/>
          </a:bodyPr>
          <a:lstStyle/>
          <a:p>
            <a:pPr algn="ctr">
              <a:defRPr sz="1800" b="1">
                <a:solidFill>
                  <a:srgbClr val="1A1A2E"/>
                </a:solidFill>
                <a:latin typeface="Segoe UI"/>
              </a:defRPr>
            </a:pPr>
            <a:r>
              <a:rPr>
                <a:latin typeface="Segoe UI"/>
                <a:ea typeface="Meiryo UI"/>
              </a:rPr>
              <a:t>業務シーン</a:t>
            </a:r>
          </a:p>
        </p:txBody>
      </p:sp>
      <p:sp>
        <p:nvSpPr>
          <p:cNvPr id="7" name="TextBox 6"/>
          <p:cNvSpPr txBox="1"/>
          <p:nvPr/>
        </p:nvSpPr>
        <p:spPr>
          <a:xfrm>
            <a:off x="1188720" y="2468880"/>
            <a:ext cx="2560320" cy="640080"/>
          </a:xfrm>
          <a:prstGeom prst="rect">
            <a:avLst/>
          </a:prstGeom>
          <a:noFill/>
        </p:spPr>
        <p:txBody>
          <a:bodyPr wrap="square">
            <a:spAutoFit/>
          </a:bodyPr>
          <a:lstStyle/>
          <a:p>
            <a:pPr algn="ctr">
              <a:defRPr sz="1200" b="0">
                <a:solidFill>
                  <a:srgbClr val="4A5A6A"/>
                </a:solidFill>
                <a:latin typeface="Segoe UI"/>
              </a:defRPr>
            </a:pPr>
            <a:r>
              <a:rPr>
                <a:latin typeface="Segoe UI"/>
                <a:ea typeface="Meiryo UI"/>
              </a:rPr>
              <a:t>銀行業の主要業務を</a:t>
            </a:r>
            <a:br/>
            <a:r>
              <a:rPr>
                <a:latin typeface="Segoe UI"/>
                <a:ea typeface="Meiryo UI"/>
              </a:rPr>
              <a:t>幅広くカバー</a:t>
            </a:r>
          </a:p>
        </p:txBody>
      </p:sp>
      <p:sp>
        <p:nvSpPr>
          <p:cNvPr id="8" name="Rounded Rectangle 7"/>
          <p:cNvSpPr/>
          <p:nvPr/>
        </p:nvSpPr>
        <p:spPr>
          <a:xfrm>
            <a:off x="4480560" y="1371600"/>
            <a:ext cx="3108960" cy="1828800"/>
          </a:xfrm>
          <a:prstGeom prst="roundRect">
            <a:avLst/>
          </a:prstGeom>
          <a:solidFill>
            <a:srgbClr val="F0F4F8"/>
          </a:solidFill>
          <a:ln w="1270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1554480"/>
            <a:ext cx="2560320" cy="731520"/>
          </a:xfrm>
          <a:prstGeom prst="rect">
            <a:avLst/>
          </a:prstGeom>
          <a:noFill/>
        </p:spPr>
        <p:txBody>
          <a:bodyPr wrap="square">
            <a:spAutoFit/>
          </a:bodyPr>
          <a:lstStyle/>
          <a:p>
            <a:pPr algn="ctr">
              <a:defRPr sz="4800" b="1">
                <a:solidFill>
                  <a:srgbClr val="006EBF"/>
                </a:solidFill>
                <a:latin typeface="Segoe UI"/>
              </a:defRPr>
            </a:pPr>
            <a:r>
              <a:rPr>
                <a:latin typeface="Segoe UI"/>
                <a:ea typeface="Meiryo UI"/>
              </a:rPr>
              <a:t>74</a:t>
            </a:r>
          </a:p>
        </p:txBody>
      </p:sp>
      <p:sp>
        <p:nvSpPr>
          <p:cNvPr id="10" name="TextBox 9"/>
          <p:cNvSpPr txBox="1"/>
          <p:nvPr/>
        </p:nvSpPr>
        <p:spPr>
          <a:xfrm>
            <a:off x="4754880" y="2148840"/>
            <a:ext cx="2560320" cy="274320"/>
          </a:xfrm>
          <a:prstGeom prst="rect">
            <a:avLst/>
          </a:prstGeom>
          <a:noFill/>
        </p:spPr>
        <p:txBody>
          <a:bodyPr wrap="square">
            <a:spAutoFit/>
          </a:bodyPr>
          <a:lstStyle/>
          <a:p>
            <a:pPr algn="ctr">
              <a:defRPr sz="1800" b="1">
                <a:solidFill>
                  <a:srgbClr val="1A1A2E"/>
                </a:solidFill>
                <a:latin typeface="Segoe UI"/>
              </a:defRPr>
            </a:pPr>
            <a:r>
              <a:rPr>
                <a:latin typeface="Segoe UI"/>
                <a:ea typeface="Meiryo UI"/>
              </a:rPr>
              <a:t>ノード</a:t>
            </a:r>
          </a:p>
        </p:txBody>
      </p:sp>
      <p:sp>
        <p:nvSpPr>
          <p:cNvPr id="11" name="TextBox 10"/>
          <p:cNvSpPr txBox="1"/>
          <p:nvPr/>
        </p:nvSpPr>
        <p:spPr>
          <a:xfrm>
            <a:off x="4754880" y="2468880"/>
            <a:ext cx="2560320" cy="640080"/>
          </a:xfrm>
          <a:prstGeom prst="rect">
            <a:avLst/>
          </a:prstGeom>
          <a:noFill/>
        </p:spPr>
        <p:txBody>
          <a:bodyPr wrap="square">
            <a:spAutoFit/>
          </a:bodyPr>
          <a:lstStyle/>
          <a:p>
            <a:pPr algn="ctr">
              <a:defRPr sz="1200" b="0">
                <a:solidFill>
                  <a:srgbClr val="4A5A6A"/>
                </a:solidFill>
                <a:latin typeface="Segoe UI"/>
              </a:defRPr>
            </a:pPr>
            <a:r>
              <a:rPr>
                <a:latin typeface="Segoe UI"/>
                <a:ea typeface="Meiryo UI"/>
              </a:rPr>
              <a:t>実用的なワークフローを</a:t>
            </a:r>
            <a:br/>
            <a:r>
              <a:rPr>
                <a:latin typeface="Segoe UI"/>
                <a:ea typeface="Meiryo UI"/>
              </a:rPr>
              <a:t>即座にインポート可能</a:t>
            </a:r>
          </a:p>
        </p:txBody>
      </p:sp>
      <p:sp>
        <p:nvSpPr>
          <p:cNvPr id="12" name="Rounded Rectangle 11"/>
          <p:cNvSpPr/>
          <p:nvPr/>
        </p:nvSpPr>
        <p:spPr>
          <a:xfrm>
            <a:off x="8046720" y="1371600"/>
            <a:ext cx="3108960" cy="1828800"/>
          </a:xfrm>
          <a:prstGeom prst="roundRect">
            <a:avLst/>
          </a:prstGeom>
          <a:solidFill>
            <a:srgbClr val="F0F4F8"/>
          </a:solidFill>
          <a:ln w="1270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554480"/>
            <a:ext cx="2560320" cy="731520"/>
          </a:xfrm>
          <a:prstGeom prst="rect">
            <a:avLst/>
          </a:prstGeom>
          <a:noFill/>
        </p:spPr>
        <p:txBody>
          <a:bodyPr wrap="square">
            <a:spAutoFit/>
          </a:bodyPr>
          <a:lstStyle/>
          <a:p>
            <a:pPr algn="ctr">
              <a:defRPr sz="4800" b="1">
                <a:solidFill>
                  <a:srgbClr val="006EBF"/>
                </a:solidFill>
                <a:latin typeface="Segoe UI"/>
              </a:defRPr>
            </a:pPr>
            <a:r>
              <a:rPr>
                <a:latin typeface="Segoe UI"/>
                <a:ea typeface="Meiryo UI"/>
              </a:rPr>
              <a:t>7</a:t>
            </a:r>
          </a:p>
        </p:txBody>
      </p:sp>
      <p:sp>
        <p:nvSpPr>
          <p:cNvPr id="14" name="TextBox 13"/>
          <p:cNvSpPr txBox="1"/>
          <p:nvPr/>
        </p:nvSpPr>
        <p:spPr>
          <a:xfrm>
            <a:off x="8321040" y="2148840"/>
            <a:ext cx="2560320" cy="274320"/>
          </a:xfrm>
          <a:prstGeom prst="rect">
            <a:avLst/>
          </a:prstGeom>
          <a:noFill/>
        </p:spPr>
        <p:txBody>
          <a:bodyPr wrap="square">
            <a:spAutoFit/>
          </a:bodyPr>
          <a:lstStyle/>
          <a:p>
            <a:pPr algn="ctr">
              <a:defRPr sz="1800" b="1">
                <a:solidFill>
                  <a:srgbClr val="1A1A2E"/>
                </a:solidFill>
                <a:latin typeface="Segoe UI"/>
              </a:defRPr>
            </a:pPr>
            <a:r>
              <a:rPr>
                <a:latin typeface="Segoe UI"/>
                <a:ea typeface="Meiryo UI"/>
              </a:rPr>
              <a:t>部門</a:t>
            </a:r>
          </a:p>
        </p:txBody>
      </p:sp>
      <p:sp>
        <p:nvSpPr>
          <p:cNvPr id="15" name="TextBox 14"/>
          <p:cNvSpPr txBox="1"/>
          <p:nvPr/>
        </p:nvSpPr>
        <p:spPr>
          <a:xfrm>
            <a:off x="8321040" y="2468880"/>
            <a:ext cx="2560320" cy="640080"/>
          </a:xfrm>
          <a:prstGeom prst="rect">
            <a:avLst/>
          </a:prstGeom>
          <a:noFill/>
        </p:spPr>
        <p:txBody>
          <a:bodyPr wrap="square">
            <a:spAutoFit/>
          </a:bodyPr>
          <a:lstStyle/>
          <a:p>
            <a:pPr algn="ctr">
              <a:defRPr sz="1200" b="0">
                <a:solidFill>
                  <a:srgbClr val="4A5A6A"/>
                </a:solidFill>
                <a:latin typeface="Segoe UI"/>
              </a:defRPr>
            </a:pPr>
            <a:r>
              <a:rPr>
                <a:latin typeface="Segoe UI"/>
                <a:ea typeface="Meiryo UI"/>
              </a:rPr>
              <a:t>コンプラ・融資・営業・</a:t>
            </a:r>
            <a:br/>
            <a:r>
              <a:rPr>
                <a:latin typeface="Segoe UI"/>
                <a:ea typeface="Meiryo UI"/>
              </a:rPr>
              <a:t>企画等、横断的に対応</a:t>
            </a:r>
          </a:p>
        </p:txBody>
      </p:sp>
      <p:sp>
        <p:nvSpPr>
          <p:cNvPr id="16" name="TextBox 15"/>
          <p:cNvSpPr txBox="1"/>
          <p:nvPr/>
        </p:nvSpPr>
        <p:spPr>
          <a:xfrm>
            <a:off x="731520" y="3657600"/>
            <a:ext cx="10515600" cy="2743200"/>
          </a:xfrm>
          <a:prstGeom prst="rect">
            <a:avLst/>
          </a:prstGeom>
          <a:noFill/>
        </p:spPr>
        <p:txBody>
          <a:bodyPr wrap="square">
            <a:spAutoFit/>
          </a:bodyPr>
          <a:lstStyle/>
          <a:p>
            <a:pPr algn="l">
              <a:defRPr sz="2000" b="1">
                <a:solidFill>
                  <a:srgbClr val="1A1A2E"/>
                </a:solidFill>
                <a:latin typeface="Segoe UI"/>
              </a:defRPr>
            </a:pPr>
            <a:r>
              <a:rPr>
                <a:latin typeface="Segoe UI"/>
                <a:ea typeface="Meiryo UI"/>
              </a:rPr>
              <a:t>本ソリューションの特長</a:t>
            </a:r>
          </a:p>
          <a:p>
            <a:pPr algn="l">
              <a:spcBef>
                <a:spcPts val="800"/>
              </a:spcBef>
              <a:spcAft>
                <a:spcPts val="200"/>
              </a:spcAft>
              <a:defRPr sz="1400" b="0">
                <a:solidFill>
                  <a:srgbClr val="4A5A6A"/>
                </a:solidFill>
                <a:latin typeface="Segoe UI"/>
              </a:defRPr>
            </a:pPr>
            <a:r>
              <a:rPr>
                <a:latin typeface="Segoe UI"/>
                <a:ea typeface="Meiryo UI"/>
              </a:rPr>
              <a:t>    Dify にインポートするだけで動作する「即戦力テンプレート」— ゼロからの構築不要</a:t>
            </a:r>
          </a:p>
          <a:p>
            <a:pPr algn="l">
              <a:spcBef>
                <a:spcPts val="800"/>
              </a:spcBef>
              <a:spcAft>
                <a:spcPts val="200"/>
              </a:spcAft>
              <a:defRPr sz="1400" b="0">
                <a:solidFill>
                  <a:srgbClr val="4A5A6A"/>
                </a:solidFill>
                <a:latin typeface="Segoe UI"/>
              </a:defRPr>
            </a:pPr>
            <a:r>
              <a:rPr>
                <a:latin typeface="Segoe UI"/>
                <a:ea typeface="Meiryo UI"/>
              </a:rPr>
              <a:t>    コンプライアンス・融資審査・不正検知・顧客対応など銀行業の中核業務を網羅</a:t>
            </a:r>
          </a:p>
          <a:p>
            <a:pPr algn="l">
              <a:spcBef>
                <a:spcPts val="800"/>
              </a:spcBef>
              <a:spcAft>
                <a:spcPts val="200"/>
              </a:spcAft>
              <a:defRPr sz="1400" b="0">
                <a:solidFill>
                  <a:srgbClr val="4A5A6A"/>
                </a:solidFill>
                <a:latin typeface="Segoe UI"/>
              </a:defRPr>
            </a:pPr>
            <a:r>
              <a:rPr>
                <a:latin typeface="Segoe UI"/>
                <a:ea typeface="Meiryo UI"/>
              </a:rPr>
              <a:t>    個人情報保護・安全側判定・エスカレーション設計など銀行業固有の要件を組み込み済み</a:t>
            </a:r>
          </a:p>
          <a:p>
            <a:pPr algn="l">
              <a:spcBef>
                <a:spcPts val="800"/>
              </a:spcBef>
              <a:spcAft>
                <a:spcPts val="200"/>
              </a:spcAft>
              <a:defRPr sz="1400" b="0">
                <a:solidFill>
                  <a:srgbClr val="4A5A6A"/>
                </a:solidFill>
                <a:latin typeface="Segoe UI"/>
              </a:defRPr>
            </a:pPr>
            <a:r>
              <a:rPr>
                <a:latin typeface="Segoe UI"/>
                <a:ea typeface="Meiryo UI"/>
              </a:rPr>
              <a:t>    LLM モデル・API エンドポイント・ナレッジベースを差し替えるだけで自行環境に適用可能</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600" b="1">
                <a:solidFill>
                  <a:srgbClr val="FFFFFF"/>
                </a:solidFill>
                <a:latin typeface="Segoe UI"/>
              </a:defRPr>
            </a:pPr>
            <a:r>
              <a:rPr>
                <a:latin typeface="Segoe UI"/>
                <a:ea typeface="Meiryo UI"/>
              </a:rPr>
              <a:t>ワークフロー一覧  ─  10 の業務シーン</a:t>
            </a:r>
          </a:p>
        </p:txBody>
      </p:sp>
      <p:graphicFrame>
        <p:nvGraphicFramePr>
          <p:cNvPr id="4" name="Table 3"/>
          <p:cNvGraphicFramePr>
            <a:graphicFrameLocks noGrp="1"/>
          </p:cNvGraphicFramePr>
          <p:nvPr/>
        </p:nvGraphicFramePr>
        <p:xfrm>
          <a:off x="457200" y="1188720"/>
          <a:ext cx="10789920" cy="5029200"/>
        </p:xfrm>
        <a:graphic>
          <a:graphicData uri="http://schemas.openxmlformats.org/drawingml/2006/table">
            <a:tbl>
              <a:tblPr firstRow="1" bandRow="1">
                <a:tableStyleId>{5C22544A-7EE6-4342-B048-85BDC9FD1C3A}</a:tableStyleId>
              </a:tblPr>
              <a:tblGrid>
                <a:gridCol w="548640"/>
                <a:gridCol w="2926080"/>
                <a:gridCol w="2286000"/>
                <a:gridCol w="4114800"/>
                <a:gridCol w="914400"/>
              </a:tblGrid>
              <a:tr h="457200">
                <a:tc>
                  <a:txBody>
                    <a:bodyPr/>
                    <a:lstStyle/>
                    <a:p>
                      <a:pPr algn="ctr">
                        <a:defRPr sz="1100" b="1">
                          <a:solidFill>
                            <a:srgbClr val="FFFFFF"/>
                          </a:solidFill>
                          <a:latin typeface="Segoe UI"/>
                        </a:defRPr>
                      </a:pPr>
                      <a:r>
                        <a:rPr>
                          <a:latin typeface="Segoe UI"/>
                          <a:ea typeface="Meiryo UI"/>
                        </a:rPr>
                        <a:t>#</a:t>
                      </a:r>
                    </a:p>
                  </a:txBody>
                  <a:tcPr anchor="ctr">
                    <a:solidFill>
                      <a:srgbClr val="1B2A4A"/>
                    </a:solidFill>
                  </a:tcPr>
                </a:tc>
                <a:tc>
                  <a:txBody>
                    <a:bodyPr/>
                    <a:lstStyle/>
                    <a:p>
                      <a:pPr algn="ctr">
                        <a:defRPr sz="1100" b="1">
                          <a:solidFill>
                            <a:srgbClr val="FFFFFF"/>
                          </a:solidFill>
                          <a:latin typeface="Segoe UI"/>
                        </a:defRPr>
                      </a:pPr>
                      <a:r>
                        <a:rPr>
                          <a:latin typeface="Segoe UI"/>
                          <a:ea typeface="Meiryo UI"/>
                        </a:rPr>
                        <a:t>ワークフロー名</a:t>
                      </a:r>
                    </a:p>
                  </a:txBody>
                  <a:tcPr anchor="ctr">
                    <a:solidFill>
                      <a:srgbClr val="1B2A4A"/>
                    </a:solidFill>
                  </a:tcPr>
                </a:tc>
                <a:tc>
                  <a:txBody>
                    <a:bodyPr/>
                    <a:lstStyle/>
                    <a:p>
                      <a:pPr algn="ctr">
                        <a:defRPr sz="1100" b="1">
                          <a:solidFill>
                            <a:srgbClr val="FFFFFF"/>
                          </a:solidFill>
                          <a:latin typeface="Segoe UI"/>
                        </a:defRPr>
                      </a:pPr>
                      <a:r>
                        <a:rPr>
                          <a:latin typeface="Segoe UI"/>
                          <a:ea typeface="Meiryo UI"/>
                        </a:rPr>
                        <a:t>対象部門</a:t>
                      </a:r>
                    </a:p>
                  </a:txBody>
                  <a:tcPr anchor="ctr">
                    <a:solidFill>
                      <a:srgbClr val="1B2A4A"/>
                    </a:solidFill>
                  </a:tcPr>
                </a:tc>
                <a:tc>
                  <a:txBody>
                    <a:bodyPr/>
                    <a:lstStyle/>
                    <a:p>
                      <a:pPr algn="ctr">
                        <a:defRPr sz="1100" b="1">
                          <a:solidFill>
                            <a:srgbClr val="FFFFFF"/>
                          </a:solidFill>
                          <a:latin typeface="Segoe UI"/>
                        </a:defRPr>
                      </a:pPr>
                      <a:r>
                        <a:rPr>
                          <a:latin typeface="Segoe UI"/>
                          <a:ea typeface="Meiryo UI"/>
                        </a:rPr>
                        <a:t>主要パターン</a:t>
                      </a:r>
                    </a:p>
                  </a:txBody>
                  <a:tcPr anchor="ctr">
                    <a:solidFill>
                      <a:srgbClr val="1B2A4A"/>
                    </a:solidFill>
                  </a:tcPr>
                </a:tc>
                <a:tc>
                  <a:txBody>
                    <a:bodyPr/>
                    <a:lstStyle/>
                    <a:p>
                      <a:pPr algn="ctr">
                        <a:defRPr sz="1100" b="1">
                          <a:solidFill>
                            <a:srgbClr val="FFFFFF"/>
                          </a:solidFill>
                          <a:latin typeface="Segoe UI"/>
                        </a:defRPr>
                      </a:pPr>
                      <a:r>
                        <a:rPr>
                          <a:latin typeface="Segoe UI"/>
                          <a:ea typeface="Meiryo UI"/>
                        </a:rPr>
                        <a:t>ノード数</a:t>
                      </a:r>
                    </a:p>
                  </a:txBody>
                  <a:tcPr anchor="ctr">
                    <a:solidFill>
                      <a:srgbClr val="1B2A4A"/>
                    </a:solidFill>
                  </a:tcPr>
                </a:tc>
              </a:tr>
              <a:tr h="457200">
                <a:tc>
                  <a:txBody>
                    <a:bodyPr/>
                    <a:lstStyle/>
                    <a:p>
                      <a:pPr algn="ctr">
                        <a:defRPr sz="1100">
                          <a:solidFill>
                            <a:srgbClr val="1A1A2E"/>
                          </a:solidFill>
                          <a:latin typeface="Segoe UI"/>
                        </a:defRPr>
                      </a:pPr>
                      <a:r>
                        <a:rPr>
                          <a:latin typeface="Segoe UI"/>
                          <a:ea typeface="Meiryo UI"/>
                        </a:rPr>
                        <a:t>1</a:t>
                      </a:r>
                    </a:p>
                  </a:txBody>
                  <a:tcPr anchor="ctr"/>
                </a:tc>
                <a:tc>
                  <a:txBody>
                    <a:bodyPr/>
                    <a:lstStyle/>
                    <a:p>
                      <a:pPr>
                        <a:defRPr sz="1100">
                          <a:solidFill>
                            <a:srgbClr val="1A1A2E"/>
                          </a:solidFill>
                          <a:latin typeface="Segoe UI"/>
                        </a:defRPr>
                      </a:pPr>
                      <a:r>
                        <a:rPr>
                          <a:latin typeface="Segoe UI"/>
                          <a:ea typeface="Meiryo UI"/>
                        </a:rPr>
                        <a:t>コンプライアンス規程検索</a:t>
                      </a:r>
                    </a:p>
                  </a:txBody>
                  <a:tcPr anchor="ctr"/>
                </a:tc>
                <a:tc>
                  <a:txBody>
                    <a:bodyPr/>
                    <a:lstStyle/>
                    <a:p>
                      <a:pPr>
                        <a:defRPr sz="1100">
                          <a:solidFill>
                            <a:srgbClr val="1A1A2E"/>
                          </a:solidFill>
                          <a:latin typeface="Segoe UI"/>
                        </a:defRPr>
                      </a:pPr>
                      <a:r>
                        <a:rPr>
                          <a:latin typeface="Segoe UI"/>
                          <a:ea typeface="Meiryo UI"/>
                        </a:rPr>
                        <a:t>コンプライアンス部門</a:t>
                      </a:r>
                    </a:p>
                  </a:txBody>
                  <a:tcPr anchor="ctr"/>
                </a:tc>
                <a:tc>
                  <a:txBody>
                    <a:bodyPr/>
                    <a:lstStyle/>
                    <a:p>
                      <a:pPr>
                        <a:defRPr sz="1100">
                          <a:solidFill>
                            <a:srgbClr val="1A1A2E"/>
                          </a:solidFill>
                          <a:latin typeface="Segoe UI"/>
                        </a:defRPr>
                      </a:pPr>
                      <a:r>
                        <a:rPr>
                          <a:latin typeface="Segoe UI"/>
                          <a:ea typeface="Meiryo UI"/>
                        </a:rPr>
                        <a:t>RAG（ナレッジ検索 + LLM）</a:t>
                      </a:r>
                    </a:p>
                  </a:txBody>
                  <a:tcPr anchor="ctr"/>
                </a:tc>
                <a:tc>
                  <a:txBody>
                    <a:bodyPr/>
                    <a:lstStyle/>
                    <a:p>
                      <a:pPr algn="ctr">
                        <a:defRPr sz="1100">
                          <a:solidFill>
                            <a:srgbClr val="1A1A2E"/>
                          </a:solidFill>
                          <a:latin typeface="Segoe UI"/>
                        </a:defRPr>
                      </a:pPr>
                      <a:r>
                        <a:rPr>
                          <a:latin typeface="Segoe UI"/>
                          <a:ea typeface="Meiryo UI"/>
                        </a:rPr>
                        <a:t>4</a:t>
                      </a:r>
                    </a:p>
                  </a:txBody>
                  <a:tcPr anchor="ctr"/>
                </a:tc>
              </a:tr>
              <a:tr h="457200">
                <a:tc>
                  <a:txBody>
                    <a:bodyPr/>
                    <a:lstStyle/>
                    <a:p>
                      <a:pPr algn="ctr">
                        <a:defRPr sz="1100">
                          <a:solidFill>
                            <a:srgbClr val="1A1A2E"/>
                          </a:solidFill>
                          <a:latin typeface="Segoe UI"/>
                        </a:defRPr>
                      </a:pPr>
                      <a:r>
                        <a:rPr>
                          <a:latin typeface="Segoe UI"/>
                          <a:ea typeface="Meiryo UI"/>
                        </a:rPr>
                        <a:t>2</a:t>
                      </a:r>
                    </a:p>
                  </a:txBody>
                  <a:tcPr anchor="ctr">
                    <a:solidFill>
                      <a:srgbClr val="F0F4F8"/>
                    </a:solidFill>
                  </a:tcPr>
                </a:tc>
                <a:tc>
                  <a:txBody>
                    <a:bodyPr/>
                    <a:lstStyle/>
                    <a:p>
                      <a:pPr>
                        <a:defRPr sz="1100">
                          <a:solidFill>
                            <a:srgbClr val="1A1A2E"/>
                          </a:solidFill>
                          <a:latin typeface="Segoe UI"/>
                        </a:defRPr>
                      </a:pPr>
                      <a:r>
                        <a:rPr>
                          <a:latin typeface="Segoe UI"/>
                          <a:ea typeface="Meiryo UI"/>
                        </a:rPr>
                        <a:t>ローン審査 基本要件チェック</a:t>
                      </a:r>
                    </a:p>
                  </a:txBody>
                  <a:tcPr anchor="ctr">
                    <a:solidFill>
                      <a:srgbClr val="F0F4F8"/>
                    </a:solidFill>
                  </a:tcPr>
                </a:tc>
                <a:tc>
                  <a:txBody>
                    <a:bodyPr/>
                    <a:lstStyle/>
                    <a:p>
                      <a:pPr>
                        <a:defRPr sz="1100">
                          <a:solidFill>
                            <a:srgbClr val="1A1A2E"/>
                          </a:solidFill>
                          <a:latin typeface="Segoe UI"/>
                        </a:defRPr>
                      </a:pPr>
                      <a:r>
                        <a:rPr>
                          <a:latin typeface="Segoe UI"/>
                          <a:ea typeface="Meiryo UI"/>
                        </a:rPr>
                        <a:t>融資審査部門</a:t>
                      </a:r>
                    </a:p>
                  </a:txBody>
                  <a:tcPr anchor="ctr">
                    <a:solidFill>
                      <a:srgbClr val="F0F4F8"/>
                    </a:solidFill>
                  </a:tcPr>
                </a:tc>
                <a:tc>
                  <a:txBody>
                    <a:bodyPr/>
                    <a:lstStyle/>
                    <a:p>
                      <a:pPr>
                        <a:defRPr sz="1100">
                          <a:solidFill>
                            <a:srgbClr val="1A1A2E"/>
                          </a:solidFill>
                          <a:latin typeface="Segoe UI"/>
                        </a:defRPr>
                      </a:pPr>
                      <a:r>
                        <a:rPr>
                          <a:latin typeface="Segoe UI"/>
                          <a:ea typeface="Meiryo UI"/>
                        </a:rPr>
                        <a:t>PE → Code → IF/ELSE 分岐</a:t>
                      </a:r>
                    </a:p>
                  </a:txBody>
                  <a:tcPr anchor="ctr">
                    <a:solidFill>
                      <a:srgbClr val="F0F4F8"/>
                    </a:solidFill>
                  </a:tcPr>
                </a:tc>
                <a:tc>
                  <a:txBody>
                    <a:bodyPr/>
                    <a:lstStyle/>
                    <a:p>
                      <a:pPr algn="ctr">
                        <a:defRPr sz="1100">
                          <a:solidFill>
                            <a:srgbClr val="1A1A2E"/>
                          </a:solidFill>
                          <a:latin typeface="Segoe UI"/>
                        </a:defRPr>
                      </a:pPr>
                      <a:r>
                        <a:rPr>
                          <a:latin typeface="Segoe UI"/>
                          <a:ea typeface="Meiryo UI"/>
                        </a:rPr>
                        <a:t>8</a:t>
                      </a:r>
                    </a:p>
                  </a:txBody>
                  <a:tcPr anchor="ctr">
                    <a:solidFill>
                      <a:srgbClr val="F0F4F8"/>
                    </a:solidFill>
                  </a:tcPr>
                </a:tc>
              </a:tr>
              <a:tr h="457200">
                <a:tc>
                  <a:txBody>
                    <a:bodyPr/>
                    <a:lstStyle/>
                    <a:p>
                      <a:pPr algn="ctr">
                        <a:defRPr sz="1100">
                          <a:solidFill>
                            <a:srgbClr val="1A1A2E"/>
                          </a:solidFill>
                          <a:latin typeface="Segoe UI"/>
                        </a:defRPr>
                      </a:pPr>
                      <a:r>
                        <a:rPr>
                          <a:latin typeface="Segoe UI"/>
                          <a:ea typeface="Meiryo UI"/>
                        </a:rPr>
                        <a:t>3</a:t>
                      </a:r>
                    </a:p>
                  </a:txBody>
                  <a:tcPr anchor="ctr"/>
                </a:tc>
                <a:tc>
                  <a:txBody>
                    <a:bodyPr/>
                    <a:lstStyle/>
                    <a:p>
                      <a:pPr>
                        <a:defRPr sz="1100">
                          <a:solidFill>
                            <a:srgbClr val="1A1A2E"/>
                          </a:solidFill>
                          <a:latin typeface="Segoe UI"/>
                        </a:defRPr>
                      </a:pPr>
                      <a:r>
                        <a:rPr>
                          <a:latin typeface="Segoe UI"/>
                          <a:ea typeface="Meiryo UI"/>
                        </a:rPr>
                        <a:t>顧客問い合わせ対応チャット</a:t>
                      </a:r>
                    </a:p>
                  </a:txBody>
                  <a:tcPr anchor="ctr"/>
                </a:tc>
                <a:tc>
                  <a:txBody>
                    <a:bodyPr/>
                    <a:lstStyle/>
                    <a:p>
                      <a:pPr>
                        <a:defRPr sz="1100">
                          <a:solidFill>
                            <a:srgbClr val="1A1A2E"/>
                          </a:solidFill>
                          <a:latin typeface="Segoe UI"/>
                        </a:defRPr>
                      </a:pPr>
                      <a:r>
                        <a:rPr>
                          <a:latin typeface="Segoe UI"/>
                          <a:ea typeface="Meiryo UI"/>
                        </a:rPr>
                        <a:t>コールセンター / 窓口</a:t>
                      </a:r>
                    </a:p>
                  </a:txBody>
                  <a:tcPr anchor="ctr"/>
                </a:tc>
                <a:tc>
                  <a:txBody>
                    <a:bodyPr/>
                    <a:lstStyle/>
                    <a:p>
                      <a:pPr>
                        <a:defRPr sz="1100">
                          <a:solidFill>
                            <a:srgbClr val="1A1A2E"/>
                          </a:solidFill>
                          <a:latin typeface="Segoe UI"/>
                        </a:defRPr>
                      </a:pPr>
                      <a:r>
                        <a:rPr>
                          <a:latin typeface="Segoe UI"/>
                          <a:ea typeface="Meiryo UI"/>
                        </a:rPr>
                        <a:t>QC 4分岐 + KR（Chatflow）</a:t>
                      </a:r>
                    </a:p>
                  </a:txBody>
                  <a:tcPr anchor="ctr"/>
                </a:tc>
                <a:tc>
                  <a:txBody>
                    <a:bodyPr/>
                    <a:lstStyle/>
                    <a:p>
                      <a:pPr algn="ctr">
                        <a:defRPr sz="1100">
                          <a:solidFill>
                            <a:srgbClr val="1A1A2E"/>
                          </a:solidFill>
                          <a:latin typeface="Segoe UI"/>
                        </a:defRPr>
                      </a:pPr>
                      <a:r>
                        <a:rPr>
                          <a:latin typeface="Segoe UI"/>
                          <a:ea typeface="Meiryo UI"/>
                        </a:rPr>
                        <a:t>11</a:t>
                      </a:r>
                    </a:p>
                  </a:txBody>
                  <a:tcPr anchor="ctr"/>
                </a:tc>
              </a:tr>
              <a:tr h="457200">
                <a:tc>
                  <a:txBody>
                    <a:bodyPr/>
                    <a:lstStyle/>
                    <a:p>
                      <a:pPr algn="ctr">
                        <a:defRPr sz="1100">
                          <a:solidFill>
                            <a:srgbClr val="1A1A2E"/>
                          </a:solidFill>
                          <a:latin typeface="Segoe UI"/>
                        </a:defRPr>
                      </a:pPr>
                      <a:r>
                        <a:rPr>
                          <a:latin typeface="Segoe UI"/>
                          <a:ea typeface="Meiryo UI"/>
                        </a:rPr>
                        <a:t>4</a:t>
                      </a:r>
                    </a:p>
                  </a:txBody>
                  <a:tcPr anchor="ctr">
                    <a:solidFill>
                      <a:srgbClr val="F0F4F8"/>
                    </a:solidFill>
                  </a:tcPr>
                </a:tc>
                <a:tc>
                  <a:txBody>
                    <a:bodyPr/>
                    <a:lstStyle/>
                    <a:p>
                      <a:pPr>
                        <a:defRPr sz="1100">
                          <a:solidFill>
                            <a:srgbClr val="1A1A2E"/>
                          </a:solidFill>
                          <a:latin typeface="Segoe UI"/>
                        </a:defRPr>
                      </a:pPr>
                      <a:r>
                        <a:rPr>
                          <a:latin typeface="Segoe UI"/>
                          <a:ea typeface="Meiryo UI"/>
                        </a:rPr>
                        <a:t>不正取引アラート分析</a:t>
                      </a:r>
                    </a:p>
                  </a:txBody>
                  <a:tcPr anchor="ctr">
                    <a:solidFill>
                      <a:srgbClr val="F0F4F8"/>
                    </a:solidFill>
                  </a:tcPr>
                </a:tc>
                <a:tc>
                  <a:txBody>
                    <a:bodyPr/>
                    <a:lstStyle/>
                    <a:p>
                      <a:pPr>
                        <a:defRPr sz="1100">
                          <a:solidFill>
                            <a:srgbClr val="1A1A2E"/>
                          </a:solidFill>
                          <a:latin typeface="Segoe UI"/>
                        </a:defRPr>
                      </a:pPr>
                      <a:r>
                        <a:rPr>
                          <a:latin typeface="Segoe UI"/>
                          <a:ea typeface="Meiryo UI"/>
                        </a:rPr>
                        <a:t>不正検知 / コンプラ部門</a:t>
                      </a:r>
                    </a:p>
                  </a:txBody>
                  <a:tcPr anchor="ctr">
                    <a:solidFill>
                      <a:srgbClr val="F0F4F8"/>
                    </a:solidFill>
                  </a:tcPr>
                </a:tc>
                <a:tc>
                  <a:txBody>
                    <a:bodyPr/>
                    <a:lstStyle/>
                    <a:p>
                      <a:pPr>
                        <a:defRPr sz="1100">
                          <a:solidFill>
                            <a:srgbClr val="1A1A2E"/>
                          </a:solidFill>
                          <a:latin typeface="Segoe UI"/>
                        </a:defRPr>
                      </a:pPr>
                      <a:r>
                        <a:rPr>
                          <a:latin typeface="Segoe UI"/>
                          <a:ea typeface="Meiryo UI"/>
                        </a:rPr>
                        <a:t>HTTP → LLM → 構造化抽出 → IF/ELSE</a:t>
                      </a:r>
                    </a:p>
                  </a:txBody>
                  <a:tcPr anchor="ctr">
                    <a:solidFill>
                      <a:srgbClr val="F0F4F8"/>
                    </a:solidFill>
                  </a:tcPr>
                </a:tc>
                <a:tc>
                  <a:txBody>
                    <a:bodyPr/>
                    <a:lstStyle/>
                    <a:p>
                      <a:pPr algn="ctr">
                        <a:defRPr sz="1100">
                          <a:solidFill>
                            <a:srgbClr val="1A1A2E"/>
                          </a:solidFill>
                          <a:latin typeface="Segoe UI"/>
                        </a:defRPr>
                      </a:pPr>
                      <a:r>
                        <a:rPr>
                          <a:latin typeface="Segoe UI"/>
                          <a:ea typeface="Meiryo UI"/>
                        </a:rPr>
                        <a:t>12</a:t>
                      </a:r>
                    </a:p>
                  </a:txBody>
                  <a:tcPr anchor="ctr">
                    <a:solidFill>
                      <a:srgbClr val="F0F4F8"/>
                    </a:solidFill>
                  </a:tcPr>
                </a:tc>
              </a:tr>
              <a:tr h="457200">
                <a:tc>
                  <a:txBody>
                    <a:bodyPr/>
                    <a:lstStyle/>
                    <a:p>
                      <a:pPr algn="ctr">
                        <a:defRPr sz="1100">
                          <a:solidFill>
                            <a:srgbClr val="1A1A2E"/>
                          </a:solidFill>
                          <a:latin typeface="Segoe UI"/>
                        </a:defRPr>
                      </a:pPr>
                      <a:r>
                        <a:rPr>
                          <a:latin typeface="Segoe UI"/>
                          <a:ea typeface="Meiryo UI"/>
                        </a:rPr>
                        <a:t>5</a:t>
                      </a:r>
                    </a:p>
                  </a:txBody>
                  <a:tcPr anchor="ctr"/>
                </a:tc>
                <a:tc>
                  <a:txBody>
                    <a:bodyPr/>
                    <a:lstStyle/>
                    <a:p>
                      <a:pPr>
                        <a:defRPr sz="1100">
                          <a:solidFill>
                            <a:srgbClr val="1A1A2E"/>
                          </a:solidFill>
                          <a:latin typeface="Segoe UI"/>
                        </a:defRPr>
                      </a:pPr>
                      <a:r>
                        <a:rPr>
                          <a:latin typeface="Segoe UI"/>
                          <a:ea typeface="Meiryo UI"/>
                        </a:rPr>
                        <a:t>支店実績経営分析レポート</a:t>
                      </a:r>
                    </a:p>
                  </a:txBody>
                  <a:tcPr anchor="ctr"/>
                </a:tc>
                <a:tc>
                  <a:txBody>
                    <a:bodyPr/>
                    <a:lstStyle/>
                    <a:p>
                      <a:pPr>
                        <a:defRPr sz="1100">
                          <a:solidFill>
                            <a:srgbClr val="1A1A2E"/>
                          </a:solidFill>
                          <a:latin typeface="Segoe UI"/>
                        </a:defRPr>
                      </a:pPr>
                      <a:r>
                        <a:rPr>
                          <a:latin typeface="Segoe UI"/>
                          <a:ea typeface="Meiryo UI"/>
                        </a:rPr>
                        <a:t>経営企画部門</a:t>
                      </a:r>
                    </a:p>
                  </a:txBody>
                  <a:tcPr anchor="ctr"/>
                </a:tc>
                <a:tc>
                  <a:txBody>
                    <a:bodyPr/>
                    <a:lstStyle/>
                    <a:p>
                      <a:pPr>
                        <a:defRPr sz="1100">
                          <a:solidFill>
                            <a:srgbClr val="1A1A2E"/>
                          </a:solidFill>
                          <a:latin typeface="Segoe UI"/>
                        </a:defRPr>
                      </a:pPr>
                      <a:r>
                        <a:rPr>
                          <a:latin typeface="Segoe UI"/>
                          <a:ea typeface="Meiryo UI"/>
                        </a:rPr>
                        <a:t>Iteration[HTTP] → LLM</a:t>
                      </a:r>
                    </a:p>
                  </a:txBody>
                  <a:tcPr anchor="ctr"/>
                </a:tc>
                <a:tc>
                  <a:txBody>
                    <a:bodyPr/>
                    <a:lstStyle/>
                    <a:p>
                      <a:pPr algn="ctr">
                        <a:defRPr sz="1100">
                          <a:solidFill>
                            <a:srgbClr val="1A1A2E"/>
                          </a:solidFill>
                          <a:latin typeface="Segoe UI"/>
                        </a:defRPr>
                      </a:pPr>
                      <a:r>
                        <a:rPr>
                          <a:latin typeface="Segoe UI"/>
                          <a:ea typeface="Meiryo UI"/>
                        </a:rPr>
                        <a:t>7</a:t>
                      </a:r>
                    </a:p>
                  </a:txBody>
                  <a:tcPr anchor="ctr"/>
                </a:tc>
              </a:tr>
              <a:tr h="457200">
                <a:tc>
                  <a:txBody>
                    <a:bodyPr/>
                    <a:lstStyle/>
                    <a:p>
                      <a:pPr algn="ctr">
                        <a:defRPr sz="1100">
                          <a:solidFill>
                            <a:srgbClr val="1A1A2E"/>
                          </a:solidFill>
                          <a:latin typeface="Segoe UI"/>
                        </a:defRPr>
                      </a:pPr>
                      <a:r>
                        <a:rPr>
                          <a:latin typeface="Segoe UI"/>
                          <a:ea typeface="Meiryo UI"/>
                        </a:rPr>
                        <a:t>6</a:t>
                      </a:r>
                    </a:p>
                  </a:txBody>
                  <a:tcPr anchor="ctr">
                    <a:solidFill>
                      <a:srgbClr val="F0F4F8"/>
                    </a:solidFill>
                  </a:tcPr>
                </a:tc>
                <a:tc>
                  <a:txBody>
                    <a:bodyPr/>
                    <a:lstStyle/>
                    <a:p>
                      <a:pPr>
                        <a:defRPr sz="1100">
                          <a:solidFill>
                            <a:srgbClr val="1A1A2E"/>
                          </a:solidFill>
                          <a:latin typeface="Segoe UI"/>
                        </a:defRPr>
                      </a:pPr>
                      <a:r>
                        <a:rPr>
                          <a:latin typeface="Segoe UI"/>
                          <a:ea typeface="Meiryo UI"/>
                        </a:rPr>
                        <a:t>苦情・クレーム自動分類</a:t>
                      </a:r>
                    </a:p>
                  </a:txBody>
                  <a:tcPr anchor="ctr">
                    <a:solidFill>
                      <a:srgbClr val="F0F4F8"/>
                    </a:solidFill>
                  </a:tcPr>
                </a:tc>
                <a:tc>
                  <a:txBody>
                    <a:bodyPr/>
                    <a:lstStyle/>
                    <a:p>
                      <a:pPr>
                        <a:defRPr sz="1100">
                          <a:solidFill>
                            <a:srgbClr val="1A1A2E"/>
                          </a:solidFill>
                          <a:latin typeface="Segoe UI"/>
                        </a:defRPr>
                      </a:pPr>
                      <a:r>
                        <a:rPr>
                          <a:latin typeface="Segoe UI"/>
                          <a:ea typeface="Meiryo UI"/>
                        </a:rPr>
                        <a:t>顧客相談室</a:t>
                      </a:r>
                    </a:p>
                  </a:txBody>
                  <a:tcPr anchor="ctr">
                    <a:solidFill>
                      <a:srgbClr val="F0F4F8"/>
                    </a:solidFill>
                  </a:tcPr>
                </a:tc>
                <a:tc>
                  <a:txBody>
                    <a:bodyPr/>
                    <a:lstStyle/>
                    <a:p>
                      <a:pPr>
                        <a:defRPr sz="1100">
                          <a:solidFill>
                            <a:srgbClr val="1A1A2E"/>
                          </a:solidFill>
                          <a:latin typeface="Segoe UI"/>
                        </a:defRPr>
                      </a:pPr>
                      <a:r>
                        <a:rPr>
                          <a:latin typeface="Segoe UI"/>
                          <a:ea typeface="Meiryo UI"/>
                        </a:rPr>
                        <a:t>QC 5分岐 → LLM×5</a:t>
                      </a:r>
                    </a:p>
                  </a:txBody>
                  <a:tcPr anchor="ctr">
                    <a:solidFill>
                      <a:srgbClr val="F0F4F8"/>
                    </a:solidFill>
                  </a:tcPr>
                </a:tc>
                <a:tc>
                  <a:txBody>
                    <a:bodyPr/>
                    <a:lstStyle/>
                    <a:p>
                      <a:pPr algn="ctr">
                        <a:defRPr sz="1100">
                          <a:solidFill>
                            <a:srgbClr val="1A1A2E"/>
                          </a:solidFill>
                          <a:latin typeface="Segoe UI"/>
                        </a:defRPr>
                      </a:pPr>
                      <a:r>
                        <a:rPr>
                          <a:latin typeface="Segoe UI"/>
                          <a:ea typeface="Meiryo UI"/>
                        </a:rPr>
                        <a:t>9</a:t>
                      </a:r>
                    </a:p>
                  </a:txBody>
                  <a:tcPr anchor="ctr">
                    <a:solidFill>
                      <a:srgbClr val="F0F4F8"/>
                    </a:solidFill>
                  </a:tcPr>
                </a:tc>
              </a:tr>
              <a:tr h="457200">
                <a:tc>
                  <a:txBody>
                    <a:bodyPr/>
                    <a:lstStyle/>
                    <a:p>
                      <a:pPr algn="ctr">
                        <a:defRPr sz="1100">
                          <a:solidFill>
                            <a:srgbClr val="1A1A2E"/>
                          </a:solidFill>
                          <a:latin typeface="Segoe UI"/>
                        </a:defRPr>
                      </a:pPr>
                      <a:r>
                        <a:rPr>
                          <a:latin typeface="Segoe UI"/>
                          <a:ea typeface="Meiryo UI"/>
                        </a:rPr>
                        <a:t>7</a:t>
                      </a:r>
                    </a:p>
                  </a:txBody>
                  <a:tcPr anchor="ctr"/>
                </a:tc>
                <a:tc>
                  <a:txBody>
                    <a:bodyPr/>
                    <a:lstStyle/>
                    <a:p>
                      <a:pPr>
                        <a:defRPr sz="1100">
                          <a:solidFill>
                            <a:srgbClr val="1A1A2E"/>
                          </a:solidFill>
                          <a:latin typeface="Segoe UI"/>
                        </a:defRPr>
                      </a:pPr>
                      <a:r>
                        <a:rPr>
                          <a:latin typeface="Segoe UI"/>
                          <a:ea typeface="Meiryo UI"/>
                        </a:rPr>
                        <a:t>稟議書ドラフト作成支援</a:t>
                      </a:r>
                    </a:p>
                  </a:txBody>
                  <a:tcPr anchor="ctr"/>
                </a:tc>
                <a:tc>
                  <a:txBody>
                    <a:bodyPr/>
                    <a:lstStyle/>
                    <a:p>
                      <a:pPr>
                        <a:defRPr sz="1100">
                          <a:solidFill>
                            <a:srgbClr val="1A1A2E"/>
                          </a:solidFill>
                          <a:latin typeface="Segoe UI"/>
                        </a:defRPr>
                      </a:pPr>
                      <a:r>
                        <a:rPr>
                          <a:latin typeface="Segoe UI"/>
                          <a:ea typeface="Meiryo UI"/>
                        </a:rPr>
                        <a:t>融資審査 / 営業推進</a:t>
                      </a:r>
                    </a:p>
                  </a:txBody>
                  <a:tcPr anchor="ctr"/>
                </a:tc>
                <a:tc>
                  <a:txBody>
                    <a:bodyPr/>
                    <a:lstStyle/>
                    <a:p>
                      <a:pPr>
                        <a:defRPr sz="1100">
                          <a:solidFill>
                            <a:srgbClr val="1A1A2E"/>
                          </a:solidFill>
                          <a:latin typeface="Segoe UI"/>
                        </a:defRPr>
                      </a:pPr>
                      <a:r>
                        <a:rPr>
                          <a:latin typeface="Segoe UI"/>
                          <a:ea typeface="Meiryo UI"/>
                        </a:rPr>
                        <a:t>多入力 → Code → LLM</a:t>
                      </a:r>
                    </a:p>
                  </a:txBody>
                  <a:tcPr anchor="ctr"/>
                </a:tc>
                <a:tc>
                  <a:txBody>
                    <a:bodyPr/>
                    <a:lstStyle/>
                    <a:p>
                      <a:pPr algn="ctr">
                        <a:defRPr sz="1100">
                          <a:solidFill>
                            <a:srgbClr val="1A1A2E"/>
                          </a:solidFill>
                          <a:latin typeface="Segoe UI"/>
                        </a:defRPr>
                      </a:pPr>
                      <a:r>
                        <a:rPr>
                          <a:latin typeface="Segoe UI"/>
                          <a:ea typeface="Meiryo UI"/>
                        </a:rPr>
                        <a:t>4</a:t>
                      </a:r>
                    </a:p>
                  </a:txBody>
                  <a:tcPr anchor="ctr"/>
                </a:tc>
              </a:tr>
              <a:tr h="457200">
                <a:tc>
                  <a:txBody>
                    <a:bodyPr/>
                    <a:lstStyle/>
                    <a:p>
                      <a:pPr algn="ctr">
                        <a:defRPr sz="1100">
                          <a:solidFill>
                            <a:srgbClr val="1A1A2E"/>
                          </a:solidFill>
                          <a:latin typeface="Segoe UI"/>
                        </a:defRPr>
                      </a:pPr>
                      <a:r>
                        <a:rPr>
                          <a:latin typeface="Segoe UI"/>
                          <a:ea typeface="Meiryo UI"/>
                        </a:rPr>
                        <a:t>8</a:t>
                      </a:r>
                    </a:p>
                  </a:txBody>
                  <a:tcPr anchor="ctr">
                    <a:solidFill>
                      <a:srgbClr val="F0F4F8"/>
                    </a:solidFill>
                  </a:tcPr>
                </a:tc>
                <a:tc>
                  <a:txBody>
                    <a:bodyPr/>
                    <a:lstStyle/>
                    <a:p>
                      <a:pPr>
                        <a:defRPr sz="1100">
                          <a:solidFill>
                            <a:srgbClr val="1A1A2E"/>
                          </a:solidFill>
                          <a:latin typeface="Segoe UI"/>
                        </a:defRPr>
                      </a:pPr>
                      <a:r>
                        <a:rPr>
                          <a:latin typeface="Segoe UI"/>
                          <a:ea typeface="Meiryo UI"/>
                        </a:rPr>
                        <a:t>外国為替レート照会</a:t>
                      </a:r>
                    </a:p>
                  </a:txBody>
                  <a:tcPr anchor="ctr">
                    <a:solidFill>
                      <a:srgbClr val="F0F4F8"/>
                    </a:solidFill>
                  </a:tcPr>
                </a:tc>
                <a:tc>
                  <a:txBody>
                    <a:bodyPr/>
                    <a:lstStyle/>
                    <a:p>
                      <a:pPr>
                        <a:defRPr sz="1100">
                          <a:solidFill>
                            <a:srgbClr val="1A1A2E"/>
                          </a:solidFill>
                          <a:latin typeface="Segoe UI"/>
                        </a:defRPr>
                      </a:pPr>
                      <a:r>
                        <a:rPr>
                          <a:latin typeface="Segoe UI"/>
                          <a:ea typeface="Meiryo UI"/>
                        </a:rPr>
                        <a:t>外国為替窓口</a:t>
                      </a:r>
                    </a:p>
                  </a:txBody>
                  <a:tcPr anchor="ctr">
                    <a:solidFill>
                      <a:srgbClr val="F0F4F8"/>
                    </a:solidFill>
                  </a:tcPr>
                </a:tc>
                <a:tc>
                  <a:txBody>
                    <a:bodyPr/>
                    <a:lstStyle/>
                    <a:p>
                      <a:pPr>
                        <a:defRPr sz="1100">
                          <a:solidFill>
                            <a:srgbClr val="1A1A2E"/>
                          </a:solidFill>
                          <a:latin typeface="Segoe UI"/>
                        </a:defRPr>
                      </a:pPr>
                      <a:r>
                        <a:rPr>
                          <a:latin typeface="Segoe UI"/>
                          <a:ea typeface="Meiryo UI"/>
                        </a:rPr>
                        <a:t>Code → HTTP API → LLM</a:t>
                      </a:r>
                    </a:p>
                  </a:txBody>
                  <a:tcPr anchor="ctr">
                    <a:solidFill>
                      <a:srgbClr val="F0F4F8"/>
                    </a:solidFill>
                  </a:tcPr>
                </a:tc>
                <a:tc>
                  <a:txBody>
                    <a:bodyPr/>
                    <a:lstStyle/>
                    <a:p>
                      <a:pPr algn="ctr">
                        <a:defRPr sz="1100">
                          <a:solidFill>
                            <a:srgbClr val="1A1A2E"/>
                          </a:solidFill>
                          <a:latin typeface="Segoe UI"/>
                        </a:defRPr>
                      </a:pPr>
                      <a:r>
                        <a:rPr>
                          <a:latin typeface="Segoe UI"/>
                          <a:ea typeface="Meiryo UI"/>
                        </a:rPr>
                        <a:t>6</a:t>
                      </a:r>
                    </a:p>
                  </a:txBody>
                  <a:tcPr anchor="ctr">
                    <a:solidFill>
                      <a:srgbClr val="F0F4F8"/>
                    </a:solidFill>
                  </a:tcPr>
                </a:tc>
              </a:tr>
              <a:tr h="457200">
                <a:tc>
                  <a:txBody>
                    <a:bodyPr/>
                    <a:lstStyle/>
                    <a:p>
                      <a:pPr algn="ctr">
                        <a:defRPr sz="1100">
                          <a:solidFill>
                            <a:srgbClr val="1A1A2E"/>
                          </a:solidFill>
                          <a:latin typeface="Segoe UI"/>
                        </a:defRPr>
                      </a:pPr>
                      <a:r>
                        <a:rPr>
                          <a:latin typeface="Segoe UI"/>
                          <a:ea typeface="Meiryo UI"/>
                        </a:rPr>
                        <a:t>9</a:t>
                      </a:r>
                    </a:p>
                  </a:txBody>
                  <a:tcPr anchor="ctr"/>
                </a:tc>
                <a:tc>
                  <a:txBody>
                    <a:bodyPr/>
                    <a:lstStyle/>
                    <a:p>
                      <a:pPr>
                        <a:defRPr sz="1100">
                          <a:solidFill>
                            <a:srgbClr val="1A1A2E"/>
                          </a:solidFill>
                          <a:latin typeface="Segoe UI"/>
                        </a:defRPr>
                      </a:pPr>
                      <a:r>
                        <a:rPr>
                          <a:latin typeface="Segoe UI"/>
                          <a:ea typeface="Meiryo UI"/>
                        </a:rPr>
                        <a:t>疑わしい取引届出書ドラフト</a:t>
                      </a:r>
                    </a:p>
                  </a:txBody>
                  <a:tcPr anchor="ctr"/>
                </a:tc>
                <a:tc>
                  <a:txBody>
                    <a:bodyPr/>
                    <a:lstStyle/>
                    <a:p>
                      <a:pPr>
                        <a:defRPr sz="1100">
                          <a:solidFill>
                            <a:srgbClr val="1A1A2E"/>
                          </a:solidFill>
                          <a:latin typeface="Segoe UI"/>
                        </a:defRPr>
                      </a:pPr>
                      <a:r>
                        <a:rPr>
                          <a:latin typeface="Segoe UI"/>
                          <a:ea typeface="Meiryo UI"/>
                        </a:rPr>
                        <a:t>AML/CFT 担当</a:t>
                      </a:r>
                    </a:p>
                  </a:txBody>
                  <a:tcPr anchor="ctr"/>
                </a:tc>
                <a:tc>
                  <a:txBody>
                    <a:bodyPr/>
                    <a:lstStyle/>
                    <a:p>
                      <a:pPr>
                        <a:defRPr sz="1100">
                          <a:solidFill>
                            <a:srgbClr val="1A1A2E"/>
                          </a:solidFill>
                          <a:latin typeface="Segoe UI"/>
                        </a:defRPr>
                      </a:pPr>
                      <a:r>
                        <a:rPr>
                          <a:latin typeface="Segoe UI"/>
                          <a:ea typeface="Meiryo UI"/>
                        </a:rPr>
                        <a:t>PE → Code → LLM → Template</a:t>
                      </a:r>
                    </a:p>
                  </a:txBody>
                  <a:tcPr anchor="ctr"/>
                </a:tc>
                <a:tc>
                  <a:txBody>
                    <a:bodyPr/>
                    <a:lstStyle/>
                    <a:p>
                      <a:pPr algn="ctr">
                        <a:defRPr sz="1100">
                          <a:solidFill>
                            <a:srgbClr val="1A1A2E"/>
                          </a:solidFill>
                          <a:latin typeface="Segoe UI"/>
                        </a:defRPr>
                      </a:pPr>
                      <a:r>
                        <a:rPr>
                          <a:latin typeface="Segoe UI"/>
                          <a:ea typeface="Meiryo UI"/>
                        </a:rPr>
                        <a:t>6</a:t>
                      </a:r>
                    </a:p>
                  </a:txBody>
                  <a:tcPr anchor="ctr"/>
                </a:tc>
              </a:tr>
              <a:tr h="457200">
                <a:tc>
                  <a:txBody>
                    <a:bodyPr/>
                    <a:lstStyle/>
                    <a:p>
                      <a:pPr algn="ctr">
                        <a:defRPr sz="1100">
                          <a:solidFill>
                            <a:srgbClr val="1A1A2E"/>
                          </a:solidFill>
                          <a:latin typeface="Segoe UI"/>
                        </a:defRPr>
                      </a:pPr>
                      <a:r>
                        <a:rPr>
                          <a:latin typeface="Segoe UI"/>
                          <a:ea typeface="Meiryo UI"/>
                        </a:rPr>
                        <a:t>10</a:t>
                      </a:r>
                    </a:p>
                  </a:txBody>
                  <a:tcPr anchor="ctr">
                    <a:solidFill>
                      <a:srgbClr val="F0F4F8"/>
                    </a:solidFill>
                  </a:tcPr>
                </a:tc>
                <a:tc>
                  <a:txBody>
                    <a:bodyPr/>
                    <a:lstStyle/>
                    <a:p>
                      <a:pPr>
                        <a:defRPr sz="1100">
                          <a:solidFill>
                            <a:srgbClr val="1A1A2E"/>
                          </a:solidFill>
                          <a:latin typeface="Segoe UI"/>
                        </a:defRPr>
                      </a:pPr>
                      <a:r>
                        <a:rPr>
                          <a:latin typeface="Segoe UI"/>
                          <a:ea typeface="Meiryo UI"/>
                        </a:rPr>
                        <a:t>金融商品比較レポート</a:t>
                      </a:r>
                    </a:p>
                  </a:txBody>
                  <a:tcPr anchor="ctr">
                    <a:solidFill>
                      <a:srgbClr val="F0F4F8"/>
                    </a:solidFill>
                  </a:tcPr>
                </a:tc>
                <a:tc>
                  <a:txBody>
                    <a:bodyPr/>
                    <a:lstStyle/>
                    <a:p>
                      <a:pPr>
                        <a:defRPr sz="1100">
                          <a:solidFill>
                            <a:srgbClr val="1A1A2E"/>
                          </a:solidFill>
                          <a:latin typeface="Segoe UI"/>
                        </a:defRPr>
                      </a:pPr>
                      <a:r>
                        <a:rPr>
                          <a:latin typeface="Segoe UI"/>
                          <a:ea typeface="Meiryo UI"/>
                        </a:rPr>
                        <a:t>商品企画 / 営業推進</a:t>
                      </a:r>
                    </a:p>
                  </a:txBody>
                  <a:tcPr anchor="ctr">
                    <a:solidFill>
                      <a:srgbClr val="F0F4F8"/>
                    </a:solidFill>
                  </a:tcPr>
                </a:tc>
                <a:tc>
                  <a:txBody>
                    <a:bodyPr/>
                    <a:lstStyle/>
                    <a:p>
                      <a:pPr>
                        <a:defRPr sz="1100">
                          <a:solidFill>
                            <a:srgbClr val="1A1A2E"/>
                          </a:solidFill>
                          <a:latin typeface="Segoe UI"/>
                        </a:defRPr>
                      </a:pPr>
                      <a:r>
                        <a:rPr>
                          <a:latin typeface="Segoe UI"/>
                          <a:ea typeface="Meiryo UI"/>
                        </a:rPr>
                        <a:t>Iteration[LLM] → LLM</a:t>
                      </a:r>
                    </a:p>
                  </a:txBody>
                  <a:tcPr anchor="ctr">
                    <a:solidFill>
                      <a:srgbClr val="F0F4F8"/>
                    </a:solidFill>
                  </a:tcPr>
                </a:tc>
                <a:tc>
                  <a:txBody>
                    <a:bodyPr/>
                    <a:lstStyle/>
                    <a:p>
                      <a:pPr algn="ctr">
                        <a:defRPr sz="1100">
                          <a:solidFill>
                            <a:srgbClr val="1A1A2E"/>
                          </a:solidFill>
                          <a:latin typeface="Segoe UI"/>
                        </a:defRPr>
                      </a:pPr>
                      <a:r>
                        <a:rPr>
                          <a:latin typeface="Segoe UI"/>
                          <a:ea typeface="Meiryo UI"/>
                        </a:rPr>
                        <a:t>7</a:t>
                      </a:r>
                    </a:p>
                  </a:txBody>
                  <a:tcPr anchor="ctr">
                    <a:solidFill>
                      <a:srgbClr val="F0F4F8"/>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600" b="1">
                <a:solidFill>
                  <a:srgbClr val="FFFFFF"/>
                </a:solidFill>
                <a:latin typeface="Segoe UI"/>
              </a:defRPr>
            </a:pPr>
            <a:r>
              <a:rPr>
                <a:latin typeface="Segoe UI"/>
                <a:ea typeface="Meiryo UI"/>
              </a:rPr>
              <a:t>設計思想  ─  銀行業固有の要件への対応</a:t>
            </a:r>
          </a:p>
        </p:txBody>
      </p:sp>
      <p:sp>
        <p:nvSpPr>
          <p:cNvPr id="4" name="Rectangle 3"/>
          <p:cNvSpPr/>
          <p:nvPr/>
        </p:nvSpPr>
        <p:spPr>
          <a:xfrm>
            <a:off x="548640" y="1280160"/>
            <a:ext cx="63500" cy="2011680"/>
          </a:xfrm>
          <a:prstGeom prst="rect">
            <a:avLst/>
          </a:prstGeom>
          <a:solidFill>
            <a:srgbClr val="006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75640" y="1280160"/>
            <a:ext cx="3291840" cy="2011680"/>
          </a:xfrm>
          <a:prstGeom prst="roundRect">
            <a:avLst/>
          </a:prstGeom>
          <a:solidFill>
            <a:srgbClr val="F0F4F8"/>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17320"/>
            <a:ext cx="3017520" cy="365760"/>
          </a:xfrm>
          <a:prstGeom prst="rect">
            <a:avLst/>
          </a:prstGeom>
          <a:noFill/>
        </p:spPr>
        <p:txBody>
          <a:bodyPr wrap="square">
            <a:spAutoFit/>
          </a:bodyPr>
          <a:lstStyle/>
          <a:p>
            <a:pPr algn="l">
              <a:defRPr sz="1600" b="1">
                <a:solidFill>
                  <a:srgbClr val="006EBF"/>
                </a:solidFill>
                <a:latin typeface="Segoe UI"/>
              </a:defRPr>
            </a:pPr>
            <a:r>
              <a:rPr>
                <a:latin typeface="Segoe UI"/>
                <a:ea typeface="Meiryo UI"/>
              </a:rPr>
              <a:t>個人情報保護</a:t>
            </a:r>
          </a:p>
        </p:txBody>
      </p:sp>
      <p:sp>
        <p:nvSpPr>
          <p:cNvPr id="7" name="TextBox 6"/>
          <p:cNvSpPr txBox="1"/>
          <p:nvPr/>
        </p:nvSpPr>
        <p:spPr>
          <a:xfrm>
            <a:off x="731520" y="1874520"/>
            <a:ext cx="3017520" cy="128016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全 LLM プロンプトに個人情報の生成・推測禁止を明記。</a:t>
            </a:r>
            <a:br/>
            <a:r>
              <a:rPr>
                <a:latin typeface="Segoe UI"/>
                <a:ea typeface="Meiryo UI"/>
              </a:rPr>
              <a:t>入出力に不適切な語句フィルタ（sensitive_word_avoidance）を設定。</a:t>
            </a:r>
          </a:p>
        </p:txBody>
      </p:sp>
      <p:sp>
        <p:nvSpPr>
          <p:cNvPr id="8" name="Rectangle 7"/>
          <p:cNvSpPr/>
          <p:nvPr/>
        </p:nvSpPr>
        <p:spPr>
          <a:xfrm>
            <a:off x="4297679" y="1280160"/>
            <a:ext cx="63500" cy="2011680"/>
          </a:xfrm>
          <a:prstGeom prst="rect">
            <a:avLst/>
          </a:prstGeom>
          <a:solidFill>
            <a:srgbClr val="008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24679" y="1280160"/>
            <a:ext cx="3291840" cy="2011680"/>
          </a:xfrm>
          <a:prstGeom prst="roundRect">
            <a:avLst/>
          </a:prstGeom>
          <a:solidFill>
            <a:srgbClr val="F0F4F8"/>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59" y="1417320"/>
            <a:ext cx="3017520" cy="365760"/>
          </a:xfrm>
          <a:prstGeom prst="rect">
            <a:avLst/>
          </a:prstGeom>
          <a:noFill/>
        </p:spPr>
        <p:txBody>
          <a:bodyPr wrap="square">
            <a:spAutoFit/>
          </a:bodyPr>
          <a:lstStyle/>
          <a:p>
            <a:pPr algn="l">
              <a:defRPr sz="1600" b="1">
                <a:solidFill>
                  <a:srgbClr val="008A5E"/>
                </a:solidFill>
                <a:latin typeface="Segoe UI"/>
              </a:defRPr>
            </a:pPr>
            <a:r>
              <a:rPr>
                <a:latin typeface="Segoe UI"/>
                <a:ea typeface="Meiryo UI"/>
              </a:rPr>
              <a:t>安全側判定</a:t>
            </a:r>
          </a:p>
        </p:txBody>
      </p:sp>
      <p:sp>
        <p:nvSpPr>
          <p:cNvPr id="11" name="TextBox 10"/>
          <p:cNvSpPr txBox="1"/>
          <p:nvPr/>
        </p:nvSpPr>
        <p:spPr>
          <a:xfrm>
            <a:off x="4480559" y="1874520"/>
            <a:ext cx="3017520" cy="128016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不正検知・融資審査において、疑わしい場合は</a:t>
            </a:r>
            <a:br/>
            <a:r>
              <a:rPr>
                <a:latin typeface="Segoe UI"/>
                <a:ea typeface="Meiryo UI"/>
              </a:rPr>
              <a:t>厳格側に判定する設計。見逃しリスクを最小化。</a:t>
            </a:r>
          </a:p>
        </p:txBody>
      </p:sp>
      <p:sp>
        <p:nvSpPr>
          <p:cNvPr id="12" name="Rectangle 11"/>
          <p:cNvSpPr/>
          <p:nvPr/>
        </p:nvSpPr>
        <p:spPr>
          <a:xfrm>
            <a:off x="8046719" y="1280160"/>
            <a:ext cx="63500" cy="2011680"/>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73719" y="1280160"/>
            <a:ext cx="3291840" cy="2011680"/>
          </a:xfrm>
          <a:prstGeom prst="roundRect">
            <a:avLst/>
          </a:prstGeom>
          <a:solidFill>
            <a:srgbClr val="F0F4F8"/>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9" y="1417320"/>
            <a:ext cx="3017520" cy="365760"/>
          </a:xfrm>
          <a:prstGeom prst="rect">
            <a:avLst/>
          </a:prstGeom>
          <a:noFill/>
        </p:spPr>
        <p:txBody>
          <a:bodyPr wrap="square">
            <a:spAutoFit/>
          </a:bodyPr>
          <a:lstStyle/>
          <a:p>
            <a:pPr algn="l">
              <a:defRPr sz="1600" b="1">
                <a:solidFill>
                  <a:srgbClr val="E86C00"/>
                </a:solidFill>
                <a:latin typeface="Segoe UI"/>
              </a:defRPr>
            </a:pPr>
            <a:r>
              <a:rPr>
                <a:latin typeface="Segoe UI"/>
                <a:ea typeface="Meiryo UI"/>
              </a:rPr>
              <a:t>エスカレーション設計</a:t>
            </a:r>
          </a:p>
        </p:txBody>
      </p:sp>
      <p:sp>
        <p:nvSpPr>
          <p:cNvPr id="15" name="TextBox 14"/>
          <p:cNvSpPr txBox="1"/>
          <p:nvPr/>
        </p:nvSpPr>
        <p:spPr>
          <a:xfrm>
            <a:off x="8229599" y="1874520"/>
            <a:ext cx="3017520" cy="128016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AI 判定で完結させず、HIGH リスクや高額取引は</a:t>
            </a:r>
            <a:br/>
            <a:r>
              <a:rPr>
                <a:latin typeface="Segoe UI"/>
                <a:ea typeface="Meiryo UI"/>
              </a:rPr>
              <a:t>必ず人間の専門家にエスカレーションする仕組み。</a:t>
            </a:r>
          </a:p>
        </p:txBody>
      </p:sp>
      <p:sp>
        <p:nvSpPr>
          <p:cNvPr id="16" name="Rectangle 15"/>
          <p:cNvSpPr/>
          <p:nvPr/>
        </p:nvSpPr>
        <p:spPr>
          <a:xfrm>
            <a:off x="548640" y="3931920"/>
            <a:ext cx="63500" cy="201168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75640" y="3931920"/>
            <a:ext cx="3291840" cy="2011680"/>
          </a:xfrm>
          <a:prstGeom prst="roundRect">
            <a:avLst/>
          </a:prstGeom>
          <a:solidFill>
            <a:srgbClr val="F0F4F8"/>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069080"/>
            <a:ext cx="3017520" cy="365760"/>
          </a:xfrm>
          <a:prstGeom prst="rect">
            <a:avLst/>
          </a:prstGeom>
          <a:noFill/>
        </p:spPr>
        <p:txBody>
          <a:bodyPr wrap="square">
            <a:spAutoFit/>
          </a:bodyPr>
          <a:lstStyle/>
          <a:p>
            <a:pPr algn="l">
              <a:defRPr sz="1600" b="1">
                <a:solidFill>
                  <a:srgbClr val="1B2A4A"/>
                </a:solidFill>
                <a:latin typeface="Segoe UI"/>
              </a:defRPr>
            </a:pPr>
            <a:r>
              <a:rPr>
                <a:latin typeface="Segoe UI"/>
                <a:ea typeface="Meiryo UI"/>
              </a:rPr>
              <a:t>監査証跡</a:t>
            </a:r>
          </a:p>
        </p:txBody>
      </p:sp>
      <p:sp>
        <p:nvSpPr>
          <p:cNvPr id="19" name="TextBox 18"/>
          <p:cNvSpPr txBox="1"/>
          <p:nvPr/>
        </p:nvSpPr>
        <p:spPr>
          <a:xfrm>
            <a:off x="731520" y="4526280"/>
            <a:ext cx="3017520" cy="128016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全ワークフローの End/Answer ノードで結果を出力。</a:t>
            </a:r>
            <a:br/>
            <a:r>
              <a:rPr>
                <a:latin typeface="Segoe UI"/>
                <a:ea typeface="Meiryo UI"/>
              </a:rPr>
              <a:t>後続の記録・監査システムへの連携を考慮。</a:t>
            </a:r>
          </a:p>
        </p:txBody>
      </p:sp>
      <p:sp>
        <p:nvSpPr>
          <p:cNvPr id="20" name="Rectangle 19"/>
          <p:cNvSpPr/>
          <p:nvPr/>
        </p:nvSpPr>
        <p:spPr>
          <a:xfrm>
            <a:off x="4297679" y="3931920"/>
            <a:ext cx="63500" cy="201168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424679" y="3931920"/>
            <a:ext cx="3291840" cy="2011680"/>
          </a:xfrm>
          <a:prstGeom prst="roundRect">
            <a:avLst/>
          </a:prstGeom>
          <a:solidFill>
            <a:srgbClr val="F0F4F8"/>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0559" y="4069080"/>
            <a:ext cx="3017520" cy="365760"/>
          </a:xfrm>
          <a:prstGeom prst="rect">
            <a:avLst/>
          </a:prstGeom>
          <a:noFill/>
        </p:spPr>
        <p:txBody>
          <a:bodyPr wrap="square">
            <a:spAutoFit/>
          </a:bodyPr>
          <a:lstStyle/>
          <a:p>
            <a:pPr algn="l">
              <a:defRPr sz="1600" b="1">
                <a:solidFill>
                  <a:srgbClr val="C62828"/>
                </a:solidFill>
                <a:latin typeface="Segoe UI"/>
              </a:defRPr>
            </a:pPr>
            <a:r>
              <a:rPr>
                <a:latin typeface="Segoe UI"/>
                <a:ea typeface="Meiryo UI"/>
              </a:rPr>
              <a:t>コンプライアンス</a:t>
            </a:r>
          </a:p>
        </p:txBody>
      </p:sp>
      <p:sp>
        <p:nvSpPr>
          <p:cNvPr id="23" name="TextBox 22"/>
          <p:cNvSpPr txBox="1"/>
          <p:nvPr/>
        </p:nvSpPr>
        <p:spPr>
          <a:xfrm>
            <a:off x="4480559" y="4526280"/>
            <a:ext cx="3017520" cy="128016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法令解釈は「参考情報」として提示し、</a:t>
            </a:r>
            <a:br/>
            <a:r>
              <a:rPr>
                <a:latin typeface="Segoe UI"/>
                <a:ea typeface="Meiryo UI"/>
              </a:rPr>
              <a:t>最終判断は必ず専門部署への確認を促す。</a:t>
            </a:r>
          </a:p>
        </p:txBody>
      </p:sp>
      <p:sp>
        <p:nvSpPr>
          <p:cNvPr id="24" name="Rectangle 23"/>
          <p:cNvSpPr/>
          <p:nvPr/>
        </p:nvSpPr>
        <p:spPr>
          <a:xfrm>
            <a:off x="8046719" y="3931920"/>
            <a:ext cx="63500" cy="201168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173719" y="3931920"/>
            <a:ext cx="3291840" cy="2011680"/>
          </a:xfrm>
          <a:prstGeom prst="roundRect">
            <a:avLst/>
          </a:prstGeom>
          <a:solidFill>
            <a:srgbClr val="F0F4F8"/>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9" y="4069080"/>
            <a:ext cx="3017520" cy="365760"/>
          </a:xfrm>
          <a:prstGeom prst="rect">
            <a:avLst/>
          </a:prstGeom>
          <a:noFill/>
        </p:spPr>
        <p:txBody>
          <a:bodyPr wrap="square">
            <a:spAutoFit/>
          </a:bodyPr>
          <a:lstStyle/>
          <a:p>
            <a:pPr algn="l">
              <a:defRPr sz="1600" b="1">
                <a:solidFill>
                  <a:srgbClr val="6A1B9A"/>
                </a:solidFill>
                <a:latin typeface="Segoe UI"/>
              </a:defRPr>
            </a:pPr>
            <a:r>
              <a:rPr>
                <a:latin typeface="Segoe UI"/>
                <a:ea typeface="Meiryo UI"/>
              </a:rPr>
              <a:t>適合性原則</a:t>
            </a:r>
          </a:p>
        </p:txBody>
      </p:sp>
      <p:sp>
        <p:nvSpPr>
          <p:cNvPr id="27" name="TextBox 26"/>
          <p:cNvSpPr txBox="1"/>
          <p:nvPr/>
        </p:nvSpPr>
        <p:spPr>
          <a:xfrm>
            <a:off x="8229599" y="4526280"/>
            <a:ext cx="3017520" cy="128016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金融商品推奨ではリスク説明義務に言及。</a:t>
            </a:r>
            <a:br/>
            <a:r>
              <a:rPr>
                <a:latin typeface="Segoe UI"/>
                <a:ea typeface="Meiryo UI"/>
              </a:rPr>
              <a:t>顧客属性・リスク許容度を考慮した提言を生成。</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600" b="1">
                <a:solidFill>
                  <a:srgbClr val="FFFFFF"/>
                </a:solidFill>
                <a:latin typeface="Segoe UI"/>
              </a:defRPr>
            </a:pPr>
            <a:r>
              <a:rPr>
                <a:latin typeface="Segoe UI"/>
                <a:ea typeface="Meiryo UI"/>
              </a:rPr>
              <a:t>詳細 ①  コンプライアンス・リスク管理</a:t>
            </a:r>
          </a:p>
        </p:txBody>
      </p:sp>
      <p:sp>
        <p:nvSpPr>
          <p:cNvPr id="4" name="Rounded Rectangle 3"/>
          <p:cNvSpPr/>
          <p:nvPr/>
        </p:nvSpPr>
        <p:spPr>
          <a:xfrm>
            <a:off x="457200" y="1188720"/>
            <a:ext cx="3520440" cy="5120640"/>
          </a:xfrm>
          <a:prstGeom prst="roundRect">
            <a:avLst/>
          </a:prstGeom>
          <a:solidFill>
            <a:srgbClr val="F0F4F8"/>
          </a:solidFill>
          <a:ln w="1270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188720"/>
            <a:ext cx="3520440" cy="63500"/>
          </a:xfrm>
          <a:prstGeom prst="rect">
            <a:avLst/>
          </a:prstGeom>
          <a:solidFill>
            <a:srgbClr val="006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25880"/>
            <a:ext cx="3154680" cy="457200"/>
          </a:xfrm>
          <a:prstGeom prst="rect">
            <a:avLst/>
          </a:prstGeom>
          <a:noFill/>
        </p:spPr>
        <p:txBody>
          <a:bodyPr wrap="square">
            <a:spAutoFit/>
          </a:bodyPr>
          <a:lstStyle/>
          <a:p>
            <a:pPr algn="l">
              <a:defRPr sz="1300" b="1">
                <a:solidFill>
                  <a:srgbClr val="1A1A2E"/>
                </a:solidFill>
                <a:latin typeface="Segoe UI"/>
              </a:defRPr>
            </a:pPr>
            <a:r>
              <a:rPr>
                <a:latin typeface="Segoe UI"/>
                <a:ea typeface="Meiryo UI"/>
              </a:rPr>
              <a:t>BNK-01  コンプライアンス規程検索</a:t>
            </a:r>
          </a:p>
        </p:txBody>
      </p:sp>
      <p:sp>
        <p:nvSpPr>
          <p:cNvPr id="7" name="TextBox 6"/>
          <p:cNvSpPr txBox="1"/>
          <p:nvPr/>
        </p:nvSpPr>
        <p:spPr>
          <a:xfrm>
            <a:off x="640080" y="1691640"/>
            <a:ext cx="3154680" cy="274320"/>
          </a:xfrm>
          <a:prstGeom prst="rect">
            <a:avLst/>
          </a:prstGeom>
          <a:noFill/>
        </p:spPr>
        <p:txBody>
          <a:bodyPr wrap="square">
            <a:spAutoFit/>
          </a:bodyPr>
          <a:lstStyle/>
          <a:p>
            <a:pPr algn="l">
              <a:defRPr sz="1000" b="0">
                <a:solidFill>
                  <a:srgbClr val="4A5A6A"/>
                </a:solidFill>
                <a:latin typeface="Segoe UI"/>
              </a:defRPr>
            </a:pPr>
            <a:r>
              <a:rPr>
                <a:latin typeface="Segoe UI"/>
                <a:ea typeface="Meiryo UI"/>
              </a:rPr>
              <a:t>コンプライアンス部門・全行員</a:t>
            </a:r>
          </a:p>
        </p:txBody>
      </p:sp>
      <p:sp>
        <p:nvSpPr>
          <p:cNvPr id="8" name="Rectangle 7"/>
          <p:cNvSpPr/>
          <p:nvPr/>
        </p:nvSpPr>
        <p:spPr>
          <a:xfrm>
            <a:off x="640080" y="2011680"/>
            <a:ext cx="3154680" cy="12700"/>
          </a:xfrm>
          <a:prstGeom prst="rect">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103120"/>
            <a:ext cx="3154680" cy="228600"/>
          </a:xfrm>
          <a:prstGeom prst="rect">
            <a:avLst/>
          </a:prstGeom>
          <a:noFill/>
        </p:spPr>
        <p:txBody>
          <a:bodyPr wrap="square">
            <a:spAutoFit/>
          </a:bodyPr>
          <a:lstStyle/>
          <a:p>
            <a:pPr algn="l">
              <a:defRPr sz="900" b="1">
                <a:solidFill>
                  <a:srgbClr val="006EBF"/>
                </a:solidFill>
                <a:latin typeface="Segoe UI"/>
              </a:defRPr>
            </a:pPr>
            <a:r>
              <a:rPr>
                <a:latin typeface="Segoe UI"/>
                <a:ea typeface="Meiryo UI"/>
              </a:rPr>
              <a:t>フロー</a:t>
            </a:r>
          </a:p>
        </p:txBody>
      </p:sp>
      <p:sp>
        <p:nvSpPr>
          <p:cNvPr id="10" name="TextBox 9"/>
          <p:cNvSpPr txBox="1"/>
          <p:nvPr/>
        </p:nvSpPr>
        <p:spPr>
          <a:xfrm>
            <a:off x="640080" y="2331720"/>
            <a:ext cx="3154680" cy="822960"/>
          </a:xfrm>
          <a:prstGeom prst="rect">
            <a:avLst/>
          </a:prstGeom>
          <a:noFill/>
        </p:spPr>
        <p:txBody>
          <a:bodyPr wrap="square">
            <a:spAutoFit/>
          </a:bodyPr>
          <a:lstStyle/>
          <a:p>
            <a:pPr algn="l">
              <a:defRPr sz="1000" b="0">
                <a:solidFill>
                  <a:srgbClr val="1A1A2E"/>
                </a:solidFill>
                <a:latin typeface="Segoe UI"/>
              </a:defRPr>
            </a:pPr>
            <a:r>
              <a:rPr>
                <a:latin typeface="Segoe UI"/>
                <a:ea typeface="Meiryo UI"/>
              </a:rPr>
              <a:t>開始 → ナレッジ検索 → LLM回答生成 → 終了</a:t>
            </a:r>
          </a:p>
        </p:txBody>
      </p:sp>
      <p:sp>
        <p:nvSpPr>
          <p:cNvPr id="11" name="TextBox 10"/>
          <p:cNvSpPr txBox="1"/>
          <p:nvPr/>
        </p:nvSpPr>
        <p:spPr>
          <a:xfrm>
            <a:off x="640080" y="3291840"/>
            <a:ext cx="3154680" cy="228600"/>
          </a:xfrm>
          <a:prstGeom prst="rect">
            <a:avLst/>
          </a:prstGeom>
          <a:noFill/>
        </p:spPr>
        <p:txBody>
          <a:bodyPr wrap="square">
            <a:spAutoFit/>
          </a:bodyPr>
          <a:lstStyle/>
          <a:p>
            <a:pPr algn="l">
              <a:defRPr sz="900" b="1">
                <a:solidFill>
                  <a:srgbClr val="006EBF"/>
                </a:solidFill>
                <a:latin typeface="Segoe UI"/>
              </a:defRPr>
            </a:pPr>
            <a:r>
              <a:rPr>
                <a:latin typeface="Segoe UI"/>
                <a:ea typeface="Meiryo UI"/>
              </a:rPr>
              <a:t>概要</a:t>
            </a:r>
          </a:p>
        </p:txBody>
      </p:sp>
      <p:sp>
        <p:nvSpPr>
          <p:cNvPr id="12" name="TextBox 11"/>
          <p:cNvSpPr txBox="1"/>
          <p:nvPr/>
        </p:nvSpPr>
        <p:spPr>
          <a:xfrm>
            <a:off x="640080" y="3520440"/>
            <a:ext cx="3154680" cy="1371600"/>
          </a:xfrm>
          <a:prstGeom prst="rect">
            <a:avLst/>
          </a:prstGeom>
          <a:noFill/>
        </p:spPr>
        <p:txBody>
          <a:bodyPr wrap="square">
            <a:spAutoFit/>
          </a:bodyPr>
          <a:lstStyle/>
          <a:p>
            <a:pPr algn="l">
              <a:defRPr sz="1000" b="0">
                <a:solidFill>
                  <a:srgbClr val="1A1A2E"/>
                </a:solidFill>
                <a:latin typeface="Segoe UI"/>
              </a:defRPr>
            </a:pPr>
            <a:r>
              <a:rPr>
                <a:latin typeface="Segoe UI"/>
                <a:ea typeface="Meiryo UI"/>
              </a:rPr>
              <a:t>融資規程、AML規程、銀行法等をナレッジベースから検索し、規程名・条項番号を明示して回答。</a:t>
            </a:r>
          </a:p>
        </p:txBody>
      </p:sp>
      <p:sp>
        <p:nvSpPr>
          <p:cNvPr id="13" name="Rounded Rectangle 12"/>
          <p:cNvSpPr/>
          <p:nvPr/>
        </p:nvSpPr>
        <p:spPr>
          <a:xfrm>
            <a:off x="640080" y="5029200"/>
            <a:ext cx="3154680" cy="9144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074920"/>
            <a:ext cx="2971800" cy="228600"/>
          </a:xfrm>
          <a:prstGeom prst="rect">
            <a:avLst/>
          </a:prstGeom>
          <a:noFill/>
        </p:spPr>
        <p:txBody>
          <a:bodyPr wrap="square">
            <a:spAutoFit/>
          </a:bodyPr>
          <a:lstStyle/>
          <a:p>
            <a:pPr algn="l">
              <a:defRPr sz="900" b="1">
                <a:solidFill>
                  <a:srgbClr val="008A5E"/>
                </a:solidFill>
                <a:latin typeface="Segoe UI"/>
              </a:defRPr>
            </a:pPr>
            <a:r>
              <a:rPr>
                <a:latin typeface="Segoe UI"/>
                <a:ea typeface="Meiryo UI"/>
              </a:rPr>
              <a:t>導入効果</a:t>
            </a:r>
          </a:p>
        </p:txBody>
      </p:sp>
      <p:sp>
        <p:nvSpPr>
          <p:cNvPr id="15" name="TextBox 14"/>
          <p:cNvSpPr txBox="1"/>
          <p:nvPr/>
        </p:nvSpPr>
        <p:spPr>
          <a:xfrm>
            <a:off x="731520" y="5303520"/>
            <a:ext cx="2971800" cy="548640"/>
          </a:xfrm>
          <a:prstGeom prst="rect">
            <a:avLst/>
          </a:prstGeom>
          <a:noFill/>
        </p:spPr>
        <p:txBody>
          <a:bodyPr wrap="square">
            <a:spAutoFit/>
          </a:bodyPr>
          <a:lstStyle/>
          <a:p>
            <a:pPr algn="l">
              <a:defRPr sz="1000" b="1">
                <a:solidFill>
                  <a:srgbClr val="2E7D32"/>
                </a:solidFill>
                <a:latin typeface="Segoe UI"/>
              </a:defRPr>
            </a:pPr>
            <a:r>
              <a:rPr>
                <a:latin typeface="Segoe UI"/>
                <a:ea typeface="Meiryo UI"/>
              </a:rPr>
              <a:t>規程確認の即時化（数分→数秒）、属人性排除</a:t>
            </a:r>
          </a:p>
        </p:txBody>
      </p:sp>
      <p:sp>
        <p:nvSpPr>
          <p:cNvPr id="16" name="Rounded Rectangle 15"/>
          <p:cNvSpPr/>
          <p:nvPr/>
        </p:nvSpPr>
        <p:spPr>
          <a:xfrm>
            <a:off x="4175760" y="1188720"/>
            <a:ext cx="3520440" cy="5120640"/>
          </a:xfrm>
          <a:prstGeom prst="roundRect">
            <a:avLst/>
          </a:prstGeom>
          <a:solidFill>
            <a:srgbClr val="F0F4F8"/>
          </a:solidFill>
          <a:ln w="1270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75760" y="1188720"/>
            <a:ext cx="3520440" cy="63500"/>
          </a:xfrm>
          <a:prstGeom prst="rect">
            <a:avLst/>
          </a:prstGeom>
          <a:solidFill>
            <a:srgbClr val="006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58640" y="1325880"/>
            <a:ext cx="3154680" cy="457200"/>
          </a:xfrm>
          <a:prstGeom prst="rect">
            <a:avLst/>
          </a:prstGeom>
          <a:noFill/>
        </p:spPr>
        <p:txBody>
          <a:bodyPr wrap="square">
            <a:spAutoFit/>
          </a:bodyPr>
          <a:lstStyle/>
          <a:p>
            <a:pPr algn="l">
              <a:defRPr sz="1300" b="1">
                <a:solidFill>
                  <a:srgbClr val="1A1A2E"/>
                </a:solidFill>
                <a:latin typeface="Segoe UI"/>
              </a:defRPr>
            </a:pPr>
            <a:r>
              <a:rPr>
                <a:latin typeface="Segoe UI"/>
                <a:ea typeface="Meiryo UI"/>
              </a:rPr>
              <a:t>BNK-04  不正取引アラート分析</a:t>
            </a:r>
          </a:p>
        </p:txBody>
      </p:sp>
      <p:sp>
        <p:nvSpPr>
          <p:cNvPr id="19" name="TextBox 18"/>
          <p:cNvSpPr txBox="1"/>
          <p:nvPr/>
        </p:nvSpPr>
        <p:spPr>
          <a:xfrm>
            <a:off x="4358640" y="1691640"/>
            <a:ext cx="3154680" cy="274320"/>
          </a:xfrm>
          <a:prstGeom prst="rect">
            <a:avLst/>
          </a:prstGeom>
          <a:noFill/>
        </p:spPr>
        <p:txBody>
          <a:bodyPr wrap="square">
            <a:spAutoFit/>
          </a:bodyPr>
          <a:lstStyle/>
          <a:p>
            <a:pPr algn="l">
              <a:defRPr sz="1000" b="0">
                <a:solidFill>
                  <a:srgbClr val="4A5A6A"/>
                </a:solidFill>
                <a:latin typeface="Segoe UI"/>
              </a:defRPr>
            </a:pPr>
            <a:r>
              <a:rPr>
                <a:latin typeface="Segoe UI"/>
                <a:ea typeface="Meiryo UI"/>
              </a:rPr>
              <a:t>不正検知部門・コンプライアンス部門</a:t>
            </a:r>
          </a:p>
        </p:txBody>
      </p:sp>
      <p:sp>
        <p:nvSpPr>
          <p:cNvPr id="20" name="Rectangle 19"/>
          <p:cNvSpPr/>
          <p:nvPr/>
        </p:nvSpPr>
        <p:spPr>
          <a:xfrm>
            <a:off x="4358640" y="2011680"/>
            <a:ext cx="3154680" cy="12700"/>
          </a:xfrm>
          <a:prstGeom prst="rect">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58640" y="2103120"/>
            <a:ext cx="3154680" cy="228600"/>
          </a:xfrm>
          <a:prstGeom prst="rect">
            <a:avLst/>
          </a:prstGeom>
          <a:noFill/>
        </p:spPr>
        <p:txBody>
          <a:bodyPr wrap="square">
            <a:spAutoFit/>
          </a:bodyPr>
          <a:lstStyle/>
          <a:p>
            <a:pPr algn="l">
              <a:defRPr sz="900" b="1">
                <a:solidFill>
                  <a:srgbClr val="006EBF"/>
                </a:solidFill>
                <a:latin typeface="Segoe UI"/>
              </a:defRPr>
            </a:pPr>
            <a:r>
              <a:rPr>
                <a:latin typeface="Segoe UI"/>
                <a:ea typeface="Meiryo UI"/>
              </a:rPr>
              <a:t>フロー</a:t>
            </a:r>
          </a:p>
        </p:txBody>
      </p:sp>
      <p:sp>
        <p:nvSpPr>
          <p:cNvPr id="22" name="TextBox 21"/>
          <p:cNvSpPr txBox="1"/>
          <p:nvPr/>
        </p:nvSpPr>
        <p:spPr>
          <a:xfrm>
            <a:off x="4358640" y="2331720"/>
            <a:ext cx="3154680" cy="822960"/>
          </a:xfrm>
          <a:prstGeom prst="rect">
            <a:avLst/>
          </a:prstGeom>
          <a:noFill/>
        </p:spPr>
        <p:txBody>
          <a:bodyPr wrap="square">
            <a:spAutoFit/>
          </a:bodyPr>
          <a:lstStyle/>
          <a:p>
            <a:pPr algn="l">
              <a:defRPr sz="1000" b="0">
                <a:solidFill>
                  <a:srgbClr val="1A1A2E"/>
                </a:solidFill>
                <a:latin typeface="Segoe UI"/>
              </a:defRPr>
            </a:pPr>
            <a:r>
              <a:rPr>
                <a:latin typeface="Segoe UI"/>
                <a:ea typeface="Meiryo UI"/>
              </a:rPr>
              <a:t>開始 → HTTP取得 → LLM分析 → 構造化抽出 → IF/ELSE → エスカレーション/通常処理</a:t>
            </a:r>
          </a:p>
        </p:txBody>
      </p:sp>
      <p:sp>
        <p:nvSpPr>
          <p:cNvPr id="23" name="TextBox 22"/>
          <p:cNvSpPr txBox="1"/>
          <p:nvPr/>
        </p:nvSpPr>
        <p:spPr>
          <a:xfrm>
            <a:off x="4358640" y="3291840"/>
            <a:ext cx="3154680" cy="228600"/>
          </a:xfrm>
          <a:prstGeom prst="rect">
            <a:avLst/>
          </a:prstGeom>
          <a:noFill/>
        </p:spPr>
        <p:txBody>
          <a:bodyPr wrap="square">
            <a:spAutoFit/>
          </a:bodyPr>
          <a:lstStyle/>
          <a:p>
            <a:pPr algn="l">
              <a:defRPr sz="900" b="1">
                <a:solidFill>
                  <a:srgbClr val="006EBF"/>
                </a:solidFill>
                <a:latin typeface="Segoe UI"/>
              </a:defRPr>
            </a:pPr>
            <a:r>
              <a:rPr>
                <a:latin typeface="Segoe UI"/>
                <a:ea typeface="Meiryo UI"/>
              </a:rPr>
              <a:t>概要</a:t>
            </a:r>
          </a:p>
        </p:txBody>
      </p:sp>
      <p:sp>
        <p:nvSpPr>
          <p:cNvPr id="24" name="TextBox 23"/>
          <p:cNvSpPr txBox="1"/>
          <p:nvPr/>
        </p:nvSpPr>
        <p:spPr>
          <a:xfrm>
            <a:off x="4358640" y="3520440"/>
            <a:ext cx="3154680" cy="1371600"/>
          </a:xfrm>
          <a:prstGeom prst="rect">
            <a:avLst/>
          </a:prstGeom>
          <a:noFill/>
        </p:spPr>
        <p:txBody>
          <a:bodyPr wrap="square">
            <a:spAutoFit/>
          </a:bodyPr>
          <a:lstStyle/>
          <a:p>
            <a:pPr algn="l">
              <a:defRPr sz="1000" b="0">
                <a:solidFill>
                  <a:srgbClr val="1A1A2E"/>
                </a:solidFill>
                <a:latin typeface="Segoe UI"/>
              </a:defRPr>
            </a:pPr>
            <a:r>
              <a:rPr>
                <a:latin typeface="Segoe UI"/>
                <a:ea typeface="Meiryo UI"/>
              </a:rPr>
              <a:t>取引APIからデータ取得、LLMで不正パターン分析。HIGHリスク・高額取引は自動エスカレーション。</a:t>
            </a:r>
          </a:p>
        </p:txBody>
      </p:sp>
      <p:sp>
        <p:nvSpPr>
          <p:cNvPr id="25" name="Rounded Rectangle 24"/>
          <p:cNvSpPr/>
          <p:nvPr/>
        </p:nvSpPr>
        <p:spPr>
          <a:xfrm>
            <a:off x="4358640" y="5029200"/>
            <a:ext cx="3154680" cy="9144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50080" y="5074920"/>
            <a:ext cx="2971800" cy="228600"/>
          </a:xfrm>
          <a:prstGeom prst="rect">
            <a:avLst/>
          </a:prstGeom>
          <a:noFill/>
        </p:spPr>
        <p:txBody>
          <a:bodyPr wrap="square">
            <a:spAutoFit/>
          </a:bodyPr>
          <a:lstStyle/>
          <a:p>
            <a:pPr algn="l">
              <a:defRPr sz="900" b="1">
                <a:solidFill>
                  <a:srgbClr val="008A5E"/>
                </a:solidFill>
                <a:latin typeface="Segoe UI"/>
              </a:defRPr>
            </a:pPr>
            <a:r>
              <a:rPr>
                <a:latin typeface="Segoe UI"/>
                <a:ea typeface="Meiryo UI"/>
              </a:rPr>
              <a:t>導入効果</a:t>
            </a:r>
          </a:p>
        </p:txBody>
      </p:sp>
      <p:sp>
        <p:nvSpPr>
          <p:cNvPr id="27" name="TextBox 26"/>
          <p:cNvSpPr txBox="1"/>
          <p:nvPr/>
        </p:nvSpPr>
        <p:spPr>
          <a:xfrm>
            <a:off x="4450080" y="5303520"/>
            <a:ext cx="2971800" cy="548640"/>
          </a:xfrm>
          <a:prstGeom prst="rect">
            <a:avLst/>
          </a:prstGeom>
          <a:noFill/>
        </p:spPr>
        <p:txBody>
          <a:bodyPr wrap="square">
            <a:spAutoFit/>
          </a:bodyPr>
          <a:lstStyle/>
          <a:p>
            <a:pPr algn="l">
              <a:defRPr sz="1000" b="1">
                <a:solidFill>
                  <a:srgbClr val="2E7D32"/>
                </a:solidFill>
                <a:latin typeface="Segoe UI"/>
              </a:defRPr>
            </a:pPr>
            <a:r>
              <a:rPr>
                <a:latin typeface="Segoe UI"/>
                <a:ea typeface="Meiryo UI"/>
              </a:rPr>
              <a:t>アラート初動対応の迅速化、見逃し防止</a:t>
            </a:r>
          </a:p>
        </p:txBody>
      </p:sp>
      <p:sp>
        <p:nvSpPr>
          <p:cNvPr id="28" name="Rounded Rectangle 27"/>
          <p:cNvSpPr/>
          <p:nvPr/>
        </p:nvSpPr>
        <p:spPr>
          <a:xfrm>
            <a:off x="7894320" y="1188720"/>
            <a:ext cx="3520440" cy="5120640"/>
          </a:xfrm>
          <a:prstGeom prst="roundRect">
            <a:avLst/>
          </a:prstGeom>
          <a:solidFill>
            <a:srgbClr val="F0F4F8"/>
          </a:solidFill>
          <a:ln w="1270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94320" y="1188720"/>
            <a:ext cx="3520440" cy="63500"/>
          </a:xfrm>
          <a:prstGeom prst="rect">
            <a:avLst/>
          </a:prstGeom>
          <a:solidFill>
            <a:srgbClr val="006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77200" y="1325880"/>
            <a:ext cx="3154680" cy="457200"/>
          </a:xfrm>
          <a:prstGeom prst="rect">
            <a:avLst/>
          </a:prstGeom>
          <a:noFill/>
        </p:spPr>
        <p:txBody>
          <a:bodyPr wrap="square">
            <a:spAutoFit/>
          </a:bodyPr>
          <a:lstStyle/>
          <a:p>
            <a:pPr algn="l">
              <a:defRPr sz="1300" b="1">
                <a:solidFill>
                  <a:srgbClr val="1A1A2E"/>
                </a:solidFill>
                <a:latin typeface="Segoe UI"/>
              </a:defRPr>
            </a:pPr>
            <a:r>
              <a:rPr>
                <a:latin typeface="Segoe UI"/>
                <a:ea typeface="Meiryo UI"/>
              </a:rPr>
              <a:t>BNK-09  疑わしい取引届出書ドラフト</a:t>
            </a:r>
          </a:p>
        </p:txBody>
      </p:sp>
      <p:sp>
        <p:nvSpPr>
          <p:cNvPr id="31" name="TextBox 30"/>
          <p:cNvSpPr txBox="1"/>
          <p:nvPr/>
        </p:nvSpPr>
        <p:spPr>
          <a:xfrm>
            <a:off x="8077200" y="1691640"/>
            <a:ext cx="3154680" cy="274320"/>
          </a:xfrm>
          <a:prstGeom prst="rect">
            <a:avLst/>
          </a:prstGeom>
          <a:noFill/>
        </p:spPr>
        <p:txBody>
          <a:bodyPr wrap="square">
            <a:spAutoFit/>
          </a:bodyPr>
          <a:lstStyle/>
          <a:p>
            <a:pPr algn="l">
              <a:defRPr sz="1000" b="0">
                <a:solidFill>
                  <a:srgbClr val="4A5A6A"/>
                </a:solidFill>
                <a:latin typeface="Segoe UI"/>
              </a:defRPr>
            </a:pPr>
            <a:r>
              <a:rPr>
                <a:latin typeface="Segoe UI"/>
                <a:ea typeface="Meiryo UI"/>
              </a:rPr>
              <a:t>AML/CFT担当部門</a:t>
            </a:r>
          </a:p>
        </p:txBody>
      </p:sp>
      <p:sp>
        <p:nvSpPr>
          <p:cNvPr id="32" name="Rectangle 31"/>
          <p:cNvSpPr/>
          <p:nvPr/>
        </p:nvSpPr>
        <p:spPr>
          <a:xfrm>
            <a:off x="8077200" y="2011680"/>
            <a:ext cx="3154680" cy="12700"/>
          </a:xfrm>
          <a:prstGeom prst="rect">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77200" y="2103120"/>
            <a:ext cx="3154680" cy="228600"/>
          </a:xfrm>
          <a:prstGeom prst="rect">
            <a:avLst/>
          </a:prstGeom>
          <a:noFill/>
        </p:spPr>
        <p:txBody>
          <a:bodyPr wrap="square">
            <a:spAutoFit/>
          </a:bodyPr>
          <a:lstStyle/>
          <a:p>
            <a:pPr algn="l">
              <a:defRPr sz="900" b="1">
                <a:solidFill>
                  <a:srgbClr val="006EBF"/>
                </a:solidFill>
                <a:latin typeface="Segoe UI"/>
              </a:defRPr>
            </a:pPr>
            <a:r>
              <a:rPr>
                <a:latin typeface="Segoe UI"/>
                <a:ea typeface="Meiryo UI"/>
              </a:rPr>
              <a:t>フロー</a:t>
            </a:r>
          </a:p>
        </p:txBody>
      </p:sp>
      <p:sp>
        <p:nvSpPr>
          <p:cNvPr id="34" name="TextBox 33"/>
          <p:cNvSpPr txBox="1"/>
          <p:nvPr/>
        </p:nvSpPr>
        <p:spPr>
          <a:xfrm>
            <a:off x="8077200" y="2331720"/>
            <a:ext cx="3154680" cy="822960"/>
          </a:xfrm>
          <a:prstGeom prst="rect">
            <a:avLst/>
          </a:prstGeom>
          <a:noFill/>
        </p:spPr>
        <p:txBody>
          <a:bodyPr wrap="square">
            <a:spAutoFit/>
          </a:bodyPr>
          <a:lstStyle/>
          <a:p>
            <a:pPr algn="l">
              <a:defRPr sz="1000" b="0">
                <a:solidFill>
                  <a:srgbClr val="1A1A2E"/>
                </a:solidFill>
                <a:latin typeface="Segoe UI"/>
              </a:defRPr>
            </a:pPr>
            <a:r>
              <a:rPr>
                <a:latin typeface="Segoe UI"/>
                <a:ea typeface="Meiryo UI"/>
              </a:rPr>
              <a:t>開始 → パラメータ抽出 → 検証 → LLM分析 → 届出書フォーマット → 終了</a:t>
            </a:r>
          </a:p>
        </p:txBody>
      </p:sp>
      <p:sp>
        <p:nvSpPr>
          <p:cNvPr id="35" name="TextBox 34"/>
          <p:cNvSpPr txBox="1"/>
          <p:nvPr/>
        </p:nvSpPr>
        <p:spPr>
          <a:xfrm>
            <a:off x="8077200" y="3291840"/>
            <a:ext cx="3154680" cy="228600"/>
          </a:xfrm>
          <a:prstGeom prst="rect">
            <a:avLst/>
          </a:prstGeom>
          <a:noFill/>
        </p:spPr>
        <p:txBody>
          <a:bodyPr wrap="square">
            <a:spAutoFit/>
          </a:bodyPr>
          <a:lstStyle/>
          <a:p>
            <a:pPr algn="l">
              <a:defRPr sz="900" b="1">
                <a:solidFill>
                  <a:srgbClr val="006EBF"/>
                </a:solidFill>
                <a:latin typeface="Segoe UI"/>
              </a:defRPr>
            </a:pPr>
            <a:r>
              <a:rPr>
                <a:latin typeface="Segoe UI"/>
                <a:ea typeface="Meiryo UI"/>
              </a:rPr>
              <a:t>概要</a:t>
            </a:r>
          </a:p>
        </p:txBody>
      </p:sp>
      <p:sp>
        <p:nvSpPr>
          <p:cNvPr id="36" name="TextBox 35"/>
          <p:cNvSpPr txBox="1"/>
          <p:nvPr/>
        </p:nvSpPr>
        <p:spPr>
          <a:xfrm>
            <a:off x="8077200" y="3520440"/>
            <a:ext cx="3154680" cy="1371600"/>
          </a:xfrm>
          <a:prstGeom prst="rect">
            <a:avLst/>
          </a:prstGeom>
          <a:noFill/>
        </p:spPr>
        <p:txBody>
          <a:bodyPr wrap="square">
            <a:spAutoFit/>
          </a:bodyPr>
          <a:lstStyle/>
          <a:p>
            <a:pPr algn="l">
              <a:defRPr sz="1000" b="0">
                <a:solidFill>
                  <a:srgbClr val="1A1A2E"/>
                </a:solidFill>
                <a:latin typeface="Segoe UI"/>
              </a:defRPr>
            </a:pPr>
            <a:r>
              <a:rPr>
                <a:latin typeface="Segoe UI"/>
                <a:ea typeface="Meiryo UI"/>
              </a:rPr>
              <a:t>取引詳細からPEで情報抽出、犯収法観点でLLMが分析し届出書フォーマットに自動整形。</a:t>
            </a:r>
          </a:p>
        </p:txBody>
      </p:sp>
      <p:sp>
        <p:nvSpPr>
          <p:cNvPr id="37" name="Rounded Rectangle 36"/>
          <p:cNvSpPr/>
          <p:nvPr/>
        </p:nvSpPr>
        <p:spPr>
          <a:xfrm>
            <a:off x="8077200" y="5029200"/>
            <a:ext cx="3154680" cy="9144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68640" y="5074920"/>
            <a:ext cx="2971800" cy="228600"/>
          </a:xfrm>
          <a:prstGeom prst="rect">
            <a:avLst/>
          </a:prstGeom>
          <a:noFill/>
        </p:spPr>
        <p:txBody>
          <a:bodyPr wrap="square">
            <a:spAutoFit/>
          </a:bodyPr>
          <a:lstStyle/>
          <a:p>
            <a:pPr algn="l">
              <a:defRPr sz="900" b="1">
                <a:solidFill>
                  <a:srgbClr val="008A5E"/>
                </a:solidFill>
                <a:latin typeface="Segoe UI"/>
              </a:defRPr>
            </a:pPr>
            <a:r>
              <a:rPr>
                <a:latin typeface="Segoe UI"/>
                <a:ea typeface="Meiryo UI"/>
              </a:rPr>
              <a:t>導入効果</a:t>
            </a:r>
          </a:p>
        </p:txBody>
      </p:sp>
      <p:sp>
        <p:nvSpPr>
          <p:cNvPr id="39" name="TextBox 38"/>
          <p:cNvSpPr txBox="1"/>
          <p:nvPr/>
        </p:nvSpPr>
        <p:spPr>
          <a:xfrm>
            <a:off x="8168640" y="5303520"/>
            <a:ext cx="2971800" cy="548640"/>
          </a:xfrm>
          <a:prstGeom prst="rect">
            <a:avLst/>
          </a:prstGeom>
          <a:noFill/>
        </p:spPr>
        <p:txBody>
          <a:bodyPr wrap="square">
            <a:spAutoFit/>
          </a:bodyPr>
          <a:lstStyle/>
          <a:p>
            <a:pPr algn="l">
              <a:defRPr sz="1000" b="1">
                <a:solidFill>
                  <a:srgbClr val="2E7D32"/>
                </a:solidFill>
                <a:latin typeface="Segoe UI"/>
              </a:defRPr>
            </a:pPr>
            <a:r>
              <a:rPr>
                <a:latin typeface="Segoe UI"/>
                <a:ea typeface="Meiryo UI"/>
              </a:rPr>
              <a:t>SAR作成工数の大幅削減、記載漏れ防止</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600" b="1">
                <a:solidFill>
                  <a:srgbClr val="FFFFFF"/>
                </a:solidFill>
                <a:latin typeface="Segoe UI"/>
              </a:defRPr>
            </a:pPr>
            <a:r>
              <a:rPr>
                <a:latin typeface="Segoe UI"/>
                <a:ea typeface="Meiryo UI"/>
              </a:rPr>
              <a:t>詳細 ②  融資・審査 / 経営企画</a:t>
            </a:r>
          </a:p>
        </p:txBody>
      </p:sp>
      <p:sp>
        <p:nvSpPr>
          <p:cNvPr id="4" name="Rounded Rectangle 3"/>
          <p:cNvSpPr/>
          <p:nvPr/>
        </p:nvSpPr>
        <p:spPr>
          <a:xfrm>
            <a:off x="457200" y="1188720"/>
            <a:ext cx="3520440" cy="5120640"/>
          </a:xfrm>
          <a:prstGeom prst="roundRect">
            <a:avLst/>
          </a:prstGeom>
          <a:solidFill>
            <a:srgbClr val="F0F4F8"/>
          </a:solidFill>
          <a:ln w="1270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188720"/>
            <a:ext cx="3520440" cy="63500"/>
          </a:xfrm>
          <a:prstGeom prst="rect">
            <a:avLst/>
          </a:prstGeom>
          <a:solidFill>
            <a:srgbClr val="006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25880"/>
            <a:ext cx="3154680" cy="457200"/>
          </a:xfrm>
          <a:prstGeom prst="rect">
            <a:avLst/>
          </a:prstGeom>
          <a:noFill/>
        </p:spPr>
        <p:txBody>
          <a:bodyPr wrap="square">
            <a:spAutoFit/>
          </a:bodyPr>
          <a:lstStyle/>
          <a:p>
            <a:pPr algn="l">
              <a:defRPr sz="1300" b="1">
                <a:solidFill>
                  <a:srgbClr val="1A1A2E"/>
                </a:solidFill>
                <a:latin typeface="Segoe UI"/>
              </a:defRPr>
            </a:pPr>
            <a:r>
              <a:rPr>
                <a:latin typeface="Segoe UI"/>
                <a:ea typeface="Meiryo UI"/>
              </a:rPr>
              <a:t>BNK-02  ローン審査 基本要件チェック</a:t>
            </a:r>
          </a:p>
        </p:txBody>
      </p:sp>
      <p:sp>
        <p:nvSpPr>
          <p:cNvPr id="7" name="TextBox 6"/>
          <p:cNvSpPr txBox="1"/>
          <p:nvPr/>
        </p:nvSpPr>
        <p:spPr>
          <a:xfrm>
            <a:off x="640080" y="1691640"/>
            <a:ext cx="3154680" cy="274320"/>
          </a:xfrm>
          <a:prstGeom prst="rect">
            <a:avLst/>
          </a:prstGeom>
          <a:noFill/>
        </p:spPr>
        <p:txBody>
          <a:bodyPr wrap="square">
            <a:spAutoFit/>
          </a:bodyPr>
          <a:lstStyle/>
          <a:p>
            <a:pPr algn="l">
              <a:defRPr sz="1000" b="0">
                <a:solidFill>
                  <a:srgbClr val="4A5A6A"/>
                </a:solidFill>
                <a:latin typeface="Segoe UI"/>
              </a:defRPr>
            </a:pPr>
            <a:r>
              <a:rPr>
                <a:latin typeface="Segoe UI"/>
                <a:ea typeface="Meiryo UI"/>
              </a:rPr>
              <a:t>融資審査部門</a:t>
            </a:r>
          </a:p>
        </p:txBody>
      </p:sp>
      <p:sp>
        <p:nvSpPr>
          <p:cNvPr id="8" name="Rectangle 7"/>
          <p:cNvSpPr/>
          <p:nvPr/>
        </p:nvSpPr>
        <p:spPr>
          <a:xfrm>
            <a:off x="640080" y="2011680"/>
            <a:ext cx="3154680" cy="12700"/>
          </a:xfrm>
          <a:prstGeom prst="rect">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103120"/>
            <a:ext cx="3154680" cy="228600"/>
          </a:xfrm>
          <a:prstGeom prst="rect">
            <a:avLst/>
          </a:prstGeom>
          <a:noFill/>
        </p:spPr>
        <p:txBody>
          <a:bodyPr wrap="square">
            <a:spAutoFit/>
          </a:bodyPr>
          <a:lstStyle/>
          <a:p>
            <a:pPr algn="l">
              <a:defRPr sz="900" b="1">
                <a:solidFill>
                  <a:srgbClr val="006EBF"/>
                </a:solidFill>
                <a:latin typeface="Segoe UI"/>
              </a:defRPr>
            </a:pPr>
            <a:r>
              <a:rPr>
                <a:latin typeface="Segoe UI"/>
                <a:ea typeface="Meiryo UI"/>
              </a:rPr>
              <a:t>フロー</a:t>
            </a:r>
          </a:p>
        </p:txBody>
      </p:sp>
      <p:sp>
        <p:nvSpPr>
          <p:cNvPr id="10" name="TextBox 9"/>
          <p:cNvSpPr txBox="1"/>
          <p:nvPr/>
        </p:nvSpPr>
        <p:spPr>
          <a:xfrm>
            <a:off x="640080" y="2331720"/>
            <a:ext cx="3154680" cy="822960"/>
          </a:xfrm>
          <a:prstGeom prst="rect">
            <a:avLst/>
          </a:prstGeom>
          <a:noFill/>
        </p:spPr>
        <p:txBody>
          <a:bodyPr wrap="square">
            <a:spAutoFit/>
          </a:bodyPr>
          <a:lstStyle/>
          <a:p>
            <a:pPr algn="l">
              <a:defRPr sz="1000" b="0">
                <a:solidFill>
                  <a:srgbClr val="1A1A2E"/>
                </a:solidFill>
                <a:latin typeface="Segoe UI"/>
              </a:defRPr>
            </a:pPr>
            <a:r>
              <a:rPr>
                <a:latin typeface="Segoe UI"/>
                <a:ea typeface="Meiryo UI"/>
              </a:rPr>
              <a:t>開始 → PE抽出 → Code判定 → IF/ELSE → 審査レポート or 不適合通知</a:t>
            </a:r>
          </a:p>
        </p:txBody>
      </p:sp>
      <p:sp>
        <p:nvSpPr>
          <p:cNvPr id="11" name="TextBox 10"/>
          <p:cNvSpPr txBox="1"/>
          <p:nvPr/>
        </p:nvSpPr>
        <p:spPr>
          <a:xfrm>
            <a:off x="640080" y="3291840"/>
            <a:ext cx="3154680" cy="228600"/>
          </a:xfrm>
          <a:prstGeom prst="rect">
            <a:avLst/>
          </a:prstGeom>
          <a:noFill/>
        </p:spPr>
        <p:txBody>
          <a:bodyPr wrap="square">
            <a:spAutoFit/>
          </a:bodyPr>
          <a:lstStyle/>
          <a:p>
            <a:pPr algn="l">
              <a:defRPr sz="900" b="1">
                <a:solidFill>
                  <a:srgbClr val="006EBF"/>
                </a:solidFill>
                <a:latin typeface="Segoe UI"/>
              </a:defRPr>
            </a:pPr>
            <a:r>
              <a:rPr>
                <a:latin typeface="Segoe UI"/>
                <a:ea typeface="Meiryo UI"/>
              </a:rPr>
              <a:t>概要</a:t>
            </a:r>
          </a:p>
        </p:txBody>
      </p:sp>
      <p:sp>
        <p:nvSpPr>
          <p:cNvPr id="12" name="TextBox 11"/>
          <p:cNvSpPr txBox="1"/>
          <p:nvPr/>
        </p:nvSpPr>
        <p:spPr>
          <a:xfrm>
            <a:off x="640080" y="3520440"/>
            <a:ext cx="3154680" cy="1371600"/>
          </a:xfrm>
          <a:prstGeom prst="rect">
            <a:avLst/>
          </a:prstGeom>
          <a:noFill/>
        </p:spPr>
        <p:txBody>
          <a:bodyPr wrap="square">
            <a:spAutoFit/>
          </a:bodyPr>
          <a:lstStyle/>
          <a:p>
            <a:pPr algn="l">
              <a:defRPr sz="1000" b="0">
                <a:solidFill>
                  <a:srgbClr val="1A1A2E"/>
                </a:solidFill>
                <a:latin typeface="Segoe UI"/>
              </a:defRPr>
            </a:pPr>
            <a:r>
              <a:rPr>
                <a:latin typeface="Segoe UI"/>
                <a:ea typeface="Meiryo UI"/>
              </a:rPr>
              <a:t>申請書テキストから年齢・年収・勤続・借入比率を自動抽出・判定し、結果レポートを生成。</a:t>
            </a:r>
          </a:p>
        </p:txBody>
      </p:sp>
      <p:sp>
        <p:nvSpPr>
          <p:cNvPr id="13" name="Rounded Rectangle 12"/>
          <p:cNvSpPr/>
          <p:nvPr/>
        </p:nvSpPr>
        <p:spPr>
          <a:xfrm>
            <a:off x="640080" y="5029200"/>
            <a:ext cx="3154680" cy="9144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074920"/>
            <a:ext cx="2971800" cy="228600"/>
          </a:xfrm>
          <a:prstGeom prst="rect">
            <a:avLst/>
          </a:prstGeom>
          <a:noFill/>
        </p:spPr>
        <p:txBody>
          <a:bodyPr wrap="square">
            <a:spAutoFit/>
          </a:bodyPr>
          <a:lstStyle/>
          <a:p>
            <a:pPr algn="l">
              <a:defRPr sz="900" b="1">
                <a:solidFill>
                  <a:srgbClr val="008A5E"/>
                </a:solidFill>
                <a:latin typeface="Segoe UI"/>
              </a:defRPr>
            </a:pPr>
            <a:r>
              <a:rPr>
                <a:latin typeface="Segoe UI"/>
                <a:ea typeface="Meiryo UI"/>
              </a:rPr>
              <a:t>導入効果</a:t>
            </a:r>
          </a:p>
        </p:txBody>
      </p:sp>
      <p:sp>
        <p:nvSpPr>
          <p:cNvPr id="15" name="TextBox 14"/>
          <p:cNvSpPr txBox="1"/>
          <p:nvPr/>
        </p:nvSpPr>
        <p:spPr>
          <a:xfrm>
            <a:off x="731520" y="5303520"/>
            <a:ext cx="2971800" cy="548640"/>
          </a:xfrm>
          <a:prstGeom prst="rect">
            <a:avLst/>
          </a:prstGeom>
          <a:noFill/>
        </p:spPr>
        <p:txBody>
          <a:bodyPr wrap="square">
            <a:spAutoFit/>
          </a:bodyPr>
          <a:lstStyle/>
          <a:p>
            <a:pPr algn="l">
              <a:defRPr sz="1000" b="1">
                <a:solidFill>
                  <a:srgbClr val="2E7D32"/>
                </a:solidFill>
                <a:latin typeface="Segoe UI"/>
              </a:defRPr>
            </a:pPr>
            <a:r>
              <a:rPr>
                <a:latin typeface="Segoe UI"/>
                <a:ea typeface="Meiryo UI"/>
              </a:rPr>
              <a:t>審査初期スクリーニングの自動化、判定の均質化</a:t>
            </a:r>
          </a:p>
        </p:txBody>
      </p:sp>
      <p:sp>
        <p:nvSpPr>
          <p:cNvPr id="16" name="Rounded Rectangle 15"/>
          <p:cNvSpPr/>
          <p:nvPr/>
        </p:nvSpPr>
        <p:spPr>
          <a:xfrm>
            <a:off x="4175760" y="1188720"/>
            <a:ext cx="3520440" cy="5120640"/>
          </a:xfrm>
          <a:prstGeom prst="roundRect">
            <a:avLst/>
          </a:prstGeom>
          <a:solidFill>
            <a:srgbClr val="F0F4F8"/>
          </a:solidFill>
          <a:ln w="1270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75760" y="1188720"/>
            <a:ext cx="3520440" cy="63500"/>
          </a:xfrm>
          <a:prstGeom prst="rect">
            <a:avLst/>
          </a:prstGeom>
          <a:solidFill>
            <a:srgbClr val="006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58640" y="1325880"/>
            <a:ext cx="3154680" cy="457200"/>
          </a:xfrm>
          <a:prstGeom prst="rect">
            <a:avLst/>
          </a:prstGeom>
          <a:noFill/>
        </p:spPr>
        <p:txBody>
          <a:bodyPr wrap="square">
            <a:spAutoFit/>
          </a:bodyPr>
          <a:lstStyle/>
          <a:p>
            <a:pPr algn="l">
              <a:defRPr sz="1300" b="1">
                <a:solidFill>
                  <a:srgbClr val="1A1A2E"/>
                </a:solidFill>
                <a:latin typeface="Segoe UI"/>
              </a:defRPr>
            </a:pPr>
            <a:r>
              <a:rPr>
                <a:latin typeface="Segoe UI"/>
                <a:ea typeface="Meiryo UI"/>
              </a:rPr>
              <a:t>BNK-07  稟議書ドラフト作成支援</a:t>
            </a:r>
          </a:p>
        </p:txBody>
      </p:sp>
      <p:sp>
        <p:nvSpPr>
          <p:cNvPr id="19" name="TextBox 18"/>
          <p:cNvSpPr txBox="1"/>
          <p:nvPr/>
        </p:nvSpPr>
        <p:spPr>
          <a:xfrm>
            <a:off x="4358640" y="1691640"/>
            <a:ext cx="3154680" cy="274320"/>
          </a:xfrm>
          <a:prstGeom prst="rect">
            <a:avLst/>
          </a:prstGeom>
          <a:noFill/>
        </p:spPr>
        <p:txBody>
          <a:bodyPr wrap="square">
            <a:spAutoFit/>
          </a:bodyPr>
          <a:lstStyle/>
          <a:p>
            <a:pPr algn="l">
              <a:defRPr sz="1000" b="0">
                <a:solidFill>
                  <a:srgbClr val="4A5A6A"/>
                </a:solidFill>
                <a:latin typeface="Segoe UI"/>
              </a:defRPr>
            </a:pPr>
            <a:r>
              <a:rPr>
                <a:latin typeface="Segoe UI"/>
                <a:ea typeface="Meiryo UI"/>
              </a:rPr>
              <a:t>融資審査部門・営業推進部門</a:t>
            </a:r>
          </a:p>
        </p:txBody>
      </p:sp>
      <p:sp>
        <p:nvSpPr>
          <p:cNvPr id="20" name="Rectangle 19"/>
          <p:cNvSpPr/>
          <p:nvPr/>
        </p:nvSpPr>
        <p:spPr>
          <a:xfrm>
            <a:off x="4358640" y="2011680"/>
            <a:ext cx="3154680" cy="12700"/>
          </a:xfrm>
          <a:prstGeom prst="rect">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58640" y="2103120"/>
            <a:ext cx="3154680" cy="228600"/>
          </a:xfrm>
          <a:prstGeom prst="rect">
            <a:avLst/>
          </a:prstGeom>
          <a:noFill/>
        </p:spPr>
        <p:txBody>
          <a:bodyPr wrap="square">
            <a:spAutoFit/>
          </a:bodyPr>
          <a:lstStyle/>
          <a:p>
            <a:pPr algn="l">
              <a:defRPr sz="900" b="1">
                <a:solidFill>
                  <a:srgbClr val="006EBF"/>
                </a:solidFill>
                <a:latin typeface="Segoe UI"/>
              </a:defRPr>
            </a:pPr>
            <a:r>
              <a:rPr>
                <a:latin typeface="Segoe UI"/>
                <a:ea typeface="Meiryo UI"/>
              </a:rPr>
              <a:t>フロー</a:t>
            </a:r>
          </a:p>
        </p:txBody>
      </p:sp>
      <p:sp>
        <p:nvSpPr>
          <p:cNvPr id="22" name="TextBox 21"/>
          <p:cNvSpPr txBox="1"/>
          <p:nvPr/>
        </p:nvSpPr>
        <p:spPr>
          <a:xfrm>
            <a:off x="4358640" y="2331720"/>
            <a:ext cx="3154680" cy="822960"/>
          </a:xfrm>
          <a:prstGeom prst="rect">
            <a:avLst/>
          </a:prstGeom>
          <a:noFill/>
        </p:spPr>
        <p:txBody>
          <a:bodyPr wrap="square">
            <a:spAutoFit/>
          </a:bodyPr>
          <a:lstStyle/>
          <a:p>
            <a:pPr algn="l">
              <a:defRPr sz="1000" b="0">
                <a:solidFill>
                  <a:srgbClr val="1A1A2E"/>
                </a:solidFill>
                <a:latin typeface="Segoe UI"/>
              </a:defRPr>
            </a:pPr>
            <a:r>
              <a:rPr>
                <a:latin typeface="Segoe UI"/>
                <a:ea typeface="Meiryo UI"/>
              </a:rPr>
              <a:t>開始（8項目入力）→ Code整形 → LLM稟議書生成 → 終了</a:t>
            </a:r>
          </a:p>
        </p:txBody>
      </p:sp>
      <p:sp>
        <p:nvSpPr>
          <p:cNvPr id="23" name="TextBox 22"/>
          <p:cNvSpPr txBox="1"/>
          <p:nvPr/>
        </p:nvSpPr>
        <p:spPr>
          <a:xfrm>
            <a:off x="4358640" y="3291840"/>
            <a:ext cx="3154680" cy="228600"/>
          </a:xfrm>
          <a:prstGeom prst="rect">
            <a:avLst/>
          </a:prstGeom>
          <a:noFill/>
        </p:spPr>
        <p:txBody>
          <a:bodyPr wrap="square">
            <a:spAutoFit/>
          </a:bodyPr>
          <a:lstStyle/>
          <a:p>
            <a:pPr algn="l">
              <a:defRPr sz="900" b="1">
                <a:solidFill>
                  <a:srgbClr val="006EBF"/>
                </a:solidFill>
                <a:latin typeface="Segoe UI"/>
              </a:defRPr>
            </a:pPr>
            <a:r>
              <a:rPr>
                <a:latin typeface="Segoe UI"/>
                <a:ea typeface="Meiryo UI"/>
              </a:rPr>
              <a:t>概要</a:t>
            </a:r>
          </a:p>
        </p:txBody>
      </p:sp>
      <p:sp>
        <p:nvSpPr>
          <p:cNvPr id="24" name="TextBox 23"/>
          <p:cNvSpPr txBox="1"/>
          <p:nvPr/>
        </p:nvSpPr>
        <p:spPr>
          <a:xfrm>
            <a:off x="4358640" y="3520440"/>
            <a:ext cx="3154680" cy="1371600"/>
          </a:xfrm>
          <a:prstGeom prst="rect">
            <a:avLst/>
          </a:prstGeom>
          <a:noFill/>
        </p:spPr>
        <p:txBody>
          <a:bodyPr wrap="square">
            <a:spAutoFit/>
          </a:bodyPr>
          <a:lstStyle/>
          <a:p>
            <a:pPr algn="l">
              <a:defRPr sz="1000" b="0">
                <a:solidFill>
                  <a:srgbClr val="1A1A2E"/>
                </a:solidFill>
                <a:latin typeface="Segoe UI"/>
              </a:defRPr>
            </a:pPr>
            <a:r>
              <a:rPr>
                <a:latin typeface="Segoe UI"/>
                <a:ea typeface="Meiryo UI"/>
              </a:rPr>
              <a:t>融資案件情報を入力すると件名・申請概要・財務分析・審査意見を含む稟議書ドラフトを生成。</a:t>
            </a:r>
          </a:p>
        </p:txBody>
      </p:sp>
      <p:sp>
        <p:nvSpPr>
          <p:cNvPr id="25" name="Rounded Rectangle 24"/>
          <p:cNvSpPr/>
          <p:nvPr/>
        </p:nvSpPr>
        <p:spPr>
          <a:xfrm>
            <a:off x="4358640" y="5029200"/>
            <a:ext cx="3154680" cy="9144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50080" y="5074920"/>
            <a:ext cx="2971800" cy="228600"/>
          </a:xfrm>
          <a:prstGeom prst="rect">
            <a:avLst/>
          </a:prstGeom>
          <a:noFill/>
        </p:spPr>
        <p:txBody>
          <a:bodyPr wrap="square">
            <a:spAutoFit/>
          </a:bodyPr>
          <a:lstStyle/>
          <a:p>
            <a:pPr algn="l">
              <a:defRPr sz="900" b="1">
                <a:solidFill>
                  <a:srgbClr val="008A5E"/>
                </a:solidFill>
                <a:latin typeface="Segoe UI"/>
              </a:defRPr>
            </a:pPr>
            <a:r>
              <a:rPr>
                <a:latin typeface="Segoe UI"/>
                <a:ea typeface="Meiryo UI"/>
              </a:rPr>
              <a:t>導入効果</a:t>
            </a:r>
          </a:p>
        </p:txBody>
      </p:sp>
      <p:sp>
        <p:nvSpPr>
          <p:cNvPr id="27" name="TextBox 26"/>
          <p:cNvSpPr txBox="1"/>
          <p:nvPr/>
        </p:nvSpPr>
        <p:spPr>
          <a:xfrm>
            <a:off x="4450080" y="5303520"/>
            <a:ext cx="2971800" cy="548640"/>
          </a:xfrm>
          <a:prstGeom prst="rect">
            <a:avLst/>
          </a:prstGeom>
          <a:noFill/>
        </p:spPr>
        <p:txBody>
          <a:bodyPr wrap="square">
            <a:spAutoFit/>
          </a:bodyPr>
          <a:lstStyle/>
          <a:p>
            <a:pPr algn="l">
              <a:defRPr sz="1000" b="1">
                <a:solidFill>
                  <a:srgbClr val="2E7D32"/>
                </a:solidFill>
                <a:latin typeface="Segoe UI"/>
              </a:defRPr>
            </a:pPr>
            <a:r>
              <a:rPr>
                <a:latin typeface="Segoe UI"/>
                <a:ea typeface="Meiryo UI"/>
              </a:rPr>
              <a:t>稟議書作成時間を半減、フォーマット統一</a:t>
            </a:r>
          </a:p>
        </p:txBody>
      </p:sp>
      <p:sp>
        <p:nvSpPr>
          <p:cNvPr id="28" name="Rounded Rectangle 27"/>
          <p:cNvSpPr/>
          <p:nvPr/>
        </p:nvSpPr>
        <p:spPr>
          <a:xfrm>
            <a:off x="7894320" y="1188720"/>
            <a:ext cx="3520440" cy="5120640"/>
          </a:xfrm>
          <a:prstGeom prst="roundRect">
            <a:avLst/>
          </a:prstGeom>
          <a:solidFill>
            <a:srgbClr val="F0F4F8"/>
          </a:solidFill>
          <a:ln w="1270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94320" y="1188720"/>
            <a:ext cx="3520440" cy="63500"/>
          </a:xfrm>
          <a:prstGeom prst="rect">
            <a:avLst/>
          </a:prstGeom>
          <a:solidFill>
            <a:srgbClr val="006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77200" y="1325880"/>
            <a:ext cx="3154680" cy="457200"/>
          </a:xfrm>
          <a:prstGeom prst="rect">
            <a:avLst/>
          </a:prstGeom>
          <a:noFill/>
        </p:spPr>
        <p:txBody>
          <a:bodyPr wrap="square">
            <a:spAutoFit/>
          </a:bodyPr>
          <a:lstStyle/>
          <a:p>
            <a:pPr algn="l">
              <a:defRPr sz="1300" b="1">
                <a:solidFill>
                  <a:srgbClr val="1A1A2E"/>
                </a:solidFill>
                <a:latin typeface="Segoe UI"/>
              </a:defRPr>
            </a:pPr>
            <a:r>
              <a:rPr>
                <a:latin typeface="Segoe UI"/>
                <a:ea typeface="Meiryo UI"/>
              </a:rPr>
              <a:t>BNK-05  支店実績経営分析レポート</a:t>
            </a:r>
          </a:p>
        </p:txBody>
      </p:sp>
      <p:sp>
        <p:nvSpPr>
          <p:cNvPr id="31" name="TextBox 30"/>
          <p:cNvSpPr txBox="1"/>
          <p:nvPr/>
        </p:nvSpPr>
        <p:spPr>
          <a:xfrm>
            <a:off x="8077200" y="1691640"/>
            <a:ext cx="3154680" cy="274320"/>
          </a:xfrm>
          <a:prstGeom prst="rect">
            <a:avLst/>
          </a:prstGeom>
          <a:noFill/>
        </p:spPr>
        <p:txBody>
          <a:bodyPr wrap="square">
            <a:spAutoFit/>
          </a:bodyPr>
          <a:lstStyle/>
          <a:p>
            <a:pPr algn="l">
              <a:defRPr sz="1000" b="0">
                <a:solidFill>
                  <a:srgbClr val="4A5A6A"/>
                </a:solidFill>
                <a:latin typeface="Segoe UI"/>
              </a:defRPr>
            </a:pPr>
            <a:r>
              <a:rPr>
                <a:latin typeface="Segoe UI"/>
                <a:ea typeface="Meiryo UI"/>
              </a:rPr>
              <a:t>経営企画部門</a:t>
            </a:r>
          </a:p>
        </p:txBody>
      </p:sp>
      <p:sp>
        <p:nvSpPr>
          <p:cNvPr id="32" name="Rectangle 31"/>
          <p:cNvSpPr/>
          <p:nvPr/>
        </p:nvSpPr>
        <p:spPr>
          <a:xfrm>
            <a:off x="8077200" y="2011680"/>
            <a:ext cx="3154680" cy="12700"/>
          </a:xfrm>
          <a:prstGeom prst="rect">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77200" y="2103120"/>
            <a:ext cx="3154680" cy="228600"/>
          </a:xfrm>
          <a:prstGeom prst="rect">
            <a:avLst/>
          </a:prstGeom>
          <a:noFill/>
        </p:spPr>
        <p:txBody>
          <a:bodyPr wrap="square">
            <a:spAutoFit/>
          </a:bodyPr>
          <a:lstStyle/>
          <a:p>
            <a:pPr algn="l">
              <a:defRPr sz="900" b="1">
                <a:solidFill>
                  <a:srgbClr val="006EBF"/>
                </a:solidFill>
                <a:latin typeface="Segoe UI"/>
              </a:defRPr>
            </a:pPr>
            <a:r>
              <a:rPr>
                <a:latin typeface="Segoe UI"/>
                <a:ea typeface="Meiryo UI"/>
              </a:rPr>
              <a:t>フロー</a:t>
            </a:r>
          </a:p>
        </p:txBody>
      </p:sp>
      <p:sp>
        <p:nvSpPr>
          <p:cNvPr id="34" name="TextBox 33"/>
          <p:cNvSpPr txBox="1"/>
          <p:nvPr/>
        </p:nvSpPr>
        <p:spPr>
          <a:xfrm>
            <a:off x="8077200" y="2331720"/>
            <a:ext cx="3154680" cy="822960"/>
          </a:xfrm>
          <a:prstGeom prst="rect">
            <a:avLst/>
          </a:prstGeom>
          <a:noFill/>
        </p:spPr>
        <p:txBody>
          <a:bodyPr wrap="square">
            <a:spAutoFit/>
          </a:bodyPr>
          <a:lstStyle/>
          <a:p>
            <a:pPr algn="l">
              <a:defRPr sz="1000" b="0">
                <a:solidFill>
                  <a:srgbClr val="1A1A2E"/>
                </a:solidFill>
                <a:latin typeface="Segoe UI"/>
              </a:defRPr>
            </a:pPr>
            <a:r>
              <a:rPr>
                <a:latin typeface="Segoe UI"/>
                <a:ea typeface="Meiryo UI"/>
              </a:rPr>
              <a:t>開始 → Code配列化 → Iteration[HTTP] → Code集約 → LLM経営分析 → 終了</a:t>
            </a:r>
          </a:p>
        </p:txBody>
      </p:sp>
      <p:sp>
        <p:nvSpPr>
          <p:cNvPr id="35" name="TextBox 34"/>
          <p:cNvSpPr txBox="1"/>
          <p:nvPr/>
        </p:nvSpPr>
        <p:spPr>
          <a:xfrm>
            <a:off x="8077200" y="3291840"/>
            <a:ext cx="3154680" cy="228600"/>
          </a:xfrm>
          <a:prstGeom prst="rect">
            <a:avLst/>
          </a:prstGeom>
          <a:noFill/>
        </p:spPr>
        <p:txBody>
          <a:bodyPr wrap="square">
            <a:spAutoFit/>
          </a:bodyPr>
          <a:lstStyle/>
          <a:p>
            <a:pPr algn="l">
              <a:defRPr sz="900" b="1">
                <a:solidFill>
                  <a:srgbClr val="006EBF"/>
                </a:solidFill>
                <a:latin typeface="Segoe UI"/>
              </a:defRPr>
            </a:pPr>
            <a:r>
              <a:rPr>
                <a:latin typeface="Segoe UI"/>
                <a:ea typeface="Meiryo UI"/>
              </a:rPr>
              <a:t>概要</a:t>
            </a:r>
          </a:p>
        </p:txBody>
      </p:sp>
      <p:sp>
        <p:nvSpPr>
          <p:cNvPr id="36" name="TextBox 35"/>
          <p:cNvSpPr txBox="1"/>
          <p:nvPr/>
        </p:nvSpPr>
        <p:spPr>
          <a:xfrm>
            <a:off x="8077200" y="3520440"/>
            <a:ext cx="3154680" cy="1371600"/>
          </a:xfrm>
          <a:prstGeom prst="rect">
            <a:avLst/>
          </a:prstGeom>
          <a:noFill/>
        </p:spPr>
        <p:txBody>
          <a:bodyPr wrap="square">
            <a:spAutoFit/>
          </a:bodyPr>
          <a:lstStyle/>
          <a:p>
            <a:pPr algn="l">
              <a:defRPr sz="1000" b="0">
                <a:solidFill>
                  <a:srgbClr val="1A1A2E"/>
                </a:solidFill>
                <a:latin typeface="Segoe UI"/>
              </a:defRPr>
            </a:pPr>
            <a:r>
              <a:rPr>
                <a:latin typeface="Segoe UI"/>
                <a:ea typeface="Meiryo UI"/>
              </a:rPr>
              <a:t>複数支店の実績データをAPIから一括取得、全体分析・優良/要改善支店の評価・経営提言を生成。</a:t>
            </a:r>
          </a:p>
        </p:txBody>
      </p:sp>
      <p:sp>
        <p:nvSpPr>
          <p:cNvPr id="37" name="Rounded Rectangle 36"/>
          <p:cNvSpPr/>
          <p:nvPr/>
        </p:nvSpPr>
        <p:spPr>
          <a:xfrm>
            <a:off x="8077200" y="5029200"/>
            <a:ext cx="3154680" cy="9144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68640" y="5074920"/>
            <a:ext cx="2971800" cy="228600"/>
          </a:xfrm>
          <a:prstGeom prst="rect">
            <a:avLst/>
          </a:prstGeom>
          <a:noFill/>
        </p:spPr>
        <p:txBody>
          <a:bodyPr wrap="square">
            <a:spAutoFit/>
          </a:bodyPr>
          <a:lstStyle/>
          <a:p>
            <a:pPr algn="l">
              <a:defRPr sz="900" b="1">
                <a:solidFill>
                  <a:srgbClr val="008A5E"/>
                </a:solidFill>
                <a:latin typeface="Segoe UI"/>
              </a:defRPr>
            </a:pPr>
            <a:r>
              <a:rPr>
                <a:latin typeface="Segoe UI"/>
                <a:ea typeface="Meiryo UI"/>
              </a:rPr>
              <a:t>導入効果</a:t>
            </a:r>
          </a:p>
        </p:txBody>
      </p:sp>
      <p:sp>
        <p:nvSpPr>
          <p:cNvPr id="39" name="TextBox 38"/>
          <p:cNvSpPr txBox="1"/>
          <p:nvPr/>
        </p:nvSpPr>
        <p:spPr>
          <a:xfrm>
            <a:off x="8168640" y="5303520"/>
            <a:ext cx="2971800" cy="548640"/>
          </a:xfrm>
          <a:prstGeom prst="rect">
            <a:avLst/>
          </a:prstGeom>
          <a:noFill/>
        </p:spPr>
        <p:txBody>
          <a:bodyPr wrap="square">
            <a:spAutoFit/>
          </a:bodyPr>
          <a:lstStyle/>
          <a:p>
            <a:pPr algn="l">
              <a:defRPr sz="1000" b="1">
                <a:solidFill>
                  <a:srgbClr val="2E7D32"/>
                </a:solidFill>
                <a:latin typeface="Segoe UI"/>
              </a:defRPr>
            </a:pPr>
            <a:r>
              <a:rPr>
                <a:latin typeface="Segoe UI"/>
                <a:ea typeface="Meiryo UI"/>
              </a:rPr>
              <a:t>レポート作成工数の大幅削減、データドリブン経営</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600" b="1">
                <a:solidFill>
                  <a:srgbClr val="FFFFFF"/>
                </a:solidFill>
                <a:latin typeface="Segoe UI"/>
              </a:defRPr>
            </a:pPr>
            <a:r>
              <a:rPr>
                <a:latin typeface="Segoe UI"/>
                <a:ea typeface="Meiryo UI"/>
              </a:rPr>
              <a:t>詳細 ③  顧客対応・営業支援</a:t>
            </a:r>
          </a:p>
        </p:txBody>
      </p:sp>
      <p:sp>
        <p:nvSpPr>
          <p:cNvPr id="4" name="Rounded Rectangle 3"/>
          <p:cNvSpPr/>
          <p:nvPr/>
        </p:nvSpPr>
        <p:spPr>
          <a:xfrm>
            <a:off x="274320" y="1188720"/>
            <a:ext cx="2697480" cy="5120640"/>
          </a:xfrm>
          <a:prstGeom prst="roundRect">
            <a:avLst/>
          </a:prstGeom>
          <a:solidFill>
            <a:srgbClr val="F0F4F8"/>
          </a:solidFill>
          <a:ln w="1270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188720"/>
            <a:ext cx="2697480" cy="63500"/>
          </a:xfrm>
          <a:prstGeom prst="rect">
            <a:avLst/>
          </a:prstGeom>
          <a:solidFill>
            <a:srgbClr val="006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25880"/>
            <a:ext cx="2331720" cy="457200"/>
          </a:xfrm>
          <a:prstGeom prst="rect">
            <a:avLst/>
          </a:prstGeom>
          <a:noFill/>
        </p:spPr>
        <p:txBody>
          <a:bodyPr wrap="square">
            <a:spAutoFit/>
          </a:bodyPr>
          <a:lstStyle/>
          <a:p>
            <a:pPr algn="l">
              <a:defRPr sz="1300" b="1">
                <a:solidFill>
                  <a:srgbClr val="1A1A2E"/>
                </a:solidFill>
                <a:latin typeface="Segoe UI"/>
              </a:defRPr>
            </a:pPr>
            <a:r>
              <a:rPr>
                <a:latin typeface="Segoe UI"/>
                <a:ea typeface="Meiryo UI"/>
              </a:rPr>
              <a:t>BNK-03  顧客問い合わせ対応チャット</a:t>
            </a:r>
          </a:p>
        </p:txBody>
      </p:sp>
      <p:sp>
        <p:nvSpPr>
          <p:cNvPr id="7" name="TextBox 6"/>
          <p:cNvSpPr txBox="1"/>
          <p:nvPr/>
        </p:nvSpPr>
        <p:spPr>
          <a:xfrm>
            <a:off x="457200" y="1691640"/>
            <a:ext cx="2331720" cy="274320"/>
          </a:xfrm>
          <a:prstGeom prst="rect">
            <a:avLst/>
          </a:prstGeom>
          <a:noFill/>
        </p:spPr>
        <p:txBody>
          <a:bodyPr wrap="square">
            <a:spAutoFit/>
          </a:bodyPr>
          <a:lstStyle/>
          <a:p>
            <a:pPr algn="l">
              <a:defRPr sz="1000" b="0">
                <a:solidFill>
                  <a:srgbClr val="4A5A6A"/>
                </a:solidFill>
                <a:latin typeface="Segoe UI"/>
              </a:defRPr>
            </a:pPr>
            <a:r>
              <a:rPr>
                <a:latin typeface="Segoe UI"/>
                <a:ea typeface="Meiryo UI"/>
              </a:rPr>
              <a:t>コールセンター・窓口</a:t>
            </a:r>
          </a:p>
        </p:txBody>
      </p:sp>
      <p:sp>
        <p:nvSpPr>
          <p:cNvPr id="8" name="Rectangle 7"/>
          <p:cNvSpPr/>
          <p:nvPr/>
        </p:nvSpPr>
        <p:spPr>
          <a:xfrm>
            <a:off x="457200" y="2011680"/>
            <a:ext cx="2331720" cy="12700"/>
          </a:xfrm>
          <a:prstGeom prst="rect">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103120"/>
            <a:ext cx="2331720" cy="228600"/>
          </a:xfrm>
          <a:prstGeom prst="rect">
            <a:avLst/>
          </a:prstGeom>
          <a:noFill/>
        </p:spPr>
        <p:txBody>
          <a:bodyPr wrap="square">
            <a:spAutoFit/>
          </a:bodyPr>
          <a:lstStyle/>
          <a:p>
            <a:pPr algn="l">
              <a:defRPr sz="900" b="1">
                <a:solidFill>
                  <a:srgbClr val="006EBF"/>
                </a:solidFill>
                <a:latin typeface="Segoe UI"/>
              </a:defRPr>
            </a:pPr>
            <a:r>
              <a:rPr>
                <a:latin typeface="Segoe UI"/>
                <a:ea typeface="Meiryo UI"/>
              </a:rPr>
              <a:t>フロー</a:t>
            </a:r>
          </a:p>
        </p:txBody>
      </p:sp>
      <p:sp>
        <p:nvSpPr>
          <p:cNvPr id="10" name="TextBox 9"/>
          <p:cNvSpPr txBox="1"/>
          <p:nvPr/>
        </p:nvSpPr>
        <p:spPr>
          <a:xfrm>
            <a:off x="457200" y="2331720"/>
            <a:ext cx="2331720" cy="822960"/>
          </a:xfrm>
          <a:prstGeom prst="rect">
            <a:avLst/>
          </a:prstGeom>
          <a:noFill/>
        </p:spPr>
        <p:txBody>
          <a:bodyPr wrap="square">
            <a:spAutoFit/>
          </a:bodyPr>
          <a:lstStyle/>
          <a:p>
            <a:pPr algn="l">
              <a:defRPr sz="1000" b="0">
                <a:solidFill>
                  <a:srgbClr val="1A1A2E"/>
                </a:solidFill>
                <a:latin typeface="Segoe UI"/>
              </a:defRPr>
            </a:pPr>
            <a:r>
              <a:rPr>
                <a:latin typeface="Segoe UI"/>
                <a:ea typeface="Meiryo UI"/>
              </a:rPr>
              <a:t>開始 → QC分類（口座/ローン/カード/その他）→ 専門LLM → 回答</a:t>
            </a:r>
          </a:p>
        </p:txBody>
      </p:sp>
      <p:sp>
        <p:nvSpPr>
          <p:cNvPr id="11" name="TextBox 10"/>
          <p:cNvSpPr txBox="1"/>
          <p:nvPr/>
        </p:nvSpPr>
        <p:spPr>
          <a:xfrm>
            <a:off x="457200" y="3291840"/>
            <a:ext cx="2331720" cy="228600"/>
          </a:xfrm>
          <a:prstGeom prst="rect">
            <a:avLst/>
          </a:prstGeom>
          <a:noFill/>
        </p:spPr>
        <p:txBody>
          <a:bodyPr wrap="square">
            <a:spAutoFit/>
          </a:bodyPr>
          <a:lstStyle/>
          <a:p>
            <a:pPr algn="l">
              <a:defRPr sz="900" b="1">
                <a:solidFill>
                  <a:srgbClr val="006EBF"/>
                </a:solidFill>
                <a:latin typeface="Segoe UI"/>
              </a:defRPr>
            </a:pPr>
            <a:r>
              <a:rPr>
                <a:latin typeface="Segoe UI"/>
                <a:ea typeface="Meiryo UI"/>
              </a:rPr>
              <a:t>概要</a:t>
            </a:r>
          </a:p>
        </p:txBody>
      </p:sp>
      <p:sp>
        <p:nvSpPr>
          <p:cNvPr id="12" name="TextBox 11"/>
          <p:cNvSpPr txBox="1"/>
          <p:nvPr/>
        </p:nvSpPr>
        <p:spPr>
          <a:xfrm>
            <a:off x="457200" y="3520440"/>
            <a:ext cx="2331720" cy="1371600"/>
          </a:xfrm>
          <a:prstGeom prst="rect">
            <a:avLst/>
          </a:prstGeom>
          <a:noFill/>
        </p:spPr>
        <p:txBody>
          <a:bodyPr wrap="square">
            <a:spAutoFit/>
          </a:bodyPr>
          <a:lstStyle/>
          <a:p>
            <a:pPr algn="l">
              <a:defRPr sz="1000" b="0">
                <a:solidFill>
                  <a:srgbClr val="1A1A2E"/>
                </a:solidFill>
                <a:latin typeface="Segoe UI"/>
              </a:defRPr>
            </a:pPr>
            <a:r>
              <a:rPr>
                <a:latin typeface="Segoe UI"/>
                <a:ea typeface="Meiryo UI"/>
              </a:rPr>
              <a:t>問い合わせを4分類し、口座系はナレッジ検索＋LLM、他は専用LLMで回答。会話履歴保持。</a:t>
            </a:r>
          </a:p>
        </p:txBody>
      </p:sp>
      <p:sp>
        <p:nvSpPr>
          <p:cNvPr id="13" name="Rounded Rectangle 12"/>
          <p:cNvSpPr/>
          <p:nvPr/>
        </p:nvSpPr>
        <p:spPr>
          <a:xfrm>
            <a:off x="457200" y="5029200"/>
            <a:ext cx="2331720" cy="9144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5074920"/>
            <a:ext cx="2148840" cy="228600"/>
          </a:xfrm>
          <a:prstGeom prst="rect">
            <a:avLst/>
          </a:prstGeom>
          <a:noFill/>
        </p:spPr>
        <p:txBody>
          <a:bodyPr wrap="square">
            <a:spAutoFit/>
          </a:bodyPr>
          <a:lstStyle/>
          <a:p>
            <a:pPr algn="l">
              <a:defRPr sz="900" b="1">
                <a:solidFill>
                  <a:srgbClr val="008A5E"/>
                </a:solidFill>
                <a:latin typeface="Segoe UI"/>
              </a:defRPr>
            </a:pPr>
            <a:r>
              <a:rPr>
                <a:latin typeface="Segoe UI"/>
                <a:ea typeface="Meiryo UI"/>
              </a:rPr>
              <a:t>導入効果</a:t>
            </a:r>
          </a:p>
        </p:txBody>
      </p:sp>
      <p:sp>
        <p:nvSpPr>
          <p:cNvPr id="15" name="TextBox 14"/>
          <p:cNvSpPr txBox="1"/>
          <p:nvPr/>
        </p:nvSpPr>
        <p:spPr>
          <a:xfrm>
            <a:off x="548640" y="5303520"/>
            <a:ext cx="2148840" cy="548640"/>
          </a:xfrm>
          <a:prstGeom prst="rect">
            <a:avLst/>
          </a:prstGeom>
          <a:noFill/>
        </p:spPr>
        <p:txBody>
          <a:bodyPr wrap="square">
            <a:spAutoFit/>
          </a:bodyPr>
          <a:lstStyle/>
          <a:p>
            <a:pPr algn="l">
              <a:defRPr sz="1000" b="1">
                <a:solidFill>
                  <a:srgbClr val="2E7D32"/>
                </a:solidFill>
                <a:latin typeface="Segoe UI"/>
              </a:defRPr>
            </a:pPr>
            <a:r>
              <a:rPr>
                <a:latin typeface="Segoe UI"/>
                <a:ea typeface="Meiryo UI"/>
              </a:rPr>
              <a:t>応対品質の均一化、対応時間短縮</a:t>
            </a:r>
          </a:p>
        </p:txBody>
      </p:sp>
      <p:sp>
        <p:nvSpPr>
          <p:cNvPr id="16" name="Rounded Rectangle 15"/>
          <p:cNvSpPr/>
          <p:nvPr/>
        </p:nvSpPr>
        <p:spPr>
          <a:xfrm>
            <a:off x="3154679" y="1188720"/>
            <a:ext cx="2697480" cy="5120640"/>
          </a:xfrm>
          <a:prstGeom prst="roundRect">
            <a:avLst/>
          </a:prstGeom>
          <a:solidFill>
            <a:srgbClr val="F0F4F8"/>
          </a:solidFill>
          <a:ln w="1270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154679" y="1188720"/>
            <a:ext cx="2697480" cy="63500"/>
          </a:xfrm>
          <a:prstGeom prst="rect">
            <a:avLst/>
          </a:prstGeom>
          <a:solidFill>
            <a:srgbClr val="006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37559" y="1325880"/>
            <a:ext cx="2331720" cy="457200"/>
          </a:xfrm>
          <a:prstGeom prst="rect">
            <a:avLst/>
          </a:prstGeom>
          <a:noFill/>
        </p:spPr>
        <p:txBody>
          <a:bodyPr wrap="square">
            <a:spAutoFit/>
          </a:bodyPr>
          <a:lstStyle/>
          <a:p>
            <a:pPr algn="l">
              <a:defRPr sz="1300" b="1">
                <a:solidFill>
                  <a:srgbClr val="1A1A2E"/>
                </a:solidFill>
                <a:latin typeface="Segoe UI"/>
              </a:defRPr>
            </a:pPr>
            <a:r>
              <a:rPr>
                <a:latin typeface="Segoe UI"/>
                <a:ea typeface="Meiryo UI"/>
              </a:rPr>
              <a:t>BNK-06  苦情・クレーム自動分類</a:t>
            </a:r>
          </a:p>
        </p:txBody>
      </p:sp>
      <p:sp>
        <p:nvSpPr>
          <p:cNvPr id="19" name="TextBox 18"/>
          <p:cNvSpPr txBox="1"/>
          <p:nvPr/>
        </p:nvSpPr>
        <p:spPr>
          <a:xfrm>
            <a:off x="3337559" y="1691640"/>
            <a:ext cx="2331720" cy="274320"/>
          </a:xfrm>
          <a:prstGeom prst="rect">
            <a:avLst/>
          </a:prstGeom>
          <a:noFill/>
        </p:spPr>
        <p:txBody>
          <a:bodyPr wrap="square">
            <a:spAutoFit/>
          </a:bodyPr>
          <a:lstStyle/>
          <a:p>
            <a:pPr algn="l">
              <a:defRPr sz="1000" b="0">
                <a:solidFill>
                  <a:srgbClr val="4A5A6A"/>
                </a:solidFill>
                <a:latin typeface="Segoe UI"/>
              </a:defRPr>
            </a:pPr>
            <a:r>
              <a:rPr>
                <a:latin typeface="Segoe UI"/>
                <a:ea typeface="Meiryo UI"/>
              </a:rPr>
              <a:t>顧客相談室・コンプライアンス部門</a:t>
            </a:r>
          </a:p>
        </p:txBody>
      </p:sp>
      <p:sp>
        <p:nvSpPr>
          <p:cNvPr id="20" name="Rectangle 19"/>
          <p:cNvSpPr/>
          <p:nvPr/>
        </p:nvSpPr>
        <p:spPr>
          <a:xfrm>
            <a:off x="3337559" y="2011680"/>
            <a:ext cx="2331720" cy="12700"/>
          </a:xfrm>
          <a:prstGeom prst="rect">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37559" y="2103120"/>
            <a:ext cx="2331720" cy="228600"/>
          </a:xfrm>
          <a:prstGeom prst="rect">
            <a:avLst/>
          </a:prstGeom>
          <a:noFill/>
        </p:spPr>
        <p:txBody>
          <a:bodyPr wrap="square">
            <a:spAutoFit/>
          </a:bodyPr>
          <a:lstStyle/>
          <a:p>
            <a:pPr algn="l">
              <a:defRPr sz="900" b="1">
                <a:solidFill>
                  <a:srgbClr val="006EBF"/>
                </a:solidFill>
                <a:latin typeface="Segoe UI"/>
              </a:defRPr>
            </a:pPr>
            <a:r>
              <a:rPr>
                <a:latin typeface="Segoe UI"/>
                <a:ea typeface="Meiryo UI"/>
              </a:rPr>
              <a:t>フロー</a:t>
            </a:r>
          </a:p>
        </p:txBody>
      </p:sp>
      <p:sp>
        <p:nvSpPr>
          <p:cNvPr id="22" name="TextBox 21"/>
          <p:cNvSpPr txBox="1"/>
          <p:nvPr/>
        </p:nvSpPr>
        <p:spPr>
          <a:xfrm>
            <a:off x="3337559" y="2331720"/>
            <a:ext cx="2331720" cy="822960"/>
          </a:xfrm>
          <a:prstGeom prst="rect">
            <a:avLst/>
          </a:prstGeom>
          <a:noFill/>
        </p:spPr>
        <p:txBody>
          <a:bodyPr wrap="square">
            <a:spAutoFit/>
          </a:bodyPr>
          <a:lstStyle/>
          <a:p>
            <a:pPr algn="l">
              <a:defRPr sz="1000" b="0">
                <a:solidFill>
                  <a:srgbClr val="1A1A2E"/>
                </a:solidFill>
                <a:latin typeface="Segoe UI"/>
              </a:defRPr>
            </a:pPr>
            <a:r>
              <a:rPr>
                <a:latin typeface="Segoe UI"/>
                <a:ea typeface="Meiryo UI"/>
              </a:rPr>
              <a:t>開始 → QC分類（5カテゴリ）→ 専門LLM → 結果集約 → 終了</a:t>
            </a:r>
          </a:p>
        </p:txBody>
      </p:sp>
      <p:sp>
        <p:nvSpPr>
          <p:cNvPr id="23" name="TextBox 22"/>
          <p:cNvSpPr txBox="1"/>
          <p:nvPr/>
        </p:nvSpPr>
        <p:spPr>
          <a:xfrm>
            <a:off x="3337559" y="3291840"/>
            <a:ext cx="2331720" cy="228600"/>
          </a:xfrm>
          <a:prstGeom prst="rect">
            <a:avLst/>
          </a:prstGeom>
          <a:noFill/>
        </p:spPr>
        <p:txBody>
          <a:bodyPr wrap="square">
            <a:spAutoFit/>
          </a:bodyPr>
          <a:lstStyle/>
          <a:p>
            <a:pPr algn="l">
              <a:defRPr sz="900" b="1">
                <a:solidFill>
                  <a:srgbClr val="006EBF"/>
                </a:solidFill>
                <a:latin typeface="Segoe UI"/>
              </a:defRPr>
            </a:pPr>
            <a:r>
              <a:rPr>
                <a:latin typeface="Segoe UI"/>
                <a:ea typeface="Meiryo UI"/>
              </a:rPr>
              <a:t>概要</a:t>
            </a:r>
          </a:p>
        </p:txBody>
      </p:sp>
      <p:sp>
        <p:nvSpPr>
          <p:cNvPr id="24" name="TextBox 23"/>
          <p:cNvSpPr txBox="1"/>
          <p:nvPr/>
        </p:nvSpPr>
        <p:spPr>
          <a:xfrm>
            <a:off x="3337559" y="3520440"/>
            <a:ext cx="2331720" cy="1371600"/>
          </a:xfrm>
          <a:prstGeom prst="rect">
            <a:avLst/>
          </a:prstGeom>
          <a:noFill/>
        </p:spPr>
        <p:txBody>
          <a:bodyPr wrap="square">
            <a:spAutoFit/>
          </a:bodyPr>
          <a:lstStyle/>
          <a:p>
            <a:pPr algn="l">
              <a:defRPr sz="1000" b="0">
                <a:solidFill>
                  <a:srgbClr val="1A1A2E"/>
                </a:solidFill>
                <a:latin typeface="Segoe UI"/>
              </a:defRPr>
            </a:pPr>
            <a:r>
              <a:rPr>
                <a:latin typeface="Segoe UI"/>
                <a:ea typeface="Meiryo UI"/>
              </a:rPr>
              <a:t>苦情を5カテゴリに自動分類、感情分析・対応案・エスカレーション要否を生成。</a:t>
            </a:r>
          </a:p>
        </p:txBody>
      </p:sp>
      <p:sp>
        <p:nvSpPr>
          <p:cNvPr id="25" name="Rounded Rectangle 24"/>
          <p:cNvSpPr/>
          <p:nvPr/>
        </p:nvSpPr>
        <p:spPr>
          <a:xfrm>
            <a:off x="3337559" y="5029200"/>
            <a:ext cx="2331720" cy="9144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28999" y="5074920"/>
            <a:ext cx="2148840" cy="228600"/>
          </a:xfrm>
          <a:prstGeom prst="rect">
            <a:avLst/>
          </a:prstGeom>
          <a:noFill/>
        </p:spPr>
        <p:txBody>
          <a:bodyPr wrap="square">
            <a:spAutoFit/>
          </a:bodyPr>
          <a:lstStyle/>
          <a:p>
            <a:pPr algn="l">
              <a:defRPr sz="900" b="1">
                <a:solidFill>
                  <a:srgbClr val="008A5E"/>
                </a:solidFill>
                <a:latin typeface="Segoe UI"/>
              </a:defRPr>
            </a:pPr>
            <a:r>
              <a:rPr>
                <a:latin typeface="Segoe UI"/>
                <a:ea typeface="Meiryo UI"/>
              </a:rPr>
              <a:t>導入効果</a:t>
            </a:r>
          </a:p>
        </p:txBody>
      </p:sp>
      <p:sp>
        <p:nvSpPr>
          <p:cNvPr id="27" name="TextBox 26"/>
          <p:cNvSpPr txBox="1"/>
          <p:nvPr/>
        </p:nvSpPr>
        <p:spPr>
          <a:xfrm>
            <a:off x="3428999" y="5303520"/>
            <a:ext cx="2148840" cy="548640"/>
          </a:xfrm>
          <a:prstGeom prst="rect">
            <a:avLst/>
          </a:prstGeom>
          <a:noFill/>
        </p:spPr>
        <p:txBody>
          <a:bodyPr wrap="square">
            <a:spAutoFit/>
          </a:bodyPr>
          <a:lstStyle/>
          <a:p>
            <a:pPr algn="l">
              <a:defRPr sz="1000" b="1">
                <a:solidFill>
                  <a:srgbClr val="2E7D32"/>
                </a:solidFill>
                <a:latin typeface="Segoe UI"/>
              </a:defRPr>
            </a:pPr>
            <a:r>
              <a:rPr>
                <a:latin typeface="Segoe UI"/>
                <a:ea typeface="Meiryo UI"/>
              </a:rPr>
              <a:t>苦情対応の初動迅速化、分類精度向上</a:t>
            </a:r>
          </a:p>
        </p:txBody>
      </p:sp>
      <p:sp>
        <p:nvSpPr>
          <p:cNvPr id="28" name="Rounded Rectangle 27"/>
          <p:cNvSpPr/>
          <p:nvPr/>
        </p:nvSpPr>
        <p:spPr>
          <a:xfrm>
            <a:off x="6035040" y="1188720"/>
            <a:ext cx="2697480" cy="5120640"/>
          </a:xfrm>
          <a:prstGeom prst="roundRect">
            <a:avLst/>
          </a:prstGeom>
          <a:solidFill>
            <a:srgbClr val="F0F4F8"/>
          </a:solidFill>
          <a:ln w="1270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035040" y="1188720"/>
            <a:ext cx="2697480" cy="63500"/>
          </a:xfrm>
          <a:prstGeom prst="rect">
            <a:avLst/>
          </a:prstGeom>
          <a:solidFill>
            <a:srgbClr val="006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0" y="1325880"/>
            <a:ext cx="2331720" cy="457200"/>
          </a:xfrm>
          <a:prstGeom prst="rect">
            <a:avLst/>
          </a:prstGeom>
          <a:noFill/>
        </p:spPr>
        <p:txBody>
          <a:bodyPr wrap="square">
            <a:spAutoFit/>
          </a:bodyPr>
          <a:lstStyle/>
          <a:p>
            <a:pPr algn="l">
              <a:defRPr sz="1300" b="1">
                <a:solidFill>
                  <a:srgbClr val="1A1A2E"/>
                </a:solidFill>
                <a:latin typeface="Segoe UI"/>
              </a:defRPr>
            </a:pPr>
            <a:r>
              <a:rPr>
                <a:latin typeface="Segoe UI"/>
                <a:ea typeface="Meiryo UI"/>
              </a:rPr>
              <a:t>BNK-08  外国為替レート照会</a:t>
            </a:r>
          </a:p>
        </p:txBody>
      </p:sp>
      <p:sp>
        <p:nvSpPr>
          <p:cNvPr id="31" name="TextBox 30"/>
          <p:cNvSpPr txBox="1"/>
          <p:nvPr/>
        </p:nvSpPr>
        <p:spPr>
          <a:xfrm>
            <a:off x="6217920" y="1691640"/>
            <a:ext cx="2331720" cy="274320"/>
          </a:xfrm>
          <a:prstGeom prst="rect">
            <a:avLst/>
          </a:prstGeom>
          <a:noFill/>
        </p:spPr>
        <p:txBody>
          <a:bodyPr wrap="square">
            <a:spAutoFit/>
          </a:bodyPr>
          <a:lstStyle/>
          <a:p>
            <a:pPr algn="l">
              <a:defRPr sz="1000" b="0">
                <a:solidFill>
                  <a:srgbClr val="4A5A6A"/>
                </a:solidFill>
                <a:latin typeface="Segoe UI"/>
              </a:defRPr>
            </a:pPr>
            <a:r>
              <a:rPr>
                <a:latin typeface="Segoe UI"/>
                <a:ea typeface="Meiryo UI"/>
              </a:rPr>
              <a:t>外国為替窓口・営業部門</a:t>
            </a:r>
          </a:p>
        </p:txBody>
      </p:sp>
      <p:sp>
        <p:nvSpPr>
          <p:cNvPr id="32" name="Rectangle 31"/>
          <p:cNvSpPr/>
          <p:nvPr/>
        </p:nvSpPr>
        <p:spPr>
          <a:xfrm>
            <a:off x="6217920" y="2011680"/>
            <a:ext cx="2331720" cy="12700"/>
          </a:xfrm>
          <a:prstGeom prst="rect">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0" y="2103120"/>
            <a:ext cx="2331720" cy="228600"/>
          </a:xfrm>
          <a:prstGeom prst="rect">
            <a:avLst/>
          </a:prstGeom>
          <a:noFill/>
        </p:spPr>
        <p:txBody>
          <a:bodyPr wrap="square">
            <a:spAutoFit/>
          </a:bodyPr>
          <a:lstStyle/>
          <a:p>
            <a:pPr algn="l">
              <a:defRPr sz="900" b="1">
                <a:solidFill>
                  <a:srgbClr val="006EBF"/>
                </a:solidFill>
                <a:latin typeface="Segoe UI"/>
              </a:defRPr>
            </a:pPr>
            <a:r>
              <a:rPr>
                <a:latin typeface="Segoe UI"/>
                <a:ea typeface="Meiryo UI"/>
              </a:rPr>
              <a:t>フロー</a:t>
            </a:r>
          </a:p>
        </p:txBody>
      </p:sp>
      <p:sp>
        <p:nvSpPr>
          <p:cNvPr id="34" name="TextBox 33"/>
          <p:cNvSpPr txBox="1"/>
          <p:nvPr/>
        </p:nvSpPr>
        <p:spPr>
          <a:xfrm>
            <a:off x="6217920" y="2331720"/>
            <a:ext cx="2331720" cy="822960"/>
          </a:xfrm>
          <a:prstGeom prst="rect">
            <a:avLst/>
          </a:prstGeom>
          <a:noFill/>
        </p:spPr>
        <p:txBody>
          <a:bodyPr wrap="square">
            <a:spAutoFit/>
          </a:bodyPr>
          <a:lstStyle/>
          <a:p>
            <a:pPr algn="l">
              <a:defRPr sz="1000" b="0">
                <a:solidFill>
                  <a:srgbClr val="1A1A2E"/>
                </a:solidFill>
                <a:latin typeface="Segoe UI"/>
              </a:defRPr>
            </a:pPr>
            <a:r>
              <a:rPr>
                <a:latin typeface="Segoe UI"/>
                <a:ea typeface="Meiryo UI"/>
              </a:rPr>
              <a:t>開始 → HTTP（レートAPI）→ Code解析 → LLM解説 → 終了</a:t>
            </a:r>
          </a:p>
        </p:txBody>
      </p:sp>
      <p:sp>
        <p:nvSpPr>
          <p:cNvPr id="35" name="TextBox 34"/>
          <p:cNvSpPr txBox="1"/>
          <p:nvPr/>
        </p:nvSpPr>
        <p:spPr>
          <a:xfrm>
            <a:off x="6217920" y="3291840"/>
            <a:ext cx="2331720" cy="228600"/>
          </a:xfrm>
          <a:prstGeom prst="rect">
            <a:avLst/>
          </a:prstGeom>
          <a:noFill/>
        </p:spPr>
        <p:txBody>
          <a:bodyPr wrap="square">
            <a:spAutoFit/>
          </a:bodyPr>
          <a:lstStyle/>
          <a:p>
            <a:pPr algn="l">
              <a:defRPr sz="900" b="1">
                <a:solidFill>
                  <a:srgbClr val="006EBF"/>
                </a:solidFill>
                <a:latin typeface="Segoe UI"/>
              </a:defRPr>
            </a:pPr>
            <a:r>
              <a:rPr>
                <a:latin typeface="Segoe UI"/>
                <a:ea typeface="Meiryo UI"/>
              </a:rPr>
              <a:t>概要</a:t>
            </a:r>
          </a:p>
        </p:txBody>
      </p:sp>
      <p:sp>
        <p:nvSpPr>
          <p:cNvPr id="36" name="TextBox 35"/>
          <p:cNvSpPr txBox="1"/>
          <p:nvPr/>
        </p:nvSpPr>
        <p:spPr>
          <a:xfrm>
            <a:off x="6217920" y="3520440"/>
            <a:ext cx="2331720" cy="1371600"/>
          </a:xfrm>
          <a:prstGeom prst="rect">
            <a:avLst/>
          </a:prstGeom>
          <a:noFill/>
        </p:spPr>
        <p:txBody>
          <a:bodyPr wrap="square">
            <a:spAutoFit/>
          </a:bodyPr>
          <a:lstStyle/>
          <a:p>
            <a:pPr algn="l">
              <a:defRPr sz="1000" b="0">
                <a:solidFill>
                  <a:srgbClr val="1A1A2E"/>
                </a:solidFill>
                <a:latin typeface="Segoe UI"/>
              </a:defRPr>
            </a:pPr>
            <a:r>
              <a:rPr>
                <a:latin typeface="Segoe UI"/>
                <a:ea typeface="Meiryo UI"/>
              </a:rPr>
              <a:t>通貨ペアの最新レートをAPIから取得し、顧客の利用目的に応じた解説を自動生成。</a:t>
            </a:r>
          </a:p>
        </p:txBody>
      </p:sp>
      <p:sp>
        <p:nvSpPr>
          <p:cNvPr id="37" name="Rounded Rectangle 36"/>
          <p:cNvSpPr/>
          <p:nvPr/>
        </p:nvSpPr>
        <p:spPr>
          <a:xfrm>
            <a:off x="6217920" y="5029200"/>
            <a:ext cx="2331720" cy="9144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9360" y="5074920"/>
            <a:ext cx="2148840" cy="228600"/>
          </a:xfrm>
          <a:prstGeom prst="rect">
            <a:avLst/>
          </a:prstGeom>
          <a:noFill/>
        </p:spPr>
        <p:txBody>
          <a:bodyPr wrap="square">
            <a:spAutoFit/>
          </a:bodyPr>
          <a:lstStyle/>
          <a:p>
            <a:pPr algn="l">
              <a:defRPr sz="900" b="1">
                <a:solidFill>
                  <a:srgbClr val="008A5E"/>
                </a:solidFill>
                <a:latin typeface="Segoe UI"/>
              </a:defRPr>
            </a:pPr>
            <a:r>
              <a:rPr>
                <a:latin typeface="Segoe UI"/>
                <a:ea typeface="Meiryo UI"/>
              </a:rPr>
              <a:t>導入効果</a:t>
            </a:r>
          </a:p>
        </p:txBody>
      </p:sp>
      <p:sp>
        <p:nvSpPr>
          <p:cNvPr id="39" name="TextBox 38"/>
          <p:cNvSpPr txBox="1"/>
          <p:nvPr/>
        </p:nvSpPr>
        <p:spPr>
          <a:xfrm>
            <a:off x="6309360" y="5303520"/>
            <a:ext cx="2148840" cy="548640"/>
          </a:xfrm>
          <a:prstGeom prst="rect">
            <a:avLst/>
          </a:prstGeom>
          <a:noFill/>
        </p:spPr>
        <p:txBody>
          <a:bodyPr wrap="square">
            <a:spAutoFit/>
          </a:bodyPr>
          <a:lstStyle/>
          <a:p>
            <a:pPr algn="l">
              <a:defRPr sz="1000" b="1">
                <a:solidFill>
                  <a:srgbClr val="2E7D32"/>
                </a:solidFill>
                <a:latin typeface="Segoe UI"/>
              </a:defRPr>
            </a:pPr>
            <a:r>
              <a:rPr>
                <a:latin typeface="Segoe UI"/>
                <a:ea typeface="Meiryo UI"/>
              </a:rPr>
              <a:t>窓口対応の即時化、目的別アドバイス自動化</a:t>
            </a:r>
          </a:p>
        </p:txBody>
      </p:sp>
      <p:sp>
        <p:nvSpPr>
          <p:cNvPr id="40" name="Rounded Rectangle 39"/>
          <p:cNvSpPr/>
          <p:nvPr/>
        </p:nvSpPr>
        <p:spPr>
          <a:xfrm>
            <a:off x="8915400" y="1188720"/>
            <a:ext cx="2697480" cy="5120640"/>
          </a:xfrm>
          <a:prstGeom prst="roundRect">
            <a:avLst/>
          </a:prstGeom>
          <a:solidFill>
            <a:srgbClr val="F0F4F8"/>
          </a:solidFill>
          <a:ln w="1270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915400" y="1188720"/>
            <a:ext cx="2697480" cy="63500"/>
          </a:xfrm>
          <a:prstGeom prst="rect">
            <a:avLst/>
          </a:prstGeom>
          <a:solidFill>
            <a:srgbClr val="006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098280" y="1325880"/>
            <a:ext cx="2331720" cy="457200"/>
          </a:xfrm>
          <a:prstGeom prst="rect">
            <a:avLst/>
          </a:prstGeom>
          <a:noFill/>
        </p:spPr>
        <p:txBody>
          <a:bodyPr wrap="square">
            <a:spAutoFit/>
          </a:bodyPr>
          <a:lstStyle/>
          <a:p>
            <a:pPr algn="l">
              <a:defRPr sz="1300" b="1">
                <a:solidFill>
                  <a:srgbClr val="1A1A2E"/>
                </a:solidFill>
                <a:latin typeface="Segoe UI"/>
              </a:defRPr>
            </a:pPr>
            <a:r>
              <a:rPr>
                <a:latin typeface="Segoe UI"/>
                <a:ea typeface="Meiryo UI"/>
              </a:rPr>
              <a:t>BNK-10  金融商品比較レポート</a:t>
            </a:r>
          </a:p>
        </p:txBody>
      </p:sp>
      <p:sp>
        <p:nvSpPr>
          <p:cNvPr id="43" name="TextBox 42"/>
          <p:cNvSpPr txBox="1"/>
          <p:nvPr/>
        </p:nvSpPr>
        <p:spPr>
          <a:xfrm>
            <a:off x="9098280" y="1691640"/>
            <a:ext cx="2331720" cy="274320"/>
          </a:xfrm>
          <a:prstGeom prst="rect">
            <a:avLst/>
          </a:prstGeom>
          <a:noFill/>
        </p:spPr>
        <p:txBody>
          <a:bodyPr wrap="square">
            <a:spAutoFit/>
          </a:bodyPr>
          <a:lstStyle/>
          <a:p>
            <a:pPr algn="l">
              <a:defRPr sz="1000" b="0">
                <a:solidFill>
                  <a:srgbClr val="4A5A6A"/>
                </a:solidFill>
                <a:latin typeface="Segoe UI"/>
              </a:defRPr>
            </a:pPr>
            <a:r>
              <a:rPr>
                <a:latin typeface="Segoe UI"/>
                <a:ea typeface="Meiryo UI"/>
              </a:rPr>
              <a:t>商品企画部門・営業推進部門</a:t>
            </a:r>
          </a:p>
        </p:txBody>
      </p:sp>
      <p:sp>
        <p:nvSpPr>
          <p:cNvPr id="44" name="Rectangle 43"/>
          <p:cNvSpPr/>
          <p:nvPr/>
        </p:nvSpPr>
        <p:spPr>
          <a:xfrm>
            <a:off x="9098280" y="2011680"/>
            <a:ext cx="2331720" cy="12700"/>
          </a:xfrm>
          <a:prstGeom prst="rect">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098280" y="2103120"/>
            <a:ext cx="2331720" cy="228600"/>
          </a:xfrm>
          <a:prstGeom prst="rect">
            <a:avLst/>
          </a:prstGeom>
          <a:noFill/>
        </p:spPr>
        <p:txBody>
          <a:bodyPr wrap="square">
            <a:spAutoFit/>
          </a:bodyPr>
          <a:lstStyle/>
          <a:p>
            <a:pPr algn="l">
              <a:defRPr sz="900" b="1">
                <a:solidFill>
                  <a:srgbClr val="006EBF"/>
                </a:solidFill>
                <a:latin typeface="Segoe UI"/>
              </a:defRPr>
            </a:pPr>
            <a:r>
              <a:rPr>
                <a:latin typeface="Segoe UI"/>
                <a:ea typeface="Meiryo UI"/>
              </a:rPr>
              <a:t>フロー</a:t>
            </a:r>
          </a:p>
        </p:txBody>
      </p:sp>
      <p:sp>
        <p:nvSpPr>
          <p:cNvPr id="46" name="TextBox 45"/>
          <p:cNvSpPr txBox="1"/>
          <p:nvPr/>
        </p:nvSpPr>
        <p:spPr>
          <a:xfrm>
            <a:off x="9098280" y="2331720"/>
            <a:ext cx="2331720" cy="822960"/>
          </a:xfrm>
          <a:prstGeom prst="rect">
            <a:avLst/>
          </a:prstGeom>
          <a:noFill/>
        </p:spPr>
        <p:txBody>
          <a:bodyPr wrap="square">
            <a:spAutoFit/>
          </a:bodyPr>
          <a:lstStyle/>
          <a:p>
            <a:pPr algn="l">
              <a:defRPr sz="1000" b="0">
                <a:solidFill>
                  <a:srgbClr val="1A1A2E"/>
                </a:solidFill>
                <a:latin typeface="Segoe UI"/>
              </a:defRPr>
            </a:pPr>
            <a:r>
              <a:rPr>
                <a:latin typeface="Segoe UI"/>
                <a:ea typeface="Meiryo UI"/>
              </a:rPr>
              <a:t>開始 → Iteration[LLM個別分析] → 集約 → LLM比較総括 → 終了</a:t>
            </a:r>
          </a:p>
        </p:txBody>
      </p:sp>
      <p:sp>
        <p:nvSpPr>
          <p:cNvPr id="47" name="TextBox 46"/>
          <p:cNvSpPr txBox="1"/>
          <p:nvPr/>
        </p:nvSpPr>
        <p:spPr>
          <a:xfrm>
            <a:off x="9098280" y="3291840"/>
            <a:ext cx="2331720" cy="228600"/>
          </a:xfrm>
          <a:prstGeom prst="rect">
            <a:avLst/>
          </a:prstGeom>
          <a:noFill/>
        </p:spPr>
        <p:txBody>
          <a:bodyPr wrap="square">
            <a:spAutoFit/>
          </a:bodyPr>
          <a:lstStyle/>
          <a:p>
            <a:pPr algn="l">
              <a:defRPr sz="900" b="1">
                <a:solidFill>
                  <a:srgbClr val="006EBF"/>
                </a:solidFill>
                <a:latin typeface="Segoe UI"/>
              </a:defRPr>
            </a:pPr>
            <a:r>
              <a:rPr>
                <a:latin typeface="Segoe UI"/>
                <a:ea typeface="Meiryo UI"/>
              </a:rPr>
              <a:t>概要</a:t>
            </a:r>
          </a:p>
        </p:txBody>
      </p:sp>
      <p:sp>
        <p:nvSpPr>
          <p:cNvPr id="48" name="TextBox 47"/>
          <p:cNvSpPr txBox="1"/>
          <p:nvPr/>
        </p:nvSpPr>
        <p:spPr>
          <a:xfrm>
            <a:off x="9098280" y="3520440"/>
            <a:ext cx="2331720" cy="1371600"/>
          </a:xfrm>
          <a:prstGeom prst="rect">
            <a:avLst/>
          </a:prstGeom>
          <a:noFill/>
        </p:spPr>
        <p:txBody>
          <a:bodyPr wrap="square">
            <a:spAutoFit/>
          </a:bodyPr>
          <a:lstStyle/>
          <a:p>
            <a:pPr algn="l">
              <a:defRPr sz="1000" b="0">
                <a:solidFill>
                  <a:srgbClr val="1A1A2E"/>
                </a:solidFill>
                <a:latin typeface="Segoe UI"/>
              </a:defRPr>
            </a:pPr>
            <a:r>
              <a:rPr>
                <a:latin typeface="Segoe UI"/>
                <a:ea typeface="Meiryo UI"/>
              </a:rPr>
              <a:t>複数商品をLLMで個別分析し、リスク・リターン・手数料等の比較総括レポートを生成。</a:t>
            </a:r>
          </a:p>
        </p:txBody>
      </p:sp>
      <p:sp>
        <p:nvSpPr>
          <p:cNvPr id="49" name="Rounded Rectangle 48"/>
          <p:cNvSpPr/>
          <p:nvPr/>
        </p:nvSpPr>
        <p:spPr>
          <a:xfrm>
            <a:off x="9098280" y="5029200"/>
            <a:ext cx="2331720" cy="9144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89720" y="5074920"/>
            <a:ext cx="2148840" cy="228600"/>
          </a:xfrm>
          <a:prstGeom prst="rect">
            <a:avLst/>
          </a:prstGeom>
          <a:noFill/>
        </p:spPr>
        <p:txBody>
          <a:bodyPr wrap="square">
            <a:spAutoFit/>
          </a:bodyPr>
          <a:lstStyle/>
          <a:p>
            <a:pPr algn="l">
              <a:defRPr sz="900" b="1">
                <a:solidFill>
                  <a:srgbClr val="008A5E"/>
                </a:solidFill>
                <a:latin typeface="Segoe UI"/>
              </a:defRPr>
            </a:pPr>
            <a:r>
              <a:rPr>
                <a:latin typeface="Segoe UI"/>
                <a:ea typeface="Meiryo UI"/>
              </a:rPr>
              <a:t>導入効果</a:t>
            </a:r>
          </a:p>
        </p:txBody>
      </p:sp>
      <p:sp>
        <p:nvSpPr>
          <p:cNvPr id="51" name="TextBox 50"/>
          <p:cNvSpPr txBox="1"/>
          <p:nvPr/>
        </p:nvSpPr>
        <p:spPr>
          <a:xfrm>
            <a:off x="9189720" y="5303520"/>
            <a:ext cx="2148840" cy="548640"/>
          </a:xfrm>
          <a:prstGeom prst="rect">
            <a:avLst/>
          </a:prstGeom>
          <a:noFill/>
        </p:spPr>
        <p:txBody>
          <a:bodyPr wrap="square">
            <a:spAutoFit/>
          </a:bodyPr>
          <a:lstStyle/>
          <a:p>
            <a:pPr algn="l">
              <a:defRPr sz="1000" b="1">
                <a:solidFill>
                  <a:srgbClr val="2E7D32"/>
                </a:solidFill>
                <a:latin typeface="Segoe UI"/>
              </a:defRPr>
            </a:pPr>
            <a:r>
              <a:rPr>
                <a:latin typeface="Segoe UI"/>
                <a:ea typeface="Meiryo UI"/>
              </a:rPr>
              <a:t>商品比較資料の自動作成、営業提案力向上</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600" b="1">
                <a:solidFill>
                  <a:srgbClr val="FFFFFF"/>
                </a:solidFill>
                <a:latin typeface="Segoe UI"/>
              </a:defRPr>
            </a:pPr>
            <a:r>
              <a:rPr>
                <a:latin typeface="Segoe UI"/>
                <a:ea typeface="Meiryo UI"/>
              </a:rPr>
              <a:t>使用技術  ─  Dify ノードタイプと適用パターン</a:t>
            </a:r>
          </a:p>
        </p:txBody>
      </p:sp>
      <p:sp>
        <p:nvSpPr>
          <p:cNvPr id="4" name="Rounded Rectangle 3"/>
          <p:cNvSpPr/>
          <p:nvPr/>
        </p:nvSpPr>
        <p:spPr>
          <a:xfrm>
            <a:off x="365760" y="1188720"/>
            <a:ext cx="2103120" cy="2377440"/>
          </a:xfrm>
          <a:prstGeom prst="roundRect">
            <a:avLst/>
          </a:prstGeom>
          <a:solidFill>
            <a:srgbClr val="F0F4F8"/>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51560" y="1325880"/>
            <a:ext cx="731520" cy="731520"/>
          </a:xfrm>
          <a:prstGeom prst="ellipse">
            <a:avLst/>
          </a:prstGeom>
          <a:solidFill>
            <a:srgbClr val="006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LLM</a:t>
            </a:r>
          </a:p>
        </p:txBody>
      </p:sp>
      <p:sp>
        <p:nvSpPr>
          <p:cNvPr id="7" name="TextBox 6"/>
          <p:cNvSpPr txBox="1"/>
          <p:nvPr/>
        </p:nvSpPr>
        <p:spPr>
          <a:xfrm>
            <a:off x="457200" y="2194560"/>
            <a:ext cx="1920240" cy="640080"/>
          </a:xfrm>
          <a:prstGeom prst="rect">
            <a:avLst/>
          </a:prstGeom>
          <a:noFill/>
        </p:spPr>
        <p:txBody>
          <a:bodyPr wrap="square">
            <a:spAutoFit/>
          </a:bodyPr>
          <a:lstStyle/>
          <a:p>
            <a:pPr algn="ctr">
              <a:defRPr sz="1000" b="0">
                <a:solidFill>
                  <a:srgbClr val="1A1A2E"/>
                </a:solidFill>
                <a:latin typeface="Segoe UI"/>
              </a:defRPr>
            </a:pPr>
            <a:r>
              <a:rPr>
                <a:latin typeface="Segoe UI"/>
                <a:ea typeface="Meiryo UI"/>
              </a:rPr>
              <a:t>自然言語による分析・</a:t>
            </a:r>
            <a:br/>
            <a:r>
              <a:rPr>
                <a:latin typeface="Segoe UI"/>
                <a:ea typeface="Meiryo UI"/>
              </a:rPr>
              <a:t>生成・要約</a:t>
            </a:r>
          </a:p>
        </p:txBody>
      </p:sp>
      <p:sp>
        <p:nvSpPr>
          <p:cNvPr id="8" name="TextBox 7"/>
          <p:cNvSpPr txBox="1"/>
          <p:nvPr/>
        </p:nvSpPr>
        <p:spPr>
          <a:xfrm>
            <a:off x="457200" y="2926080"/>
            <a:ext cx="1920240" cy="457200"/>
          </a:xfrm>
          <a:prstGeom prst="rect">
            <a:avLst/>
          </a:prstGeom>
          <a:noFill/>
        </p:spPr>
        <p:txBody>
          <a:bodyPr wrap="square">
            <a:spAutoFit/>
          </a:bodyPr>
          <a:lstStyle/>
          <a:p>
            <a:pPr algn="ctr">
              <a:defRPr sz="900" b="0">
                <a:solidFill>
                  <a:srgbClr val="4A5A6A"/>
                </a:solidFill>
                <a:latin typeface="Segoe UI"/>
              </a:defRPr>
            </a:pPr>
            <a:r>
              <a:rPr>
                <a:latin typeface="Segoe UI"/>
                <a:ea typeface="Meiryo UI"/>
              </a:rPr>
              <a:t>全10ワークフロー</a:t>
            </a:r>
          </a:p>
        </p:txBody>
      </p:sp>
      <p:sp>
        <p:nvSpPr>
          <p:cNvPr id="9" name="Rounded Rectangle 8"/>
          <p:cNvSpPr/>
          <p:nvPr/>
        </p:nvSpPr>
        <p:spPr>
          <a:xfrm>
            <a:off x="2651760" y="1188720"/>
            <a:ext cx="2103120" cy="2377440"/>
          </a:xfrm>
          <a:prstGeom prst="roundRect">
            <a:avLst/>
          </a:prstGeom>
          <a:solidFill>
            <a:srgbClr val="F0F4F8"/>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337560" y="1325880"/>
            <a:ext cx="731520" cy="731520"/>
          </a:xfrm>
          <a:prstGeom prst="ellipse">
            <a:avLst/>
          </a:prstGeom>
          <a:solidFill>
            <a:srgbClr val="008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0" y="13716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Knowledge</a:t>
            </a:r>
            <a:br/>
            <a:r>
              <a:rPr>
                <a:latin typeface="Segoe UI"/>
                <a:ea typeface="Meiryo UI"/>
              </a:rPr>
              <a:t>Retrieval</a:t>
            </a:r>
          </a:p>
        </p:txBody>
      </p:sp>
      <p:sp>
        <p:nvSpPr>
          <p:cNvPr id="12" name="TextBox 11"/>
          <p:cNvSpPr txBox="1"/>
          <p:nvPr/>
        </p:nvSpPr>
        <p:spPr>
          <a:xfrm>
            <a:off x="2743200" y="2194560"/>
            <a:ext cx="1920240" cy="640080"/>
          </a:xfrm>
          <a:prstGeom prst="rect">
            <a:avLst/>
          </a:prstGeom>
          <a:noFill/>
        </p:spPr>
        <p:txBody>
          <a:bodyPr wrap="square">
            <a:spAutoFit/>
          </a:bodyPr>
          <a:lstStyle/>
          <a:p>
            <a:pPr algn="ctr">
              <a:defRPr sz="1000" b="0">
                <a:solidFill>
                  <a:srgbClr val="1A1A2E"/>
                </a:solidFill>
                <a:latin typeface="Segoe UI"/>
              </a:defRPr>
            </a:pPr>
            <a:r>
              <a:rPr>
                <a:latin typeface="Segoe UI"/>
                <a:ea typeface="Meiryo UI"/>
              </a:rPr>
              <a:t>社内規程・マニュアルの</a:t>
            </a:r>
            <a:br/>
            <a:r>
              <a:rPr>
                <a:latin typeface="Segoe UI"/>
                <a:ea typeface="Meiryo UI"/>
              </a:rPr>
              <a:t>RAG検索</a:t>
            </a:r>
          </a:p>
        </p:txBody>
      </p:sp>
      <p:sp>
        <p:nvSpPr>
          <p:cNvPr id="13" name="TextBox 12"/>
          <p:cNvSpPr txBox="1"/>
          <p:nvPr/>
        </p:nvSpPr>
        <p:spPr>
          <a:xfrm>
            <a:off x="2743200" y="2926080"/>
            <a:ext cx="1920240" cy="457200"/>
          </a:xfrm>
          <a:prstGeom prst="rect">
            <a:avLst/>
          </a:prstGeom>
          <a:noFill/>
        </p:spPr>
        <p:txBody>
          <a:bodyPr wrap="square">
            <a:spAutoFit/>
          </a:bodyPr>
          <a:lstStyle/>
          <a:p>
            <a:pPr algn="ctr">
              <a:defRPr sz="900" b="0">
                <a:solidFill>
                  <a:srgbClr val="4A5A6A"/>
                </a:solidFill>
                <a:latin typeface="Segoe UI"/>
              </a:defRPr>
            </a:pPr>
            <a:r>
              <a:rPr>
                <a:latin typeface="Segoe UI"/>
                <a:ea typeface="Meiryo UI"/>
              </a:rPr>
              <a:t>BNK-01, 03</a:t>
            </a:r>
          </a:p>
        </p:txBody>
      </p:sp>
      <p:sp>
        <p:nvSpPr>
          <p:cNvPr id="14" name="Rounded Rectangle 13"/>
          <p:cNvSpPr/>
          <p:nvPr/>
        </p:nvSpPr>
        <p:spPr>
          <a:xfrm>
            <a:off x="4937760" y="1188720"/>
            <a:ext cx="2103120" cy="2377440"/>
          </a:xfrm>
          <a:prstGeom prst="roundRect">
            <a:avLst/>
          </a:prstGeom>
          <a:solidFill>
            <a:srgbClr val="F0F4F8"/>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623560" y="1325880"/>
            <a:ext cx="731520" cy="731520"/>
          </a:xfrm>
          <a:prstGeom prst="ellipse">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0" y="13716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Question</a:t>
            </a:r>
            <a:br/>
            <a:r>
              <a:rPr>
                <a:latin typeface="Segoe UI"/>
                <a:ea typeface="Meiryo UI"/>
              </a:rPr>
              <a:t>Classifier</a:t>
            </a:r>
          </a:p>
        </p:txBody>
      </p:sp>
      <p:sp>
        <p:nvSpPr>
          <p:cNvPr id="17" name="TextBox 16"/>
          <p:cNvSpPr txBox="1"/>
          <p:nvPr/>
        </p:nvSpPr>
        <p:spPr>
          <a:xfrm>
            <a:off x="5029200" y="2194560"/>
            <a:ext cx="1920240" cy="640080"/>
          </a:xfrm>
          <a:prstGeom prst="rect">
            <a:avLst/>
          </a:prstGeom>
          <a:noFill/>
        </p:spPr>
        <p:txBody>
          <a:bodyPr wrap="square">
            <a:spAutoFit/>
          </a:bodyPr>
          <a:lstStyle/>
          <a:p>
            <a:pPr algn="ctr">
              <a:defRPr sz="1000" b="0">
                <a:solidFill>
                  <a:srgbClr val="1A1A2E"/>
                </a:solidFill>
                <a:latin typeface="Segoe UI"/>
              </a:defRPr>
            </a:pPr>
            <a:r>
              <a:rPr>
                <a:latin typeface="Segoe UI"/>
                <a:ea typeface="Meiryo UI"/>
              </a:rPr>
              <a:t>問い合わせ・苦情の</a:t>
            </a:r>
            <a:br/>
            <a:r>
              <a:rPr>
                <a:latin typeface="Segoe UI"/>
                <a:ea typeface="Meiryo UI"/>
              </a:rPr>
              <a:t>自動分類</a:t>
            </a:r>
          </a:p>
        </p:txBody>
      </p:sp>
      <p:sp>
        <p:nvSpPr>
          <p:cNvPr id="18" name="TextBox 17"/>
          <p:cNvSpPr txBox="1"/>
          <p:nvPr/>
        </p:nvSpPr>
        <p:spPr>
          <a:xfrm>
            <a:off x="5029200" y="2926080"/>
            <a:ext cx="1920240" cy="457200"/>
          </a:xfrm>
          <a:prstGeom prst="rect">
            <a:avLst/>
          </a:prstGeom>
          <a:noFill/>
        </p:spPr>
        <p:txBody>
          <a:bodyPr wrap="square">
            <a:spAutoFit/>
          </a:bodyPr>
          <a:lstStyle/>
          <a:p>
            <a:pPr algn="ctr">
              <a:defRPr sz="900" b="0">
                <a:solidFill>
                  <a:srgbClr val="4A5A6A"/>
                </a:solidFill>
                <a:latin typeface="Segoe UI"/>
              </a:defRPr>
            </a:pPr>
            <a:r>
              <a:rPr>
                <a:latin typeface="Segoe UI"/>
                <a:ea typeface="Meiryo UI"/>
              </a:rPr>
              <a:t>BNK-03, 06</a:t>
            </a:r>
          </a:p>
        </p:txBody>
      </p:sp>
      <p:sp>
        <p:nvSpPr>
          <p:cNvPr id="19" name="Rounded Rectangle 18"/>
          <p:cNvSpPr/>
          <p:nvPr/>
        </p:nvSpPr>
        <p:spPr>
          <a:xfrm>
            <a:off x="7223760" y="1188720"/>
            <a:ext cx="2103120" cy="2377440"/>
          </a:xfrm>
          <a:prstGeom prst="roundRect">
            <a:avLst/>
          </a:prstGeom>
          <a:solidFill>
            <a:srgbClr val="F0F4F8"/>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909560" y="1325880"/>
            <a:ext cx="731520" cy="731520"/>
          </a:xfrm>
          <a:prstGeom prst="ellipse">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13716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Parameter</a:t>
            </a:r>
            <a:br/>
            <a:r>
              <a:rPr>
                <a:latin typeface="Segoe UI"/>
                <a:ea typeface="Meiryo UI"/>
              </a:rPr>
              <a:t>Extractor</a:t>
            </a:r>
          </a:p>
        </p:txBody>
      </p:sp>
      <p:sp>
        <p:nvSpPr>
          <p:cNvPr id="22" name="TextBox 21"/>
          <p:cNvSpPr txBox="1"/>
          <p:nvPr/>
        </p:nvSpPr>
        <p:spPr>
          <a:xfrm>
            <a:off x="7315200" y="2194560"/>
            <a:ext cx="1920240" cy="640080"/>
          </a:xfrm>
          <a:prstGeom prst="rect">
            <a:avLst/>
          </a:prstGeom>
          <a:noFill/>
        </p:spPr>
        <p:txBody>
          <a:bodyPr wrap="square">
            <a:spAutoFit/>
          </a:bodyPr>
          <a:lstStyle/>
          <a:p>
            <a:pPr algn="ctr">
              <a:defRPr sz="1000" b="0">
                <a:solidFill>
                  <a:srgbClr val="1A1A2E"/>
                </a:solidFill>
                <a:latin typeface="Segoe UI"/>
              </a:defRPr>
            </a:pPr>
            <a:r>
              <a:rPr>
                <a:latin typeface="Segoe UI"/>
                <a:ea typeface="Meiryo UI"/>
              </a:rPr>
              <a:t>非構造テキストからの</a:t>
            </a:r>
            <a:br/>
            <a:r>
              <a:rPr>
                <a:latin typeface="Segoe UI"/>
                <a:ea typeface="Meiryo UI"/>
              </a:rPr>
              <a:t>情報抽出</a:t>
            </a:r>
          </a:p>
        </p:txBody>
      </p:sp>
      <p:sp>
        <p:nvSpPr>
          <p:cNvPr id="23" name="TextBox 22"/>
          <p:cNvSpPr txBox="1"/>
          <p:nvPr/>
        </p:nvSpPr>
        <p:spPr>
          <a:xfrm>
            <a:off x="7315200" y="2926080"/>
            <a:ext cx="1920240" cy="457200"/>
          </a:xfrm>
          <a:prstGeom prst="rect">
            <a:avLst/>
          </a:prstGeom>
          <a:noFill/>
        </p:spPr>
        <p:txBody>
          <a:bodyPr wrap="square">
            <a:spAutoFit/>
          </a:bodyPr>
          <a:lstStyle/>
          <a:p>
            <a:pPr algn="ctr">
              <a:defRPr sz="900" b="0">
                <a:solidFill>
                  <a:srgbClr val="4A5A6A"/>
                </a:solidFill>
                <a:latin typeface="Segoe UI"/>
              </a:defRPr>
            </a:pPr>
            <a:r>
              <a:rPr>
                <a:latin typeface="Segoe UI"/>
                <a:ea typeface="Meiryo UI"/>
              </a:rPr>
              <a:t>BNK-02, 09</a:t>
            </a:r>
          </a:p>
        </p:txBody>
      </p:sp>
      <p:sp>
        <p:nvSpPr>
          <p:cNvPr id="24" name="Rounded Rectangle 23"/>
          <p:cNvSpPr/>
          <p:nvPr/>
        </p:nvSpPr>
        <p:spPr>
          <a:xfrm>
            <a:off x="9509760" y="1188720"/>
            <a:ext cx="2103120" cy="2377440"/>
          </a:xfrm>
          <a:prstGeom prst="roundRect">
            <a:avLst/>
          </a:prstGeom>
          <a:solidFill>
            <a:srgbClr val="F0F4F8"/>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195560" y="1325880"/>
            <a:ext cx="731520" cy="731520"/>
          </a:xfrm>
          <a:prstGeom prst="ellipse">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0" y="13716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Code</a:t>
            </a:r>
          </a:p>
        </p:txBody>
      </p:sp>
      <p:sp>
        <p:nvSpPr>
          <p:cNvPr id="27" name="TextBox 26"/>
          <p:cNvSpPr txBox="1"/>
          <p:nvPr/>
        </p:nvSpPr>
        <p:spPr>
          <a:xfrm>
            <a:off x="9601200" y="2194560"/>
            <a:ext cx="1920240" cy="640080"/>
          </a:xfrm>
          <a:prstGeom prst="rect">
            <a:avLst/>
          </a:prstGeom>
          <a:noFill/>
        </p:spPr>
        <p:txBody>
          <a:bodyPr wrap="square">
            <a:spAutoFit/>
          </a:bodyPr>
          <a:lstStyle/>
          <a:p>
            <a:pPr algn="ctr">
              <a:defRPr sz="1000" b="0">
                <a:solidFill>
                  <a:srgbClr val="1A1A2E"/>
                </a:solidFill>
                <a:latin typeface="Segoe UI"/>
              </a:defRPr>
            </a:pPr>
            <a:r>
              <a:rPr>
                <a:latin typeface="Segoe UI"/>
                <a:ea typeface="Meiryo UI"/>
              </a:rPr>
              <a:t>ロジック判定・</a:t>
            </a:r>
            <a:br/>
            <a:r>
              <a:rPr>
                <a:latin typeface="Segoe UI"/>
                <a:ea typeface="Meiryo UI"/>
              </a:rPr>
              <a:t>データ変換・安全構築</a:t>
            </a:r>
          </a:p>
        </p:txBody>
      </p:sp>
      <p:sp>
        <p:nvSpPr>
          <p:cNvPr id="28" name="TextBox 27"/>
          <p:cNvSpPr txBox="1"/>
          <p:nvPr/>
        </p:nvSpPr>
        <p:spPr>
          <a:xfrm>
            <a:off x="9601200" y="2926080"/>
            <a:ext cx="1920240" cy="457200"/>
          </a:xfrm>
          <a:prstGeom prst="rect">
            <a:avLst/>
          </a:prstGeom>
          <a:noFill/>
        </p:spPr>
        <p:txBody>
          <a:bodyPr wrap="square">
            <a:spAutoFit/>
          </a:bodyPr>
          <a:lstStyle/>
          <a:p>
            <a:pPr algn="ctr">
              <a:defRPr sz="900" b="0">
                <a:solidFill>
                  <a:srgbClr val="4A5A6A"/>
                </a:solidFill>
                <a:latin typeface="Segoe UI"/>
              </a:defRPr>
            </a:pPr>
            <a:r>
              <a:rPr>
                <a:latin typeface="Segoe UI"/>
                <a:ea typeface="Meiryo UI"/>
              </a:rPr>
              <a:t>BNK-02,04,05,</a:t>
            </a:r>
            <a:br/>
            <a:r>
              <a:rPr>
                <a:latin typeface="Segoe UI"/>
                <a:ea typeface="Meiryo UI"/>
              </a:rPr>
              <a:t>07,08,09,10</a:t>
            </a:r>
          </a:p>
        </p:txBody>
      </p:sp>
      <p:sp>
        <p:nvSpPr>
          <p:cNvPr id="29" name="Rounded Rectangle 28"/>
          <p:cNvSpPr/>
          <p:nvPr/>
        </p:nvSpPr>
        <p:spPr>
          <a:xfrm>
            <a:off x="365760" y="3931920"/>
            <a:ext cx="2103120" cy="2377440"/>
          </a:xfrm>
          <a:prstGeom prst="roundRect">
            <a:avLst/>
          </a:prstGeom>
          <a:solidFill>
            <a:srgbClr val="F0F4F8"/>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51560" y="4069080"/>
            <a:ext cx="731520" cy="731520"/>
          </a:xfrm>
          <a:prstGeom prst="ellipse">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41148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HTTP</a:t>
            </a:r>
            <a:br/>
            <a:r>
              <a:rPr>
                <a:latin typeface="Segoe UI"/>
                <a:ea typeface="Meiryo UI"/>
              </a:rPr>
              <a:t>Request</a:t>
            </a:r>
          </a:p>
        </p:txBody>
      </p:sp>
      <p:sp>
        <p:nvSpPr>
          <p:cNvPr id="32" name="TextBox 31"/>
          <p:cNvSpPr txBox="1"/>
          <p:nvPr/>
        </p:nvSpPr>
        <p:spPr>
          <a:xfrm>
            <a:off x="457200" y="4937760"/>
            <a:ext cx="1920240" cy="640080"/>
          </a:xfrm>
          <a:prstGeom prst="rect">
            <a:avLst/>
          </a:prstGeom>
          <a:noFill/>
        </p:spPr>
        <p:txBody>
          <a:bodyPr wrap="square">
            <a:spAutoFit/>
          </a:bodyPr>
          <a:lstStyle/>
          <a:p>
            <a:pPr algn="ctr">
              <a:defRPr sz="1000" b="0">
                <a:solidFill>
                  <a:srgbClr val="1A1A2E"/>
                </a:solidFill>
                <a:latin typeface="Segoe UI"/>
              </a:defRPr>
            </a:pPr>
            <a:r>
              <a:rPr>
                <a:latin typeface="Segoe UI"/>
                <a:ea typeface="Meiryo UI"/>
              </a:rPr>
              <a:t>外部API連携</a:t>
            </a:r>
            <a:br/>
            <a:r>
              <a:rPr>
                <a:latin typeface="Segoe UI"/>
                <a:ea typeface="Meiryo UI"/>
              </a:rPr>
              <a:t>（取引/為替/支店）</a:t>
            </a:r>
          </a:p>
        </p:txBody>
      </p:sp>
      <p:sp>
        <p:nvSpPr>
          <p:cNvPr id="33" name="TextBox 32"/>
          <p:cNvSpPr txBox="1"/>
          <p:nvPr/>
        </p:nvSpPr>
        <p:spPr>
          <a:xfrm>
            <a:off x="457200" y="5669280"/>
            <a:ext cx="1920240" cy="457200"/>
          </a:xfrm>
          <a:prstGeom prst="rect">
            <a:avLst/>
          </a:prstGeom>
          <a:noFill/>
        </p:spPr>
        <p:txBody>
          <a:bodyPr wrap="square">
            <a:spAutoFit/>
          </a:bodyPr>
          <a:lstStyle/>
          <a:p>
            <a:pPr algn="ctr">
              <a:defRPr sz="900" b="0">
                <a:solidFill>
                  <a:srgbClr val="4A5A6A"/>
                </a:solidFill>
                <a:latin typeface="Segoe UI"/>
              </a:defRPr>
            </a:pPr>
            <a:r>
              <a:rPr>
                <a:latin typeface="Segoe UI"/>
                <a:ea typeface="Meiryo UI"/>
              </a:rPr>
              <a:t>BNK-04, 05, 08</a:t>
            </a:r>
          </a:p>
        </p:txBody>
      </p:sp>
      <p:sp>
        <p:nvSpPr>
          <p:cNvPr id="34" name="Rounded Rectangle 33"/>
          <p:cNvSpPr/>
          <p:nvPr/>
        </p:nvSpPr>
        <p:spPr>
          <a:xfrm>
            <a:off x="2651760" y="3931920"/>
            <a:ext cx="2103120" cy="2377440"/>
          </a:xfrm>
          <a:prstGeom prst="roundRect">
            <a:avLst/>
          </a:prstGeom>
          <a:solidFill>
            <a:srgbClr val="F0F4F8"/>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337560" y="4069080"/>
            <a:ext cx="731520" cy="731520"/>
          </a:xfrm>
          <a:prstGeom prst="ellipse">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43200" y="41148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IF/ELSE</a:t>
            </a:r>
          </a:p>
        </p:txBody>
      </p:sp>
      <p:sp>
        <p:nvSpPr>
          <p:cNvPr id="37" name="TextBox 36"/>
          <p:cNvSpPr txBox="1"/>
          <p:nvPr/>
        </p:nvSpPr>
        <p:spPr>
          <a:xfrm>
            <a:off x="2743200" y="4937760"/>
            <a:ext cx="1920240" cy="640080"/>
          </a:xfrm>
          <a:prstGeom prst="rect">
            <a:avLst/>
          </a:prstGeom>
          <a:noFill/>
        </p:spPr>
        <p:txBody>
          <a:bodyPr wrap="square">
            <a:spAutoFit/>
          </a:bodyPr>
          <a:lstStyle/>
          <a:p>
            <a:pPr algn="ctr">
              <a:defRPr sz="1000" b="0">
                <a:solidFill>
                  <a:srgbClr val="1A1A2E"/>
                </a:solidFill>
                <a:latin typeface="Segoe UI"/>
              </a:defRPr>
            </a:pPr>
            <a:r>
              <a:rPr>
                <a:latin typeface="Segoe UI"/>
                <a:ea typeface="Meiryo UI"/>
              </a:rPr>
              <a:t>条件分岐</a:t>
            </a:r>
            <a:br/>
            <a:r>
              <a:rPr>
                <a:latin typeface="Segoe UI"/>
                <a:ea typeface="Meiryo UI"/>
              </a:rPr>
              <a:t>（リスク/審査判定）</a:t>
            </a:r>
          </a:p>
        </p:txBody>
      </p:sp>
      <p:sp>
        <p:nvSpPr>
          <p:cNvPr id="38" name="TextBox 37"/>
          <p:cNvSpPr txBox="1"/>
          <p:nvPr/>
        </p:nvSpPr>
        <p:spPr>
          <a:xfrm>
            <a:off x="2743200" y="5669280"/>
            <a:ext cx="1920240" cy="457200"/>
          </a:xfrm>
          <a:prstGeom prst="rect">
            <a:avLst/>
          </a:prstGeom>
          <a:noFill/>
        </p:spPr>
        <p:txBody>
          <a:bodyPr wrap="square">
            <a:spAutoFit/>
          </a:bodyPr>
          <a:lstStyle/>
          <a:p>
            <a:pPr algn="ctr">
              <a:defRPr sz="900" b="0">
                <a:solidFill>
                  <a:srgbClr val="4A5A6A"/>
                </a:solidFill>
                <a:latin typeface="Segoe UI"/>
              </a:defRPr>
            </a:pPr>
            <a:r>
              <a:rPr>
                <a:latin typeface="Segoe UI"/>
                <a:ea typeface="Meiryo UI"/>
              </a:rPr>
              <a:t>BNK-02, 04</a:t>
            </a:r>
          </a:p>
        </p:txBody>
      </p:sp>
      <p:sp>
        <p:nvSpPr>
          <p:cNvPr id="39" name="Rounded Rectangle 38"/>
          <p:cNvSpPr/>
          <p:nvPr/>
        </p:nvSpPr>
        <p:spPr>
          <a:xfrm>
            <a:off x="4937760" y="3931920"/>
            <a:ext cx="2103120" cy="2377440"/>
          </a:xfrm>
          <a:prstGeom prst="roundRect">
            <a:avLst/>
          </a:prstGeom>
          <a:solidFill>
            <a:srgbClr val="F0F4F8"/>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623560" y="4069080"/>
            <a:ext cx="731520" cy="731520"/>
          </a:xfrm>
          <a:prstGeom prst="ellipse">
            <a:avLst/>
          </a:prstGeom>
          <a:solidFill>
            <a:srgbClr val="006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0" y="41148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Iteration</a:t>
            </a:r>
          </a:p>
        </p:txBody>
      </p:sp>
      <p:sp>
        <p:nvSpPr>
          <p:cNvPr id="42" name="TextBox 41"/>
          <p:cNvSpPr txBox="1"/>
          <p:nvPr/>
        </p:nvSpPr>
        <p:spPr>
          <a:xfrm>
            <a:off x="5029200" y="4937760"/>
            <a:ext cx="1920240" cy="640080"/>
          </a:xfrm>
          <a:prstGeom prst="rect">
            <a:avLst/>
          </a:prstGeom>
          <a:noFill/>
        </p:spPr>
        <p:txBody>
          <a:bodyPr wrap="square">
            <a:spAutoFit/>
          </a:bodyPr>
          <a:lstStyle/>
          <a:p>
            <a:pPr algn="ctr">
              <a:defRPr sz="1000" b="0">
                <a:solidFill>
                  <a:srgbClr val="1A1A2E"/>
                </a:solidFill>
                <a:latin typeface="Segoe UI"/>
              </a:defRPr>
            </a:pPr>
            <a:r>
              <a:rPr>
                <a:latin typeface="Segoe UI"/>
                <a:ea typeface="Meiryo UI"/>
              </a:rPr>
              <a:t>バッチ処理</a:t>
            </a:r>
            <a:br/>
            <a:r>
              <a:rPr>
                <a:latin typeface="Segoe UI"/>
                <a:ea typeface="Meiryo UI"/>
              </a:rPr>
              <a:t>（複数支店/商品）</a:t>
            </a:r>
          </a:p>
        </p:txBody>
      </p:sp>
      <p:sp>
        <p:nvSpPr>
          <p:cNvPr id="43" name="TextBox 42"/>
          <p:cNvSpPr txBox="1"/>
          <p:nvPr/>
        </p:nvSpPr>
        <p:spPr>
          <a:xfrm>
            <a:off x="5029200" y="5669280"/>
            <a:ext cx="1920240" cy="457200"/>
          </a:xfrm>
          <a:prstGeom prst="rect">
            <a:avLst/>
          </a:prstGeom>
          <a:noFill/>
        </p:spPr>
        <p:txBody>
          <a:bodyPr wrap="square">
            <a:spAutoFit/>
          </a:bodyPr>
          <a:lstStyle/>
          <a:p>
            <a:pPr algn="ctr">
              <a:defRPr sz="900" b="0">
                <a:solidFill>
                  <a:srgbClr val="4A5A6A"/>
                </a:solidFill>
                <a:latin typeface="Segoe UI"/>
              </a:defRPr>
            </a:pPr>
            <a:r>
              <a:rPr>
                <a:latin typeface="Segoe UI"/>
                <a:ea typeface="Meiryo UI"/>
              </a:rPr>
              <a:t>BNK-05, 10</a:t>
            </a:r>
          </a:p>
        </p:txBody>
      </p:sp>
      <p:sp>
        <p:nvSpPr>
          <p:cNvPr id="44" name="Rounded Rectangle 43"/>
          <p:cNvSpPr/>
          <p:nvPr/>
        </p:nvSpPr>
        <p:spPr>
          <a:xfrm>
            <a:off x="7223760" y="3931920"/>
            <a:ext cx="2103120" cy="2377440"/>
          </a:xfrm>
          <a:prstGeom prst="roundRect">
            <a:avLst/>
          </a:prstGeom>
          <a:solidFill>
            <a:srgbClr val="F0F4F8"/>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909560" y="4069080"/>
            <a:ext cx="731520" cy="731520"/>
          </a:xfrm>
          <a:prstGeom prst="ellipse">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0" y="41148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Template</a:t>
            </a:r>
          </a:p>
        </p:txBody>
      </p:sp>
      <p:sp>
        <p:nvSpPr>
          <p:cNvPr id="47" name="TextBox 46"/>
          <p:cNvSpPr txBox="1"/>
          <p:nvPr/>
        </p:nvSpPr>
        <p:spPr>
          <a:xfrm>
            <a:off x="7315200" y="4937760"/>
            <a:ext cx="1920240" cy="640080"/>
          </a:xfrm>
          <a:prstGeom prst="rect">
            <a:avLst/>
          </a:prstGeom>
          <a:noFill/>
        </p:spPr>
        <p:txBody>
          <a:bodyPr wrap="square">
            <a:spAutoFit/>
          </a:bodyPr>
          <a:lstStyle/>
          <a:p>
            <a:pPr algn="ctr">
              <a:defRPr sz="1000" b="0">
                <a:solidFill>
                  <a:srgbClr val="1A1A2E"/>
                </a:solidFill>
                <a:latin typeface="Segoe UI"/>
              </a:defRPr>
            </a:pPr>
            <a:r>
              <a:rPr>
                <a:latin typeface="Segoe UI"/>
                <a:ea typeface="Meiryo UI"/>
              </a:rPr>
              <a:t>定型文書の</a:t>
            </a:r>
            <a:br/>
            <a:r>
              <a:rPr>
                <a:latin typeface="Segoe UI"/>
                <a:ea typeface="Meiryo UI"/>
              </a:rPr>
              <a:t>フォーマット整形</a:t>
            </a:r>
          </a:p>
        </p:txBody>
      </p:sp>
      <p:sp>
        <p:nvSpPr>
          <p:cNvPr id="48" name="TextBox 47"/>
          <p:cNvSpPr txBox="1"/>
          <p:nvPr/>
        </p:nvSpPr>
        <p:spPr>
          <a:xfrm>
            <a:off x="7315200" y="5669280"/>
            <a:ext cx="1920240" cy="457200"/>
          </a:xfrm>
          <a:prstGeom prst="rect">
            <a:avLst/>
          </a:prstGeom>
          <a:noFill/>
        </p:spPr>
        <p:txBody>
          <a:bodyPr wrap="square">
            <a:spAutoFit/>
          </a:bodyPr>
          <a:lstStyle/>
          <a:p>
            <a:pPr algn="ctr">
              <a:defRPr sz="900" b="0">
                <a:solidFill>
                  <a:srgbClr val="4A5A6A"/>
                </a:solidFill>
                <a:latin typeface="Segoe UI"/>
              </a:defRPr>
            </a:pPr>
            <a:r>
              <a:rPr>
                <a:latin typeface="Segoe UI"/>
                <a:ea typeface="Meiryo UI"/>
              </a:rPr>
              <a:t>BNK-02, 04, 09</a:t>
            </a:r>
          </a:p>
        </p:txBody>
      </p:sp>
      <p:sp>
        <p:nvSpPr>
          <p:cNvPr id="49" name="Rounded Rectangle 48"/>
          <p:cNvSpPr/>
          <p:nvPr/>
        </p:nvSpPr>
        <p:spPr>
          <a:xfrm>
            <a:off x="9509760" y="3931920"/>
            <a:ext cx="2103120" cy="2377440"/>
          </a:xfrm>
          <a:prstGeom prst="roundRect">
            <a:avLst/>
          </a:prstGeom>
          <a:solidFill>
            <a:srgbClr val="F0F4F8"/>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195560" y="4069080"/>
            <a:ext cx="731520" cy="731520"/>
          </a:xfrm>
          <a:prstGeom prst="ellipse">
            <a:avLst/>
          </a:prstGeom>
          <a:solidFill>
            <a:srgbClr val="555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601200" y="41148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Variable</a:t>
            </a:r>
            <a:br/>
            <a:r>
              <a:rPr>
                <a:latin typeface="Segoe UI"/>
                <a:ea typeface="Meiryo UI"/>
              </a:rPr>
              <a:t>Aggregator</a:t>
            </a:r>
          </a:p>
        </p:txBody>
      </p:sp>
      <p:sp>
        <p:nvSpPr>
          <p:cNvPr id="52" name="TextBox 51"/>
          <p:cNvSpPr txBox="1"/>
          <p:nvPr/>
        </p:nvSpPr>
        <p:spPr>
          <a:xfrm>
            <a:off x="9601200" y="4937760"/>
            <a:ext cx="1920240" cy="640080"/>
          </a:xfrm>
          <a:prstGeom prst="rect">
            <a:avLst/>
          </a:prstGeom>
          <a:noFill/>
        </p:spPr>
        <p:txBody>
          <a:bodyPr wrap="square">
            <a:spAutoFit/>
          </a:bodyPr>
          <a:lstStyle/>
          <a:p>
            <a:pPr algn="ctr">
              <a:defRPr sz="1000" b="0">
                <a:solidFill>
                  <a:srgbClr val="1A1A2E"/>
                </a:solidFill>
                <a:latin typeface="Segoe UI"/>
              </a:defRPr>
            </a:pPr>
            <a:r>
              <a:rPr>
                <a:latin typeface="Segoe UI"/>
                <a:ea typeface="Meiryo UI"/>
              </a:rPr>
              <a:t>分岐結果の</a:t>
            </a:r>
            <a:br/>
            <a:r>
              <a:rPr>
                <a:latin typeface="Segoe UI"/>
                <a:ea typeface="Meiryo UI"/>
              </a:rPr>
              <a:t>統合・集約</a:t>
            </a:r>
          </a:p>
        </p:txBody>
      </p:sp>
      <p:sp>
        <p:nvSpPr>
          <p:cNvPr id="53" name="TextBox 52"/>
          <p:cNvSpPr txBox="1"/>
          <p:nvPr/>
        </p:nvSpPr>
        <p:spPr>
          <a:xfrm>
            <a:off x="9601200" y="5669280"/>
            <a:ext cx="1920240" cy="457200"/>
          </a:xfrm>
          <a:prstGeom prst="rect">
            <a:avLst/>
          </a:prstGeom>
          <a:noFill/>
        </p:spPr>
        <p:txBody>
          <a:bodyPr wrap="square">
            <a:spAutoFit/>
          </a:bodyPr>
          <a:lstStyle/>
          <a:p>
            <a:pPr algn="ctr">
              <a:defRPr sz="900" b="0">
                <a:solidFill>
                  <a:srgbClr val="4A5A6A"/>
                </a:solidFill>
                <a:latin typeface="Segoe UI"/>
              </a:defRPr>
            </a:pPr>
            <a:r>
              <a:rPr>
                <a:latin typeface="Segoe UI"/>
                <a:ea typeface="Meiryo UI"/>
              </a:rPr>
              <a:t>BNK-02, 04, 06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600" b="1">
                <a:solidFill>
                  <a:srgbClr val="FFFFFF"/>
                </a:solidFill>
                <a:latin typeface="Segoe UI"/>
              </a:defRPr>
            </a:pPr>
            <a:r>
              <a:rPr>
                <a:latin typeface="Segoe UI"/>
                <a:ea typeface="Meiryo UI"/>
              </a:rPr>
              <a:t>導入ステップ</a:t>
            </a:r>
          </a:p>
        </p:txBody>
      </p:sp>
      <p:sp>
        <p:nvSpPr>
          <p:cNvPr id="4" name="Oval 3"/>
          <p:cNvSpPr/>
          <p:nvPr/>
        </p:nvSpPr>
        <p:spPr>
          <a:xfrm>
            <a:off x="960120" y="1371600"/>
            <a:ext cx="914400" cy="914400"/>
          </a:xfrm>
          <a:prstGeom prst="ellipse">
            <a:avLst/>
          </a:prstGeom>
          <a:solidFill>
            <a:srgbClr val="006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63040"/>
            <a:ext cx="914400" cy="731520"/>
          </a:xfrm>
          <a:prstGeom prst="rect">
            <a:avLst/>
          </a:prstGeom>
          <a:noFill/>
        </p:spPr>
        <p:txBody>
          <a:bodyPr wrap="square">
            <a:spAutoFit/>
          </a:bodyPr>
          <a:lstStyle/>
          <a:p>
            <a:pPr algn="ctr">
              <a:defRPr sz="1300" b="1">
                <a:solidFill>
                  <a:srgbClr val="FFFFFF"/>
                </a:solidFill>
                <a:latin typeface="Segoe UI"/>
              </a:defRPr>
            </a:pPr>
            <a:r>
              <a:rPr>
                <a:latin typeface="Segoe UI"/>
                <a:ea typeface="Meiryo UI"/>
              </a:rPr>
              <a:t>STEP 1</a:t>
            </a:r>
          </a:p>
        </p:txBody>
      </p:sp>
      <p:sp>
        <p:nvSpPr>
          <p:cNvPr id="6" name="Right Arrow 5"/>
          <p:cNvSpPr/>
          <p:nvPr/>
        </p:nvSpPr>
        <p:spPr>
          <a:xfrm>
            <a:off x="2011680" y="1645920"/>
            <a:ext cx="457200" cy="365760"/>
          </a:xfrm>
          <a:prstGeom prst="rightArrow">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2468880"/>
            <a:ext cx="2103120" cy="365760"/>
          </a:xfrm>
          <a:prstGeom prst="rect">
            <a:avLst/>
          </a:prstGeom>
          <a:noFill/>
        </p:spPr>
        <p:txBody>
          <a:bodyPr wrap="square">
            <a:spAutoFit/>
          </a:bodyPr>
          <a:lstStyle/>
          <a:p>
            <a:pPr algn="ctr">
              <a:defRPr sz="1600" b="1">
                <a:solidFill>
                  <a:srgbClr val="1A1A2E"/>
                </a:solidFill>
                <a:latin typeface="Segoe UI"/>
              </a:defRPr>
            </a:pPr>
            <a:r>
              <a:rPr>
                <a:latin typeface="Segoe UI"/>
                <a:ea typeface="Meiryo UI"/>
              </a:rPr>
              <a:t>インポート</a:t>
            </a:r>
          </a:p>
        </p:txBody>
      </p:sp>
      <p:sp>
        <p:nvSpPr>
          <p:cNvPr id="8" name="Rounded Rectangle 7"/>
          <p:cNvSpPr/>
          <p:nvPr/>
        </p:nvSpPr>
        <p:spPr>
          <a:xfrm>
            <a:off x="365760" y="3017520"/>
            <a:ext cx="2103120" cy="2011680"/>
          </a:xfrm>
          <a:prstGeom prst="roundRect">
            <a:avLst/>
          </a:prstGeom>
          <a:solidFill>
            <a:srgbClr val="F0F4F8"/>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154680"/>
            <a:ext cx="1828800" cy="1280160"/>
          </a:xfrm>
          <a:prstGeom prst="rect">
            <a:avLst/>
          </a:prstGeom>
          <a:noFill/>
        </p:spPr>
        <p:txBody>
          <a:bodyPr wrap="square">
            <a:spAutoFit/>
          </a:bodyPr>
          <a:lstStyle/>
          <a:p>
            <a:pPr algn="ctr">
              <a:defRPr sz="1100" b="0">
                <a:solidFill>
                  <a:srgbClr val="1A1A2E"/>
                </a:solidFill>
                <a:latin typeface="Segoe UI"/>
              </a:defRPr>
            </a:pPr>
            <a:r>
              <a:rPr>
                <a:latin typeface="Segoe UI"/>
                <a:ea typeface="Meiryo UI"/>
              </a:rPr>
              <a:t>DSL ファイルを Dify の</a:t>
            </a:r>
            <a:br/>
            <a:r>
              <a:rPr>
                <a:latin typeface="Segoe UI"/>
                <a:ea typeface="Meiryo UI"/>
              </a:rPr>
              <a:t>「スタジオ」画面から</a:t>
            </a:r>
            <a:br/>
            <a:r>
              <a:rPr>
                <a:latin typeface="Segoe UI"/>
                <a:ea typeface="Meiryo UI"/>
              </a:rPr>
              <a:t>インポート</a:t>
            </a:r>
          </a:p>
        </p:txBody>
      </p:sp>
      <p:sp>
        <p:nvSpPr>
          <p:cNvPr id="10" name="TextBox 9"/>
          <p:cNvSpPr txBox="1"/>
          <p:nvPr/>
        </p:nvSpPr>
        <p:spPr>
          <a:xfrm>
            <a:off x="502920" y="4480560"/>
            <a:ext cx="1828800" cy="274320"/>
          </a:xfrm>
          <a:prstGeom prst="rect">
            <a:avLst/>
          </a:prstGeom>
          <a:noFill/>
        </p:spPr>
        <p:txBody>
          <a:bodyPr wrap="square">
            <a:spAutoFit/>
          </a:bodyPr>
          <a:lstStyle/>
          <a:p>
            <a:pPr algn="ctr">
              <a:defRPr sz="1000" b="1">
                <a:solidFill>
                  <a:srgbClr val="006EBF"/>
                </a:solidFill>
                <a:latin typeface="Segoe UI"/>
              </a:defRPr>
            </a:pPr>
            <a:r>
              <a:rPr>
                <a:latin typeface="Segoe UI"/>
                <a:ea typeface="Meiryo UI"/>
              </a:rPr>
              <a:t>所要: 数分</a:t>
            </a:r>
          </a:p>
        </p:txBody>
      </p:sp>
      <p:sp>
        <p:nvSpPr>
          <p:cNvPr id="11" name="Oval 10"/>
          <p:cNvSpPr/>
          <p:nvPr/>
        </p:nvSpPr>
        <p:spPr>
          <a:xfrm>
            <a:off x="3246120" y="1371600"/>
            <a:ext cx="914400" cy="914400"/>
          </a:xfrm>
          <a:prstGeom prst="ellipse">
            <a:avLst/>
          </a:prstGeom>
          <a:solidFill>
            <a:srgbClr val="006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46120" y="1463040"/>
            <a:ext cx="914400" cy="731520"/>
          </a:xfrm>
          <a:prstGeom prst="rect">
            <a:avLst/>
          </a:prstGeom>
          <a:noFill/>
        </p:spPr>
        <p:txBody>
          <a:bodyPr wrap="square">
            <a:spAutoFit/>
          </a:bodyPr>
          <a:lstStyle/>
          <a:p>
            <a:pPr algn="ctr">
              <a:defRPr sz="1300" b="1">
                <a:solidFill>
                  <a:srgbClr val="FFFFFF"/>
                </a:solidFill>
                <a:latin typeface="Segoe UI"/>
              </a:defRPr>
            </a:pPr>
            <a:r>
              <a:rPr>
                <a:latin typeface="Segoe UI"/>
                <a:ea typeface="Meiryo UI"/>
              </a:rPr>
              <a:t>STEP 2</a:t>
            </a:r>
          </a:p>
        </p:txBody>
      </p:sp>
      <p:sp>
        <p:nvSpPr>
          <p:cNvPr id="13" name="Right Arrow 12"/>
          <p:cNvSpPr/>
          <p:nvPr/>
        </p:nvSpPr>
        <p:spPr>
          <a:xfrm>
            <a:off x="4297680" y="1645920"/>
            <a:ext cx="457200" cy="365760"/>
          </a:xfrm>
          <a:prstGeom prst="rightArrow">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51760" y="2468880"/>
            <a:ext cx="2103120" cy="365760"/>
          </a:xfrm>
          <a:prstGeom prst="rect">
            <a:avLst/>
          </a:prstGeom>
          <a:noFill/>
        </p:spPr>
        <p:txBody>
          <a:bodyPr wrap="square">
            <a:spAutoFit/>
          </a:bodyPr>
          <a:lstStyle/>
          <a:p>
            <a:pPr algn="ctr">
              <a:defRPr sz="1600" b="1">
                <a:solidFill>
                  <a:srgbClr val="1A1A2E"/>
                </a:solidFill>
                <a:latin typeface="Segoe UI"/>
              </a:defRPr>
            </a:pPr>
            <a:r>
              <a:rPr>
                <a:latin typeface="Segoe UI"/>
                <a:ea typeface="Meiryo UI"/>
              </a:rPr>
              <a:t>モデル設定</a:t>
            </a:r>
          </a:p>
        </p:txBody>
      </p:sp>
      <p:sp>
        <p:nvSpPr>
          <p:cNvPr id="15" name="Rounded Rectangle 14"/>
          <p:cNvSpPr/>
          <p:nvPr/>
        </p:nvSpPr>
        <p:spPr>
          <a:xfrm>
            <a:off x="2651760" y="3017520"/>
            <a:ext cx="2103120" cy="2011680"/>
          </a:xfrm>
          <a:prstGeom prst="roundRect">
            <a:avLst/>
          </a:prstGeom>
          <a:solidFill>
            <a:srgbClr val="F0F4F8"/>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88920" y="3154680"/>
            <a:ext cx="1828800" cy="1280160"/>
          </a:xfrm>
          <a:prstGeom prst="rect">
            <a:avLst/>
          </a:prstGeom>
          <a:noFill/>
        </p:spPr>
        <p:txBody>
          <a:bodyPr wrap="square">
            <a:spAutoFit/>
          </a:bodyPr>
          <a:lstStyle/>
          <a:p>
            <a:pPr algn="ctr">
              <a:defRPr sz="1100" b="0">
                <a:solidFill>
                  <a:srgbClr val="1A1A2E"/>
                </a:solidFill>
                <a:latin typeface="Segoe UI"/>
              </a:defRPr>
            </a:pPr>
            <a:r>
              <a:rPr>
                <a:latin typeface="Segoe UI"/>
                <a:ea typeface="Meiryo UI"/>
              </a:rPr>
              <a:t>openai / gpt-4o-mini を</a:t>
            </a:r>
            <a:br/>
            <a:r>
              <a:rPr>
                <a:latin typeface="Segoe UI"/>
                <a:ea typeface="Meiryo UI"/>
              </a:rPr>
              <a:t>利用可能な LLM</a:t>
            </a:r>
            <a:br/>
            <a:r>
              <a:rPr>
                <a:latin typeface="Segoe UI"/>
                <a:ea typeface="Meiryo UI"/>
              </a:rPr>
              <a:t>プロバイダーに変更</a:t>
            </a:r>
          </a:p>
        </p:txBody>
      </p:sp>
      <p:sp>
        <p:nvSpPr>
          <p:cNvPr id="17" name="TextBox 16"/>
          <p:cNvSpPr txBox="1"/>
          <p:nvPr/>
        </p:nvSpPr>
        <p:spPr>
          <a:xfrm>
            <a:off x="2788920" y="4480560"/>
            <a:ext cx="1828800" cy="274320"/>
          </a:xfrm>
          <a:prstGeom prst="rect">
            <a:avLst/>
          </a:prstGeom>
          <a:noFill/>
        </p:spPr>
        <p:txBody>
          <a:bodyPr wrap="square">
            <a:spAutoFit/>
          </a:bodyPr>
          <a:lstStyle/>
          <a:p>
            <a:pPr algn="ctr">
              <a:defRPr sz="1000" b="1">
                <a:solidFill>
                  <a:srgbClr val="006EBF"/>
                </a:solidFill>
                <a:latin typeface="Segoe UI"/>
              </a:defRPr>
            </a:pPr>
            <a:r>
              <a:rPr>
                <a:latin typeface="Segoe UI"/>
                <a:ea typeface="Meiryo UI"/>
              </a:rPr>
              <a:t>所要: 数分</a:t>
            </a:r>
          </a:p>
        </p:txBody>
      </p:sp>
      <p:sp>
        <p:nvSpPr>
          <p:cNvPr id="18" name="Oval 17"/>
          <p:cNvSpPr/>
          <p:nvPr/>
        </p:nvSpPr>
        <p:spPr>
          <a:xfrm>
            <a:off x="5532120" y="1371600"/>
            <a:ext cx="914400" cy="914400"/>
          </a:xfrm>
          <a:prstGeom prst="ellipse">
            <a:avLst/>
          </a:prstGeom>
          <a:solidFill>
            <a:srgbClr val="006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32120" y="1463040"/>
            <a:ext cx="914400" cy="731520"/>
          </a:xfrm>
          <a:prstGeom prst="rect">
            <a:avLst/>
          </a:prstGeom>
          <a:noFill/>
        </p:spPr>
        <p:txBody>
          <a:bodyPr wrap="square">
            <a:spAutoFit/>
          </a:bodyPr>
          <a:lstStyle/>
          <a:p>
            <a:pPr algn="ctr">
              <a:defRPr sz="1300" b="1">
                <a:solidFill>
                  <a:srgbClr val="FFFFFF"/>
                </a:solidFill>
                <a:latin typeface="Segoe UI"/>
              </a:defRPr>
            </a:pPr>
            <a:r>
              <a:rPr>
                <a:latin typeface="Segoe UI"/>
                <a:ea typeface="Meiryo UI"/>
              </a:rPr>
              <a:t>STEP 3</a:t>
            </a:r>
          </a:p>
        </p:txBody>
      </p:sp>
      <p:sp>
        <p:nvSpPr>
          <p:cNvPr id="20" name="Right Arrow 19"/>
          <p:cNvSpPr/>
          <p:nvPr/>
        </p:nvSpPr>
        <p:spPr>
          <a:xfrm>
            <a:off x="6583680" y="1645920"/>
            <a:ext cx="457200" cy="365760"/>
          </a:xfrm>
          <a:prstGeom prst="rightArrow">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37760" y="2468880"/>
            <a:ext cx="2103120" cy="365760"/>
          </a:xfrm>
          <a:prstGeom prst="rect">
            <a:avLst/>
          </a:prstGeom>
          <a:noFill/>
        </p:spPr>
        <p:txBody>
          <a:bodyPr wrap="square">
            <a:spAutoFit/>
          </a:bodyPr>
          <a:lstStyle/>
          <a:p>
            <a:pPr algn="ctr">
              <a:defRPr sz="1600" b="1">
                <a:solidFill>
                  <a:srgbClr val="1A1A2E"/>
                </a:solidFill>
                <a:latin typeface="Segoe UI"/>
              </a:defRPr>
            </a:pPr>
            <a:r>
              <a:rPr>
                <a:latin typeface="Segoe UI"/>
                <a:ea typeface="Meiryo UI"/>
              </a:rPr>
              <a:t>API / KB 接続</a:t>
            </a:r>
          </a:p>
        </p:txBody>
      </p:sp>
      <p:sp>
        <p:nvSpPr>
          <p:cNvPr id="22" name="Rounded Rectangle 21"/>
          <p:cNvSpPr/>
          <p:nvPr/>
        </p:nvSpPr>
        <p:spPr>
          <a:xfrm>
            <a:off x="4937760" y="3017520"/>
            <a:ext cx="2103120" cy="2011680"/>
          </a:xfrm>
          <a:prstGeom prst="roundRect">
            <a:avLst/>
          </a:prstGeom>
          <a:solidFill>
            <a:srgbClr val="F0F4F8"/>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74920" y="3154680"/>
            <a:ext cx="1828800" cy="1280160"/>
          </a:xfrm>
          <a:prstGeom prst="rect">
            <a:avLst/>
          </a:prstGeom>
          <a:noFill/>
        </p:spPr>
        <p:txBody>
          <a:bodyPr wrap="square">
            <a:spAutoFit/>
          </a:bodyPr>
          <a:lstStyle/>
          <a:p>
            <a:pPr algn="ctr">
              <a:defRPr sz="1100" b="0">
                <a:solidFill>
                  <a:srgbClr val="1A1A2E"/>
                </a:solidFill>
                <a:latin typeface="Segoe UI"/>
              </a:defRPr>
            </a:pPr>
            <a:r>
              <a:rPr>
                <a:latin typeface="Segoe UI"/>
                <a:ea typeface="Meiryo UI"/>
              </a:rPr>
              <a:t>api.example.com を</a:t>
            </a:r>
            <a:br/>
            <a:r>
              <a:rPr>
                <a:latin typeface="Segoe UI"/>
                <a:ea typeface="Meiryo UI"/>
              </a:rPr>
              <a:t>実 API に変更</a:t>
            </a:r>
            <a:br/>
            <a:r>
              <a:rPr>
                <a:latin typeface="Segoe UI"/>
                <a:ea typeface="Meiryo UI"/>
              </a:rPr>
              <a:t>ナレッジベース ID を設定</a:t>
            </a:r>
          </a:p>
        </p:txBody>
      </p:sp>
      <p:sp>
        <p:nvSpPr>
          <p:cNvPr id="24" name="TextBox 23"/>
          <p:cNvSpPr txBox="1"/>
          <p:nvPr/>
        </p:nvSpPr>
        <p:spPr>
          <a:xfrm>
            <a:off x="5074920" y="4480560"/>
            <a:ext cx="1828800" cy="274320"/>
          </a:xfrm>
          <a:prstGeom prst="rect">
            <a:avLst/>
          </a:prstGeom>
          <a:noFill/>
        </p:spPr>
        <p:txBody>
          <a:bodyPr wrap="square">
            <a:spAutoFit/>
          </a:bodyPr>
          <a:lstStyle/>
          <a:p>
            <a:pPr algn="ctr">
              <a:defRPr sz="1000" b="1">
                <a:solidFill>
                  <a:srgbClr val="006EBF"/>
                </a:solidFill>
                <a:latin typeface="Segoe UI"/>
              </a:defRPr>
            </a:pPr>
            <a:r>
              <a:rPr>
                <a:latin typeface="Segoe UI"/>
                <a:ea typeface="Meiryo UI"/>
              </a:rPr>
              <a:t>所要: 数時間</a:t>
            </a:r>
          </a:p>
        </p:txBody>
      </p:sp>
      <p:sp>
        <p:nvSpPr>
          <p:cNvPr id="25" name="Oval 24"/>
          <p:cNvSpPr/>
          <p:nvPr/>
        </p:nvSpPr>
        <p:spPr>
          <a:xfrm>
            <a:off x="7818120" y="1371600"/>
            <a:ext cx="914400" cy="914400"/>
          </a:xfrm>
          <a:prstGeom prst="ellipse">
            <a:avLst/>
          </a:prstGeom>
          <a:solidFill>
            <a:srgbClr val="006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18120" y="1463040"/>
            <a:ext cx="914400" cy="731520"/>
          </a:xfrm>
          <a:prstGeom prst="rect">
            <a:avLst/>
          </a:prstGeom>
          <a:noFill/>
        </p:spPr>
        <p:txBody>
          <a:bodyPr wrap="square">
            <a:spAutoFit/>
          </a:bodyPr>
          <a:lstStyle/>
          <a:p>
            <a:pPr algn="ctr">
              <a:defRPr sz="1300" b="1">
                <a:solidFill>
                  <a:srgbClr val="FFFFFF"/>
                </a:solidFill>
                <a:latin typeface="Segoe UI"/>
              </a:defRPr>
            </a:pPr>
            <a:r>
              <a:rPr>
                <a:latin typeface="Segoe UI"/>
                <a:ea typeface="Meiryo UI"/>
              </a:rPr>
              <a:t>STEP 4</a:t>
            </a:r>
          </a:p>
        </p:txBody>
      </p:sp>
      <p:sp>
        <p:nvSpPr>
          <p:cNvPr id="27" name="Right Arrow 26"/>
          <p:cNvSpPr/>
          <p:nvPr/>
        </p:nvSpPr>
        <p:spPr>
          <a:xfrm>
            <a:off x="8869680" y="1645920"/>
            <a:ext cx="457200" cy="365760"/>
          </a:xfrm>
          <a:prstGeom prst="rightArrow">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23760" y="2468880"/>
            <a:ext cx="2103120" cy="365760"/>
          </a:xfrm>
          <a:prstGeom prst="rect">
            <a:avLst/>
          </a:prstGeom>
          <a:noFill/>
        </p:spPr>
        <p:txBody>
          <a:bodyPr wrap="square">
            <a:spAutoFit/>
          </a:bodyPr>
          <a:lstStyle/>
          <a:p>
            <a:pPr algn="ctr">
              <a:defRPr sz="1600" b="1">
                <a:solidFill>
                  <a:srgbClr val="1A1A2E"/>
                </a:solidFill>
                <a:latin typeface="Segoe UI"/>
              </a:defRPr>
            </a:pPr>
            <a:r>
              <a:rPr>
                <a:latin typeface="Segoe UI"/>
                <a:ea typeface="Meiryo UI"/>
              </a:rPr>
              <a:t>プロンプト調整</a:t>
            </a:r>
          </a:p>
        </p:txBody>
      </p:sp>
      <p:sp>
        <p:nvSpPr>
          <p:cNvPr id="29" name="Rounded Rectangle 28"/>
          <p:cNvSpPr/>
          <p:nvPr/>
        </p:nvSpPr>
        <p:spPr>
          <a:xfrm>
            <a:off x="7223760" y="3017520"/>
            <a:ext cx="2103120" cy="2011680"/>
          </a:xfrm>
          <a:prstGeom prst="roundRect">
            <a:avLst/>
          </a:prstGeom>
          <a:solidFill>
            <a:srgbClr val="F0F4F8"/>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60920" y="3154680"/>
            <a:ext cx="1828800" cy="1280160"/>
          </a:xfrm>
          <a:prstGeom prst="rect">
            <a:avLst/>
          </a:prstGeom>
          <a:noFill/>
        </p:spPr>
        <p:txBody>
          <a:bodyPr wrap="square">
            <a:spAutoFit/>
          </a:bodyPr>
          <a:lstStyle/>
          <a:p>
            <a:pPr algn="ctr">
              <a:defRPr sz="1100" b="0">
                <a:solidFill>
                  <a:srgbClr val="1A1A2E"/>
                </a:solidFill>
                <a:latin typeface="Segoe UI"/>
              </a:defRPr>
            </a:pPr>
            <a:r>
              <a:rPr>
                <a:latin typeface="Segoe UI"/>
                <a:ea typeface="Meiryo UI"/>
              </a:rPr>
              <a:t>自行の規程・商品情報</a:t>
            </a:r>
            <a:br/>
            <a:r>
              <a:rPr>
                <a:latin typeface="Segoe UI"/>
                <a:ea typeface="Meiryo UI"/>
              </a:rPr>
              <a:t>審査基準を</a:t>
            </a:r>
            <a:br/>
            <a:r>
              <a:rPr>
                <a:latin typeface="Segoe UI"/>
                <a:ea typeface="Meiryo UI"/>
              </a:rPr>
              <a:t>プロンプトに反映</a:t>
            </a:r>
          </a:p>
        </p:txBody>
      </p:sp>
      <p:sp>
        <p:nvSpPr>
          <p:cNvPr id="31" name="TextBox 30"/>
          <p:cNvSpPr txBox="1"/>
          <p:nvPr/>
        </p:nvSpPr>
        <p:spPr>
          <a:xfrm>
            <a:off x="7360920" y="4480560"/>
            <a:ext cx="1828800" cy="274320"/>
          </a:xfrm>
          <a:prstGeom prst="rect">
            <a:avLst/>
          </a:prstGeom>
          <a:noFill/>
        </p:spPr>
        <p:txBody>
          <a:bodyPr wrap="square">
            <a:spAutoFit/>
          </a:bodyPr>
          <a:lstStyle/>
          <a:p>
            <a:pPr algn="ctr">
              <a:defRPr sz="1000" b="1">
                <a:solidFill>
                  <a:srgbClr val="006EBF"/>
                </a:solidFill>
                <a:latin typeface="Segoe UI"/>
              </a:defRPr>
            </a:pPr>
            <a:r>
              <a:rPr>
                <a:latin typeface="Segoe UI"/>
                <a:ea typeface="Meiryo UI"/>
              </a:rPr>
              <a:t>所要: 1〜2日</a:t>
            </a:r>
          </a:p>
        </p:txBody>
      </p:sp>
      <p:sp>
        <p:nvSpPr>
          <p:cNvPr id="32" name="Oval 31"/>
          <p:cNvSpPr/>
          <p:nvPr/>
        </p:nvSpPr>
        <p:spPr>
          <a:xfrm>
            <a:off x="10104120" y="1371600"/>
            <a:ext cx="914400" cy="914400"/>
          </a:xfrm>
          <a:prstGeom prst="ellipse">
            <a:avLst/>
          </a:prstGeom>
          <a:solidFill>
            <a:srgbClr val="006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04120" y="1463040"/>
            <a:ext cx="914400" cy="731520"/>
          </a:xfrm>
          <a:prstGeom prst="rect">
            <a:avLst/>
          </a:prstGeom>
          <a:noFill/>
        </p:spPr>
        <p:txBody>
          <a:bodyPr wrap="square">
            <a:spAutoFit/>
          </a:bodyPr>
          <a:lstStyle/>
          <a:p>
            <a:pPr algn="ctr">
              <a:defRPr sz="1300" b="1">
                <a:solidFill>
                  <a:srgbClr val="FFFFFF"/>
                </a:solidFill>
                <a:latin typeface="Segoe UI"/>
              </a:defRPr>
            </a:pPr>
            <a:r>
              <a:rPr>
                <a:latin typeface="Segoe UI"/>
                <a:ea typeface="Meiryo UI"/>
              </a:rPr>
              <a:t>STEP 5</a:t>
            </a:r>
          </a:p>
        </p:txBody>
      </p:sp>
      <p:sp>
        <p:nvSpPr>
          <p:cNvPr id="34" name="TextBox 33"/>
          <p:cNvSpPr txBox="1"/>
          <p:nvPr/>
        </p:nvSpPr>
        <p:spPr>
          <a:xfrm>
            <a:off x="9509760" y="2468880"/>
            <a:ext cx="2103120" cy="365760"/>
          </a:xfrm>
          <a:prstGeom prst="rect">
            <a:avLst/>
          </a:prstGeom>
          <a:noFill/>
        </p:spPr>
        <p:txBody>
          <a:bodyPr wrap="square">
            <a:spAutoFit/>
          </a:bodyPr>
          <a:lstStyle/>
          <a:p>
            <a:pPr algn="ctr">
              <a:defRPr sz="1600" b="1">
                <a:solidFill>
                  <a:srgbClr val="1A1A2E"/>
                </a:solidFill>
                <a:latin typeface="Segoe UI"/>
              </a:defRPr>
            </a:pPr>
            <a:r>
              <a:rPr>
                <a:latin typeface="Segoe UI"/>
                <a:ea typeface="Meiryo UI"/>
              </a:rPr>
              <a:t>テスト・運用開始</a:t>
            </a:r>
          </a:p>
        </p:txBody>
      </p:sp>
      <p:sp>
        <p:nvSpPr>
          <p:cNvPr id="35" name="Rounded Rectangle 34"/>
          <p:cNvSpPr/>
          <p:nvPr/>
        </p:nvSpPr>
        <p:spPr>
          <a:xfrm>
            <a:off x="9509760" y="3017520"/>
            <a:ext cx="2103120" cy="2011680"/>
          </a:xfrm>
          <a:prstGeom prst="roundRect">
            <a:avLst/>
          </a:prstGeom>
          <a:solidFill>
            <a:srgbClr val="F0F4F8"/>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46920" y="3154680"/>
            <a:ext cx="1828800" cy="1280160"/>
          </a:xfrm>
          <a:prstGeom prst="rect">
            <a:avLst/>
          </a:prstGeom>
          <a:noFill/>
        </p:spPr>
        <p:txBody>
          <a:bodyPr wrap="square">
            <a:spAutoFit/>
          </a:bodyPr>
          <a:lstStyle/>
          <a:p>
            <a:pPr algn="ctr">
              <a:defRPr sz="1100" b="0">
                <a:solidFill>
                  <a:srgbClr val="1A1A2E"/>
                </a:solidFill>
                <a:latin typeface="Segoe UI"/>
              </a:defRPr>
            </a:pPr>
            <a:r>
              <a:rPr>
                <a:latin typeface="Segoe UI"/>
                <a:ea typeface="Meiryo UI"/>
              </a:rPr>
              <a:t>評価データで検証</a:t>
            </a:r>
            <a:br/>
            <a:r>
              <a:rPr>
                <a:latin typeface="Segoe UI"/>
                <a:ea typeface="Meiryo UI"/>
              </a:rPr>
              <a:t>段階的に本番展開</a:t>
            </a:r>
            <a:br/>
            <a:r>
              <a:rPr>
                <a:latin typeface="Segoe UI"/>
                <a:ea typeface="Meiryo UI"/>
              </a:rPr>
              <a:t>モニタリング体制構築</a:t>
            </a:r>
          </a:p>
        </p:txBody>
      </p:sp>
      <p:sp>
        <p:nvSpPr>
          <p:cNvPr id="37" name="TextBox 36"/>
          <p:cNvSpPr txBox="1"/>
          <p:nvPr/>
        </p:nvSpPr>
        <p:spPr>
          <a:xfrm>
            <a:off x="9646920" y="4480560"/>
            <a:ext cx="1828800" cy="274320"/>
          </a:xfrm>
          <a:prstGeom prst="rect">
            <a:avLst/>
          </a:prstGeom>
          <a:noFill/>
        </p:spPr>
        <p:txBody>
          <a:bodyPr wrap="square">
            <a:spAutoFit/>
          </a:bodyPr>
          <a:lstStyle/>
          <a:p>
            <a:pPr algn="ctr">
              <a:defRPr sz="1000" b="1">
                <a:solidFill>
                  <a:srgbClr val="006EBF"/>
                </a:solidFill>
                <a:latin typeface="Segoe UI"/>
              </a:defRPr>
            </a:pPr>
            <a:r>
              <a:rPr>
                <a:latin typeface="Segoe UI"/>
                <a:ea typeface="Meiryo UI"/>
              </a:rPr>
              <a:t>所要: 1〜2週間</a:t>
            </a:r>
          </a:p>
        </p:txBody>
      </p:sp>
      <p:sp>
        <p:nvSpPr>
          <p:cNvPr id="38" name="TextBox 37"/>
          <p:cNvSpPr txBox="1"/>
          <p:nvPr/>
        </p:nvSpPr>
        <p:spPr>
          <a:xfrm>
            <a:off x="731520" y="5486400"/>
            <a:ext cx="10515600" cy="73152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 上記は目安です。既存システムとの連携範囲や自行固有のカスタマイズ内容により変動します。</a:t>
            </a:r>
            <a:br/>
            <a:r>
              <a:rPr>
                <a:latin typeface="Segoe UI"/>
                <a:ea typeface="Meiryo UI"/>
              </a:rPr>
              <a:t>※ STEP 1〜2 はテンプレートの即時利用（PoC）として実施可能です。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6200"/>
          </a:xfrm>
          <a:prstGeom prst="rect">
            <a:avLst/>
          </a:prstGeom>
          <a:solidFill>
            <a:srgbClr val="006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144000" cy="914400"/>
          </a:xfrm>
          <a:prstGeom prst="rect">
            <a:avLst/>
          </a:prstGeom>
          <a:noFill/>
        </p:spPr>
        <p:txBody>
          <a:bodyPr wrap="square">
            <a:spAutoFit/>
          </a:bodyPr>
          <a:lstStyle/>
          <a:p>
            <a:pPr algn="ctr">
              <a:defRPr sz="3600" b="1">
                <a:solidFill>
                  <a:srgbClr val="FFFFFF"/>
                </a:solidFill>
                <a:latin typeface="Segoe UI"/>
              </a:defRPr>
            </a:pPr>
            <a:r>
              <a:rPr>
                <a:latin typeface="Segoe UI"/>
                <a:ea typeface="Meiryo UI"/>
              </a:rPr>
              <a:t>AI ワークフローで銀行業務を変革する</a:t>
            </a:r>
          </a:p>
        </p:txBody>
      </p:sp>
      <p:sp>
        <p:nvSpPr>
          <p:cNvPr id="5" name="Rectangle 4"/>
          <p:cNvSpPr/>
          <p:nvPr/>
        </p:nvSpPr>
        <p:spPr>
          <a:xfrm>
            <a:off x="4572000" y="3017520"/>
            <a:ext cx="3017520" cy="50800"/>
          </a:xfrm>
          <a:prstGeom prst="rect">
            <a:avLst/>
          </a:prstGeom>
          <a:solidFill>
            <a:srgbClr val="006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3474720"/>
            <a:ext cx="8229600" cy="457200"/>
          </a:xfrm>
          <a:prstGeom prst="rect">
            <a:avLst/>
          </a:prstGeom>
          <a:noFill/>
        </p:spPr>
        <p:txBody>
          <a:bodyPr wrap="square">
            <a:spAutoFit/>
          </a:bodyPr>
          <a:lstStyle/>
          <a:p>
            <a:pPr algn="ctr">
              <a:defRPr sz="1800" b="0">
                <a:solidFill>
                  <a:srgbClr val="A0C0E0"/>
                </a:solidFill>
                <a:latin typeface="Segoe UI"/>
              </a:defRPr>
            </a:pPr>
            <a:r>
              <a:rPr>
                <a:latin typeface="Segoe UI"/>
                <a:ea typeface="Meiryo UI"/>
              </a:rPr>
              <a:t>10 の実践的テンプレートで、導入初日から業務効率化を実現</a:t>
            </a:r>
          </a:p>
        </p:txBody>
      </p:sp>
      <p:sp>
        <p:nvSpPr>
          <p:cNvPr id="7" name="Rounded Rectangle 6"/>
          <p:cNvSpPr/>
          <p:nvPr/>
        </p:nvSpPr>
        <p:spPr>
          <a:xfrm>
            <a:off x="1645920" y="4206240"/>
            <a:ext cx="2743200" cy="731520"/>
          </a:xfrm>
          <a:prstGeom prst="roundRect">
            <a:avLst/>
          </a:prstGeom>
          <a:solidFill>
            <a:srgbClr val="1B2A4A"/>
          </a:solidFill>
          <a:ln w="12700">
            <a:solidFill>
              <a:srgbClr val="406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37360" y="4343400"/>
            <a:ext cx="2560320" cy="457200"/>
          </a:xfrm>
          <a:prstGeom prst="rect">
            <a:avLst/>
          </a:prstGeom>
          <a:noFill/>
        </p:spPr>
        <p:txBody>
          <a:bodyPr wrap="square">
            <a:spAutoFit/>
          </a:bodyPr>
          <a:lstStyle/>
          <a:p>
            <a:pPr algn="ctr">
              <a:defRPr sz="1600" b="1">
                <a:solidFill>
                  <a:srgbClr val="FFFFFF"/>
                </a:solidFill>
                <a:latin typeface="Segoe UI"/>
              </a:defRPr>
            </a:pPr>
            <a:r>
              <a:rPr>
                <a:latin typeface="Segoe UI"/>
                <a:ea typeface="Meiryo UI"/>
              </a:rPr>
              <a:t>即座にインポート可能</a:t>
            </a:r>
          </a:p>
        </p:txBody>
      </p:sp>
      <p:sp>
        <p:nvSpPr>
          <p:cNvPr id="9" name="Rounded Rectangle 8"/>
          <p:cNvSpPr/>
          <p:nvPr/>
        </p:nvSpPr>
        <p:spPr>
          <a:xfrm>
            <a:off x="4846320" y="4206240"/>
            <a:ext cx="2743200" cy="731520"/>
          </a:xfrm>
          <a:prstGeom prst="roundRect">
            <a:avLst/>
          </a:prstGeom>
          <a:solidFill>
            <a:srgbClr val="1B2A4A"/>
          </a:solidFill>
          <a:ln w="12700">
            <a:solidFill>
              <a:srgbClr val="406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0" y="4343400"/>
            <a:ext cx="2560320" cy="457200"/>
          </a:xfrm>
          <a:prstGeom prst="rect">
            <a:avLst/>
          </a:prstGeom>
          <a:noFill/>
        </p:spPr>
        <p:txBody>
          <a:bodyPr wrap="square">
            <a:spAutoFit/>
          </a:bodyPr>
          <a:lstStyle/>
          <a:p>
            <a:pPr algn="ctr">
              <a:defRPr sz="1600" b="1">
                <a:solidFill>
                  <a:srgbClr val="FFFFFF"/>
                </a:solidFill>
                <a:latin typeface="Segoe UI"/>
              </a:defRPr>
            </a:pPr>
            <a:r>
              <a:rPr>
                <a:latin typeface="Segoe UI"/>
                <a:ea typeface="Meiryo UI"/>
              </a:rPr>
              <a:t>銀行業固有の要件を内包</a:t>
            </a:r>
          </a:p>
        </p:txBody>
      </p:sp>
      <p:sp>
        <p:nvSpPr>
          <p:cNvPr id="11" name="Rounded Rectangle 10"/>
          <p:cNvSpPr/>
          <p:nvPr/>
        </p:nvSpPr>
        <p:spPr>
          <a:xfrm>
            <a:off x="8046720" y="4206240"/>
            <a:ext cx="2743200" cy="731520"/>
          </a:xfrm>
          <a:prstGeom prst="roundRect">
            <a:avLst/>
          </a:prstGeom>
          <a:solidFill>
            <a:srgbClr val="1B2A4A"/>
          </a:solidFill>
          <a:ln w="12700">
            <a:solidFill>
              <a:srgbClr val="406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4343400"/>
            <a:ext cx="2560320" cy="457200"/>
          </a:xfrm>
          <a:prstGeom prst="rect">
            <a:avLst/>
          </a:prstGeom>
          <a:noFill/>
        </p:spPr>
        <p:txBody>
          <a:bodyPr wrap="square">
            <a:spAutoFit/>
          </a:bodyPr>
          <a:lstStyle/>
          <a:p>
            <a:pPr algn="ctr">
              <a:defRPr sz="1600" b="1">
                <a:solidFill>
                  <a:srgbClr val="FFFFFF"/>
                </a:solidFill>
                <a:latin typeface="Segoe UI"/>
              </a:defRPr>
            </a:pPr>
            <a:r>
              <a:rPr>
                <a:latin typeface="Segoe UI"/>
                <a:ea typeface="Meiryo UI"/>
              </a:rPr>
              <a:t>柔軟なカスタマイズ性</a:t>
            </a:r>
          </a:p>
        </p:txBody>
      </p:sp>
      <p:sp>
        <p:nvSpPr>
          <p:cNvPr id="13" name="TextBox 12"/>
          <p:cNvSpPr txBox="1"/>
          <p:nvPr/>
        </p:nvSpPr>
        <p:spPr>
          <a:xfrm>
            <a:off x="1371600" y="5486400"/>
            <a:ext cx="9144000" cy="457200"/>
          </a:xfrm>
          <a:prstGeom prst="rect">
            <a:avLst/>
          </a:prstGeom>
          <a:noFill/>
        </p:spPr>
        <p:txBody>
          <a:bodyPr wrap="square">
            <a:spAutoFit/>
          </a:bodyPr>
          <a:lstStyle/>
          <a:p>
            <a:pPr algn="ctr">
              <a:defRPr sz="1400" b="0">
                <a:solidFill>
                  <a:srgbClr val="80A0C0"/>
                </a:solidFill>
                <a:latin typeface="Segoe UI"/>
              </a:defRPr>
            </a:pPr>
            <a:r>
              <a:rPr>
                <a:latin typeface="Segoe UI"/>
                <a:ea typeface="Meiryo UI"/>
              </a:rPr>
              <a:t>ご質問・デモのご依頼はお気軽にお問い合わせください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