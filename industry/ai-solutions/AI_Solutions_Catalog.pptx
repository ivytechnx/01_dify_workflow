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011680"/>
            <a:ext cx="941832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Meiryo"/>
              </a:defRPr>
            </a:pPr>
            <a:r>
              <a:t>Dify AI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4FC3F7"/>
                </a:solidFill>
                <a:latin typeface="Meiryo"/>
              </a:defRPr>
            </a:pPr>
            <a:r>
              <a:t>AI ワークフロー機能カタログ  |  全10ソリューション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Meiryo"/>
              </a:defRPr>
            </a:pPr>
            <a:r>
              <a:t>業務効率化 x 生成AI  ── Difyプラットフォームで即導入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5303520"/>
            <a:ext cx="2011680" cy="457200"/>
          </a:xfrm>
          <a:prstGeom prst="roundRect">
            <a:avLst/>
          </a:prstGeom>
          <a:solidFill>
            <a:srgbClr val="0096D6"/>
          </a:solidFill>
          <a:ln w="1270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DSL v0.1.5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eiryo"/>
              </a:defRPr>
            </a:pPr>
            <a:r>
              <a:t>ソリューション一覧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365760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8686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554480"/>
            <a:ext cx="502920" cy="50292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4813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eiryo"/>
              </a:defRPr>
            </a:pPr>
            <a:r>
              <a:t>AIS-01: SEO記事自動生成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8470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コンテンツマーケティング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71600"/>
            <a:ext cx="5303520" cy="8686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AB4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37960" y="1554480"/>
            <a:ext cx="502920" cy="502920"/>
          </a:xfrm>
          <a:prstGeom prst="round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14813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eiryo"/>
              </a:defRPr>
            </a:pPr>
            <a:r>
              <a:t>AIS-02: 契約書リスクレビュー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18470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法務・コンプライアンス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377440"/>
            <a:ext cx="5303520" cy="8686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" y="2560320"/>
            <a:ext cx="502920" cy="50292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4871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eiryo"/>
              </a:defRPr>
            </a:pPr>
            <a:r>
              <a:t>AIS-03: CSチャットボット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8529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カスタマーサポート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377440"/>
            <a:ext cx="5303520" cy="8686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37960" y="2560320"/>
            <a:ext cx="502920" cy="502920"/>
          </a:xfrm>
          <a:prstGeom prst="round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4871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eiryo"/>
              </a:defRPr>
            </a:pPr>
            <a:r>
              <a:t>AIS-04: 議事録AI要約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8529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会議・コラボレーション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383280"/>
            <a:ext cx="5303520" cy="8686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26A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8680" y="3566160"/>
            <a:ext cx="502920" cy="502920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4930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eiryo"/>
              </a:defRPr>
            </a:pPr>
            <a:r>
              <a:t>AIS-05: 社内ナレッジ検索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38587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ナレッジマネジメント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383280"/>
            <a:ext cx="5303520" cy="8686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789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37960" y="3566160"/>
            <a:ext cx="502920" cy="502920"/>
          </a:xfrm>
          <a:prstGeom prst="roundRect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34930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eiryo"/>
              </a:defRPr>
            </a:pPr>
            <a:r>
              <a:t>AIS-06: 長文ドキュメント要約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38587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ドキュメント管理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389120"/>
            <a:ext cx="5303520" cy="8686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5C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68680" y="4572000"/>
            <a:ext cx="502920" cy="502920"/>
          </a:xfrm>
          <a:prstGeom prst="round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44988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eiryo"/>
              </a:defRPr>
            </a:pPr>
            <a:r>
              <a:t>AIS-07: Webリサーチレポート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486460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リサーチ・分析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4389120"/>
            <a:ext cx="5303520" cy="8686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EC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537960" y="4572000"/>
            <a:ext cx="502920" cy="502920"/>
          </a:xfrm>
          <a:prstGeom prst="roundRect">
            <a:avLst/>
          </a:prstGeom>
          <a:solidFill>
            <a:srgbClr val="EC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44988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eiryo"/>
              </a:defRPr>
            </a:pPr>
            <a:r>
              <a:t>AIS-08: マーケティングコピー生成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486460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マーケティング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5394960"/>
            <a:ext cx="5303520" cy="8686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26A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68680" y="5577840"/>
            <a:ext cx="502920" cy="502920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54480" y="55046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eiryo"/>
              </a:defRPr>
            </a:pPr>
            <a:r>
              <a:t>AIS-09: AI営業提案書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54480" y="58704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セールス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5394960"/>
            <a:ext cx="5303520" cy="8686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537960" y="5577840"/>
            <a:ext cx="502920" cy="502920"/>
          </a:xfrm>
          <a:prstGeom prst="round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23760" y="55046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eiryo"/>
              </a:defRPr>
            </a:pPr>
            <a:r>
              <a:t>AIS-10: 求人票・JD自動生成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3760" y="58704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HR・採用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eiryo"/>
              </a:defRPr>
            </a:pPr>
            <a:r>
              <a:t>SEO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7315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eiryo"/>
              </a:defRPr>
            </a:pPr>
            <a:r>
              <a:t>AIS-01: SEO記事自動生成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182880"/>
            <a:ext cx="164592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96D6"/>
                </a:solidFill>
                <a:latin typeface="Meiryo"/>
              </a:defRPr>
            </a:pPr>
            <a:r>
              <a:t>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CC"/>
                </a:solidFill>
                <a:latin typeface="Meiryo"/>
              </a:defRPr>
            </a:pPr>
            <a:r>
              <a:t>vs. SAKUBUN / Transcope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  <a:latin typeface="Meiryo"/>
              </a:defRPr>
            </a:pPr>
            <a:r>
              <a:t>概要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SEOターゲットキーワードと記事タイプを指定すると、構成案を自動生成し、各セクションをイテレーションで並列執筆、最終的に統合・推敲してSEO最適化された記事を出力する。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  <a:latin typeface="Meiryo"/>
              </a:defRPr>
            </a:pPr>
            <a:r>
              <a:t>入力パラメータ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60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Meiryo"/>
              </a:defRPr>
            </a:pPr>
            <a:r>
              <a:t>  ターゲットキーワード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FFFFFF"/>
                </a:solidFill>
                <a:latin typeface="Meiryo"/>
              </a:defRPr>
            </a:pPr>
            <a:r>
              <a:t>  記事タイプ (解説/比較/ハウツー/まとめ)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FFFFFF"/>
                </a:solidFill>
                <a:latin typeface="Meiryo"/>
              </a:defRPr>
            </a:pPr>
            <a:r>
              <a:t>  目標文字数 (2000/4000/6000)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FFFFFF"/>
                </a:solidFill>
                <a:latin typeface="Meiryo"/>
              </a:defRPr>
            </a:pPr>
            <a:r>
              <a:t>  追加指示 (任意)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4903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  <a:latin typeface="Meiryo"/>
              </a:defRPr>
            </a:pPr>
            <a:r>
              <a:t>ワークフロー構成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069079"/>
            <a:ext cx="5486400" cy="146304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  <a:latin typeface="Meiryo"/>
              </a:defRPr>
            </a:pPr>
            <a:r>
              <a:t>入力バリデーション (Code) → IF-ELSE 分岐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FFFFFF"/>
                </a:solidFill>
                <a:latin typeface="Meiryo"/>
              </a:defRPr>
            </a:pPr>
            <a:r>
              <a:t>→ 構成案生成 (LLM) → 構成パース (Code)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FFFFFF"/>
                </a:solidFill>
                <a:latin typeface="Meiryo"/>
              </a:defRPr>
            </a:pPr>
            <a:r>
              <a:t>→ セクション並列執筆 (Iteration × LLM)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FFFFFF"/>
                </a:solidFill>
                <a:latin typeface="Meiryo"/>
              </a:defRPr>
            </a:pPr>
            <a:r>
              <a:t>→ 統合・推敲 (LLM) → 完成記事出力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669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Meiryo"/>
              </a:defRPr>
            </a:pPr>
            <a:r>
              <a:t>Start → Code → IF-ELSE → LLM → Code → Iteration(LLM) → LLM → 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1430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  <a:latin typeface="Meiryo"/>
              </a:defRPr>
            </a:pPr>
            <a:r>
              <a:t>主要機能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508760"/>
            <a:ext cx="5303520" cy="6858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>
                <a:solidFill>
                  <a:srgbClr val="FFFFFF"/>
                </a:solidFill>
                <a:latin typeface="Meiryo"/>
              </a:defRPr>
            </a:pPr>
            <a:r>
              <a:t>イテレーションによる並列セクション執筆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331720"/>
            <a:ext cx="5303520" cy="6858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>
                <a:solidFill>
                  <a:srgbClr val="FFFFFF"/>
                </a:solidFill>
                <a:latin typeface="Meiryo"/>
              </a:defRPr>
            </a:pPr>
            <a:r>
              <a:t>JSONベースの構成案パース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154680"/>
            <a:ext cx="5303520" cy="6858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>
                <a:solidFill>
                  <a:srgbClr val="FFFFFF"/>
                </a:solidFill>
                <a:latin typeface="Meiryo"/>
              </a:defRPr>
            </a:pPr>
            <a:r>
              <a:t>入力バリデーション + インジェクション検出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977640"/>
            <a:ext cx="5303520" cy="6858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>
                <a:solidFill>
                  <a:srgbClr val="FFFFFF"/>
                </a:solidFill>
                <a:latin typeface="Meiryo"/>
              </a:defRPr>
            </a:pPr>
            <a:r>
              <a:t>フォールバック構成生成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9377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  <a:latin typeface="Meiryo"/>
              </a:defRPr>
            </a:pPr>
            <a:r>
              <a:t>出力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5257800"/>
            <a:ext cx="5303520" cy="54864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SEO最適化記事 (Markdown) + メタディスクリプション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eiryo"/>
              </a:defRPr>
            </a:pPr>
            <a:r>
              <a:t>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7315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eiryo"/>
              </a:defRPr>
            </a:pPr>
            <a:r>
              <a:t>AIS-02: 契約書リスクレビュー（3層ガード）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182880"/>
            <a:ext cx="164592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AB47BC"/>
                </a:solidFill>
                <a:latin typeface="Meiryo"/>
              </a:defRPr>
            </a:pPr>
            <a:r>
              <a:t>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CC"/>
                </a:solidFill>
                <a:latin typeface="Meiryo"/>
              </a:defRPr>
            </a:pPr>
            <a:r>
              <a:t>vs. LegalForce / GVA assist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  <a:latin typeface="Meiryo"/>
              </a:defRPr>
            </a:pPr>
            <a:r>
              <a:t>概要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契約書テキストをアップロードすると、AIが条項ごとにリスク分析・修正提案を行う。入力検証→AI分析→出力検証の3層ガードで安全性を担保。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  <a:latin typeface="Meiryo"/>
              </a:defRPr>
            </a:pPr>
            <a:r>
              <a:t>入力パラメータ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60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Meiryo"/>
              </a:defRPr>
            </a:pPr>
            <a:r>
              <a:t>  契約書テキスト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FFFFFF"/>
                </a:solidFill>
                <a:latin typeface="Meiryo"/>
              </a:defRPr>
            </a:pPr>
            <a:r>
              <a:t>  契約種別 (業務委託/NDA/売買/SaaS等)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FFFFFF"/>
                </a:solidFill>
                <a:latin typeface="Meiryo"/>
              </a:defRPr>
            </a:pPr>
            <a:r>
              <a:t>  レビュー観点 (全項目/リスクのみ/修正提案重視)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4903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  <a:latin typeface="Meiryo"/>
              </a:defRPr>
            </a:pPr>
            <a:r>
              <a:t>ワークフロー構成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069079"/>
            <a:ext cx="5486400" cy="146304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AB4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  <a:latin typeface="Meiryo"/>
              </a:defRPr>
            </a:pPr>
            <a:r>
              <a:t>入力検証 [第1層] (Code) → IF-ELSE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FFFFFF"/>
                </a:solidFill>
                <a:latin typeface="Meiryo"/>
              </a:defRPr>
            </a:pPr>
            <a:r>
              <a:t>→ 契約ガイドライン検索 (Knowledge Retrieval)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FFFFFF"/>
                </a:solidFill>
                <a:latin typeface="Meiryo"/>
              </a:defRPr>
            </a:pPr>
            <a:r>
              <a:t>→ 7カテゴリ リスク分析 [第2層] (LLM)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FFFFFF"/>
                </a:solidFill>
                <a:latin typeface="Meiryo"/>
              </a:defRPr>
            </a:pPr>
            <a:r>
              <a:t>→ 修正提案生成 (LLM) → 出力検証 [第3層] (Code)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FFFFFF"/>
                </a:solidFill>
                <a:latin typeface="Meiryo"/>
              </a:defRPr>
            </a:pPr>
            <a:r>
              <a:t>→ IF-ELSE → レポート整形 (TT) → 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669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Meiryo"/>
              </a:defRPr>
            </a:pPr>
            <a:r>
              <a:t>Start → Code → IF-ELSE → KR → LLM → LLM → Code → IF-ELSE → TT → 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1430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  <a:latin typeface="Meiryo"/>
              </a:defRPr>
            </a:pPr>
            <a:r>
              <a:t>主要機能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508760"/>
            <a:ext cx="5303520" cy="6858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>
                <a:solidFill>
                  <a:srgbClr val="FFFFFF"/>
                </a:solidFill>
                <a:latin typeface="Meiryo"/>
              </a:defRPr>
            </a:pPr>
            <a:r>
              <a:t>3層ガード (入力/AI分析/出力)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331720"/>
            <a:ext cx="5303520" cy="6858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>
                <a:solidFill>
                  <a:srgbClr val="FFFFFF"/>
                </a:solidFill>
                <a:latin typeface="Meiryo"/>
              </a:defRPr>
            </a:pPr>
            <a:r>
              <a:t>7カテゴリのリスク分析テーブル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154680"/>
            <a:ext cx="5303520" cy="6858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>
                <a:solidFill>
                  <a:srgbClr val="FFFFFF"/>
                </a:solidFill>
                <a:latin typeface="Meiryo"/>
              </a:defRPr>
            </a:pPr>
            <a:r>
              <a:t>Knowledge Retrieval (判例/ガイドライン)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977640"/>
            <a:ext cx="5303520" cy="6858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>
                <a:solidFill>
                  <a:srgbClr val="FFFFFF"/>
                </a:solidFill>
                <a:latin typeface="Meiryo"/>
              </a:defRPr>
            </a:pPr>
            <a:r>
              <a:t>断定的法的判断・個人情報露出の自動検出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9377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  <a:latin typeface="Meiryo"/>
              </a:defRPr>
            </a:pPr>
            <a:r>
              <a:t>出力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5257800"/>
            <a:ext cx="5303520" cy="548640"/>
          </a:xfrm>
          <a:prstGeom prst="round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リスクサマリテーブル + 詳細分析 + 修正提案 + 免責事項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eiryo"/>
              </a:defRPr>
            </a:pPr>
            <a:r>
              <a:t>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7315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eiryo"/>
              </a:defRPr>
            </a:pPr>
            <a:r>
              <a:t>AIS-03: カスタマーサポートFAQチャットボット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182880"/>
            <a:ext cx="164592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CAF50"/>
                </a:solidFill>
                <a:latin typeface="Meiryo"/>
              </a:defRPr>
            </a:pPr>
            <a:r>
              <a:t>Advanced Chat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CC"/>
                </a:solidFill>
                <a:latin typeface="Meiryo"/>
              </a:defRPr>
            </a:pPr>
            <a:r>
              <a:t>vs. KARAKURI / ChatPlus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  <a:latin typeface="Meiryo"/>
              </a:defRPr>
            </a:pPr>
            <a:r>
              <a:t>概要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FAQ・商品情報のナレッジベースから高精度に回答し、対応不能な質問はオペレーターへエスカレーションする3分類チャットボット。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  <a:latin typeface="Meiryo"/>
              </a:defRPr>
            </a:pPr>
            <a:r>
              <a:t>入力パラメータ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60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Meiryo"/>
              </a:defRPr>
            </a:pPr>
            <a:r>
              <a:t>  顧客チャット入力 (sys.query)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FFFFFF"/>
                </a:solidFill>
                <a:latin typeface="Meiryo"/>
              </a:defRPr>
            </a:pPr>
            <a:r>
              <a:t>  会話履歴 (自動保持、window=10)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4903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  <a:latin typeface="Meiryo"/>
              </a:defRPr>
            </a:pPr>
            <a:r>
              <a:t>ワークフロー構成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069079"/>
            <a:ext cx="5486400" cy="146304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  <a:latin typeface="Meiryo"/>
              </a:defRPr>
            </a:pPr>
            <a:r>
              <a:t>問い合わせ分類 (Question Classifier)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FFFFFF"/>
                </a:solidFill>
                <a:latin typeface="Meiryo"/>
              </a:defRPr>
            </a:pPr>
            <a:r>
              <a:t>├─ FAQ → FAQ検索 (KR) → FAQ回答 (LLM) → Answer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FFFFFF"/>
                </a:solidFill>
                <a:latin typeface="Meiryo"/>
              </a:defRPr>
            </a:pPr>
            <a:r>
              <a:t>├─ 商品 → 商品情報検索 (KR) → 商品回答 (LLM) → Answer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FFFFFF"/>
                </a:solidFill>
                <a:latin typeface="Meiryo"/>
              </a:defRPr>
            </a:pPr>
            <a:r>
              <a:t>└─ エスカレーション → 案内 (TT) → Answer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669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Meiryo"/>
              </a:defRPr>
            </a:pPr>
            <a:r>
              <a:t>Start → QC → [KR→LLM | KR→LLM | TT] → Answer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1430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  <a:latin typeface="Meiryo"/>
              </a:defRPr>
            </a:pPr>
            <a:r>
              <a:t>主要機能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508760"/>
            <a:ext cx="5303520" cy="6858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>
                <a:solidFill>
                  <a:srgbClr val="FFFFFF"/>
                </a:solidFill>
                <a:latin typeface="Meiryo"/>
              </a:defRPr>
            </a:pPr>
            <a:r>
              <a:t>Question Classifierによる3分類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331720"/>
            <a:ext cx="5303520" cy="6858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>
                <a:solidFill>
                  <a:srgbClr val="FFFFFF"/>
                </a:solidFill>
                <a:latin typeface="Meiryo"/>
              </a:defRPr>
            </a:pPr>
            <a:r>
              <a:t>2系統のKnowledge Retrieval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154680"/>
            <a:ext cx="5303520" cy="6858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>
                <a:solidFill>
                  <a:srgbClr val="FFFFFF"/>
                </a:solidFill>
                <a:latin typeface="Meiryo"/>
              </a:defRPr>
            </a:pPr>
            <a:r>
              <a:t>会話履歴メモリ (window=10)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977640"/>
            <a:ext cx="5303520" cy="6858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>
                <a:solidFill>
                  <a:srgbClr val="FFFFFF"/>
                </a:solidFill>
                <a:latin typeface="Meiryo"/>
              </a:defRPr>
            </a:pPr>
            <a:r>
              <a:t>サジェスト質問 + エスカレーション導線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9377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  <a:latin typeface="Meiryo"/>
              </a:defRPr>
            </a:pPr>
            <a:r>
              <a:t>出力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5257800"/>
            <a:ext cx="5303520" cy="54864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FAQ回答 / 商品情報回答 / オペレーターエスカレーション案内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eiryo"/>
              </a:defRPr>
            </a:pPr>
            <a:r>
              <a:t>MTG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7315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eiryo"/>
              </a:defRPr>
            </a:pPr>
            <a:r>
              <a:t>AIS-04: 議事録AI要約・アクション抽出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182880"/>
            <a:ext cx="164592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8F00"/>
                </a:solidFill>
                <a:latin typeface="Meiryo"/>
              </a:defRPr>
            </a:pPr>
            <a:r>
              <a:t>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CC"/>
                </a:solidFill>
                <a:latin typeface="Meiryo"/>
              </a:defRPr>
            </a:pPr>
            <a:r>
              <a:t>vs. Notta / Rimo Voice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  <a:latin typeface="Meiryo"/>
              </a:defRPr>
            </a:pPr>
            <a:r>
              <a:t>概要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会議テキスト(文字起こし済み)を入力すると、要約・決定事項・アクションアイテム・参加者発言を自動抽出し議事録を生成する。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  <a:latin typeface="Meiryo"/>
              </a:defRPr>
            </a:pPr>
            <a:r>
              <a:t>入力パラメータ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60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Meiryo"/>
              </a:defRPr>
            </a:pPr>
            <a:r>
              <a:t>  会議テキスト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FFFFFF"/>
                </a:solidFill>
                <a:latin typeface="Meiryo"/>
              </a:defRPr>
            </a:pPr>
            <a:r>
              <a:t>  会議名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FFFFFF"/>
                </a:solidFill>
                <a:latin typeface="Meiryo"/>
              </a:defRPr>
            </a:pPr>
            <a:r>
              <a:t>  開催日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FFFFFF"/>
                </a:solidFill>
                <a:latin typeface="Meiryo"/>
              </a:defRPr>
            </a:pPr>
            <a:r>
              <a:t>  出力フォーマット (標準/簡易/詳細)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4903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  <a:latin typeface="Meiryo"/>
              </a:defRPr>
            </a:pPr>
            <a:r>
              <a:t>ワークフロー構成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069079"/>
            <a:ext cx="5486400" cy="146304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  <a:latin typeface="Meiryo"/>
              </a:defRPr>
            </a:pPr>
            <a:r>
              <a:t>入力検証 (Code) → IF-ELSE 分岐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FFFFFF"/>
                </a:solidFill>
                <a:latin typeface="Meiryo"/>
              </a:defRPr>
            </a:pPr>
            <a:r>
              <a:t>→ [要約・決定事項抽出 (LLM)  ]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FFFFFF"/>
                </a:solidFill>
                <a:latin typeface="Meiryo"/>
              </a:defRPr>
            </a:pPr>
            <a:r>
              <a:t>   [アクションアイテム抽出 (LLM)] (並列)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FFFFFF"/>
                </a:solidFill>
                <a:latin typeface="Meiryo"/>
              </a:defRPr>
            </a:pPr>
            <a:r>
              <a:t>→ 結果統合 (Variable Aggregator)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FFFFFF"/>
                </a:solidFill>
                <a:latin typeface="Meiryo"/>
              </a:defRPr>
            </a:pPr>
            <a:r>
              <a:t>→ 議事録整形 (TT) → 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669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Meiryo"/>
              </a:defRPr>
            </a:pPr>
            <a:r>
              <a:t>Start → Code → IF-ELSE → [LLM + LLM] → VA → TT → 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1430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  <a:latin typeface="Meiryo"/>
              </a:defRPr>
            </a:pPr>
            <a:r>
              <a:t>主要機能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508760"/>
            <a:ext cx="5303520" cy="6858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>
                <a:solidFill>
                  <a:srgbClr val="FFFFFF"/>
                </a:solidFill>
                <a:latin typeface="Meiryo"/>
              </a:defRPr>
            </a:pPr>
            <a:r>
              <a:t>2系統LLM並列処理 (要約 + Action)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331720"/>
            <a:ext cx="5303520" cy="6858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>
                <a:solidFill>
                  <a:srgbClr val="FFFFFF"/>
                </a:solidFill>
                <a:latin typeface="Meiryo"/>
              </a:defRPr>
            </a:pPr>
            <a:r>
              <a:t>Variable Aggregator統合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154680"/>
            <a:ext cx="5303520" cy="6858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>
                <a:solidFill>
                  <a:srgbClr val="FFFFFF"/>
                </a:solidFill>
                <a:latin typeface="Meiryo"/>
              </a:defRPr>
            </a:pPr>
            <a:r>
              <a:t>担当者・期限・優先度つきアクション表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977640"/>
            <a:ext cx="5303520" cy="6858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>
                <a:solidFill>
                  <a:srgbClr val="FFFFFF"/>
                </a:solidFill>
                <a:latin typeface="Meiryo"/>
              </a:defRPr>
            </a:pPr>
            <a:r>
              <a:t>3種の出力フォーマット対応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9377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  <a:latin typeface="Meiryo"/>
              </a:defRPr>
            </a:pPr>
            <a:r>
              <a:t>出力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5257800"/>
            <a:ext cx="5303520" cy="548640"/>
          </a:xfrm>
          <a:prstGeom prst="round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議事録 (要約 + 決定事項 + アクションアイテム表)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eiryo"/>
              </a:defRPr>
            </a:pPr>
            <a:r>
              <a:t>KB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7315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eiryo"/>
              </a:defRPr>
            </a:pPr>
            <a:r>
              <a:t>AIS-05: 社内ナレッジAI検索チャット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182880"/>
            <a:ext cx="164592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6A69A"/>
                </a:solidFill>
                <a:latin typeface="Meiryo"/>
              </a:defRPr>
            </a:pPr>
            <a:r>
              <a:t>Advanced Chat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CC"/>
                </a:solidFill>
                <a:latin typeface="Meiryo"/>
              </a:defRPr>
            </a:pPr>
            <a:r>
              <a:t>vs. Helpfeel / JAPAN AI CHAT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  <a:latin typeface="Meiryo"/>
              </a:defRPr>
            </a:pPr>
            <a:r>
              <a:t>概要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社内規程・マニュアル・FAQ等のナレッジベースから高精度に回答し、出典を明示。会話の文脈を保持するRAGチャットボット。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  <a:latin typeface="Meiryo"/>
              </a:defRPr>
            </a:pPr>
            <a:r>
              <a:t>入力パラメータ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60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Meiryo"/>
              </a:defRPr>
            </a:pPr>
            <a:r>
              <a:t>  社員の質問 (sys.query)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FFFFFF"/>
                </a:solidFill>
                <a:latin typeface="Meiryo"/>
              </a:defRPr>
            </a:pPr>
            <a:r>
              <a:t>  会話履歴 (自動保持、window=15)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4903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  <a:latin typeface="Meiryo"/>
              </a:defRPr>
            </a:pPr>
            <a:r>
              <a:t>ワークフロー構成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069079"/>
            <a:ext cx="5486400" cy="146304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6A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  <a:latin typeface="Meiryo"/>
              </a:defRPr>
            </a:pPr>
            <a:r>
              <a:t>社内ナレッジ検索 (Knowledge Retrieval)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FFFFFF"/>
                </a:solidFill>
                <a:latin typeface="Meiryo"/>
              </a:defRPr>
            </a:pPr>
            <a:r>
              <a:t>→ 回答生成 (LLM + コンテキスト)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FFFFFF"/>
                </a:solidFill>
                <a:latin typeface="Meiryo"/>
              </a:defRPr>
            </a:pPr>
            <a:r>
              <a:t>→ Answer出力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669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Meiryo"/>
              </a:defRPr>
            </a:pPr>
            <a:r>
              <a:t>Start → KR → LLM → Answer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1430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  <a:latin typeface="Meiryo"/>
              </a:defRPr>
            </a:pPr>
            <a:r>
              <a:t>主要機能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508760"/>
            <a:ext cx="5303520" cy="6858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>
                <a:solidFill>
                  <a:srgbClr val="FFFFFF"/>
                </a:solidFill>
                <a:latin typeface="Meiryo"/>
              </a:defRPr>
            </a:pPr>
            <a:r>
              <a:t>シンプルなRAGアーキテクチャ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331720"/>
            <a:ext cx="5303520" cy="6858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>
                <a:solidFill>
                  <a:srgbClr val="FFFFFF"/>
                </a:solidFill>
                <a:latin typeface="Meiryo"/>
              </a:defRPr>
            </a:pPr>
            <a:r>
              <a:t>Knowledge Retrieval (top_k=5, score≧0.5)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154680"/>
            <a:ext cx="5303520" cy="6858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>
                <a:solidFill>
                  <a:srgbClr val="FFFFFF"/>
                </a:solidFill>
                <a:latin typeface="Meiryo"/>
              </a:defRPr>
            </a:pPr>
            <a:r>
              <a:t>出典明示 (参照元ドキュメント名)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977640"/>
            <a:ext cx="5303520" cy="6858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>
                <a:solidFill>
                  <a:srgbClr val="FFFFFF"/>
                </a:solidFill>
                <a:latin typeface="Meiryo"/>
              </a:defRPr>
            </a:pPr>
            <a:r>
              <a:t>会話メモリ (window=15)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9377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  <a:latin typeface="Meiryo"/>
              </a:defRPr>
            </a:pPr>
            <a:r>
              <a:t>出力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5257800"/>
            <a:ext cx="5303520" cy="548640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回答 + 参照元 + 補足情報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eiryo"/>
              </a:defRPr>
            </a:pPr>
            <a:r>
              <a:t>DOC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7315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eiryo"/>
              </a:defRPr>
            </a:pPr>
            <a:r>
              <a:t>AIS-06: 長文ドキュメントAI要約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182880"/>
            <a:ext cx="164592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78909C"/>
                </a:solidFill>
                <a:latin typeface="Meiryo"/>
              </a:defRPr>
            </a:pPr>
            <a:r>
              <a:t>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CC"/>
                </a:solidFill>
                <a:latin typeface="Meiryo"/>
              </a:defRPr>
            </a:pPr>
            <a:r>
              <a:t>vs. ELYZA DIGEST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  <a:latin typeface="Meiryo"/>
              </a:defRPr>
            </a:pPr>
            <a:r>
              <a:t>概要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数万文字の文書をチャンク分割し、段階的に要約を生成。報告書・論文・契約書・議事録など多用途に対応するMap-Reduce方式。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  <a:latin typeface="Meiryo"/>
              </a:defRPr>
            </a:pPr>
            <a:r>
              <a:t>入力パラメータ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60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Meiryo"/>
              </a:defRPr>
            </a:pPr>
            <a:r>
              <a:t>  ドキュメントテキスト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FFFFFF"/>
                </a:solidFill>
                <a:latin typeface="Meiryo"/>
              </a:defRPr>
            </a:pPr>
            <a:r>
              <a:t>  要約タイプ (要点箇条書き/エグゼクティブサマリー/詳細要約/キーワード抽出)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FFFFFF"/>
                </a:solidFill>
                <a:latin typeface="Meiryo"/>
              </a:defRPr>
            </a:pPr>
            <a:r>
              <a:t>  目標文字数 (100/300/500/1000文字)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4903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  <a:latin typeface="Meiryo"/>
              </a:defRPr>
            </a:pPr>
            <a:r>
              <a:t>ワークフロー構成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069079"/>
            <a:ext cx="5486400" cy="146304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789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  <a:latin typeface="Meiryo"/>
              </a:defRPr>
            </a:pPr>
            <a:r>
              <a:t>入力検証 (Code) → IF-ELSE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FFFFFF"/>
                </a:solidFill>
                <a:latin typeface="Meiryo"/>
              </a:defRPr>
            </a:pPr>
            <a:r>
              <a:t>→ テキスト分割 (Code: 3000文字/200文字overlap)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FFFFFF"/>
                </a:solidFill>
                <a:latin typeface="Meiryo"/>
              </a:defRPr>
            </a:pPr>
            <a:r>
              <a:t>→ チャンク要約イテレーション (Iteration × LLM)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FFFFFF"/>
                </a:solidFill>
                <a:latin typeface="Meiryo"/>
              </a:defRPr>
            </a:pPr>
            <a:r>
              <a:t>→ 統合要約 (LLM) → 出力整形 (TT) → 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669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Meiryo"/>
              </a:defRPr>
            </a:pPr>
            <a:r>
              <a:t>Start → Code → IF-ELSE → Code → Iteration(LLM) → LLM → TT → 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1430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  <a:latin typeface="Meiryo"/>
              </a:defRPr>
            </a:pPr>
            <a:r>
              <a:t>主要機能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508760"/>
            <a:ext cx="5303520" cy="6858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>
                <a:solidFill>
                  <a:srgbClr val="FFFFFF"/>
                </a:solidFill>
                <a:latin typeface="Meiryo"/>
              </a:defRPr>
            </a:pPr>
            <a:r>
              <a:t>Map-Reduce方式の段階的要約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331720"/>
            <a:ext cx="5303520" cy="6858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>
                <a:solidFill>
                  <a:srgbClr val="FFFFFF"/>
                </a:solidFill>
                <a:latin typeface="Meiryo"/>
              </a:defRPr>
            </a:pPr>
            <a:r>
              <a:t>3000文字チャンク+200文字オーバーラップ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154680"/>
            <a:ext cx="5303520" cy="6858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>
                <a:solidFill>
                  <a:srgbClr val="FFFFFF"/>
                </a:solidFill>
                <a:latin typeface="Meiryo"/>
              </a:defRPr>
            </a:pPr>
            <a:r>
              <a:t>並列イテレーション処理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977640"/>
            <a:ext cx="5303520" cy="6858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>
                <a:solidFill>
                  <a:srgbClr val="FFFFFF"/>
                </a:solidFill>
                <a:latin typeface="Meiryo"/>
              </a:defRPr>
            </a:pPr>
            <a:r>
              <a:t>4種の要約タイプ対応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9377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  <a:latin typeface="Meiryo"/>
              </a:defRPr>
            </a:pPr>
            <a:r>
              <a:t>出力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5257800"/>
            <a:ext cx="5303520" cy="548640"/>
          </a:xfrm>
          <a:prstGeom prst="roundRect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要約結果 + メタ情報 (チャンク数・要約タイプ)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eiryo"/>
              </a:defRPr>
            </a:pPr>
            <a:r>
              <a:t>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7315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eiryo"/>
              </a:defRPr>
            </a:pPr>
            <a:r>
              <a:t>AIS-07: WebリサーチAIレポート自動生成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182880"/>
            <a:ext cx="164592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5C6BC0"/>
                </a:solidFill>
                <a:latin typeface="Meiryo"/>
              </a:defRPr>
            </a:pPr>
            <a:r>
              <a:t>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CC"/>
                </a:solidFill>
                <a:latin typeface="Meiryo"/>
              </a:defRPr>
            </a:pPr>
            <a:r>
              <a:t>vs. ロボリサ (MRI)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  <a:latin typeface="Meiryo"/>
              </a:defRPr>
            </a:pPr>
            <a:r>
              <a:t>概要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調査テーマを入力するとAIが検索クエリを生成し、Web APIで情報収集後、構造化されたリサーチレポートを自動生成する。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  <a:latin typeface="Meiryo"/>
              </a:defRPr>
            </a:pPr>
            <a:r>
              <a:t>入力パラメータ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60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Meiryo"/>
              </a:defRPr>
            </a:pPr>
            <a:r>
              <a:t>  調査テーマ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FFFFFF"/>
                </a:solidFill>
                <a:latin typeface="Meiryo"/>
              </a:defRPr>
            </a:pPr>
            <a:r>
              <a:t>  調査深度 (概要/標準/詳細)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FFFFFF"/>
                </a:solidFill>
                <a:latin typeface="Meiryo"/>
              </a:defRPr>
            </a:pPr>
            <a:r>
              <a:t>  出力言語 (日本語/英語)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4903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  <a:latin typeface="Meiryo"/>
              </a:defRPr>
            </a:pPr>
            <a:r>
              <a:t>ワークフロー構成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069079"/>
            <a:ext cx="5486400" cy="146304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5C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  <a:latin typeface="Meiryo"/>
              </a:defRPr>
            </a:pPr>
            <a:r>
              <a:t>入力検証 (Code) → IF-ELSE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FFFFFF"/>
                </a:solidFill>
                <a:latin typeface="Meiryo"/>
              </a:defRPr>
            </a:pPr>
            <a:r>
              <a:t>→ 検索クエリ生成 (LLM) → クエリパース (Code)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FFFFFF"/>
                </a:solidFill>
                <a:latin typeface="Meiryo"/>
              </a:defRPr>
            </a:pPr>
            <a:r>
              <a:t>→ Web検索イテレーション (Iteration: HTTP→Code)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FFFFFF"/>
                </a:solidFill>
                <a:latin typeface="Meiryo"/>
              </a:defRPr>
            </a:pPr>
            <a:r>
              <a:t>→ レポート生成 (LLM) → 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669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Meiryo"/>
              </a:defRPr>
            </a:pPr>
            <a:r>
              <a:t>Start → Code → IF-ELSE → LLM → Code → Iteration(HTTP→Code) → LLM → 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1430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  <a:latin typeface="Meiryo"/>
              </a:defRPr>
            </a:pPr>
            <a:r>
              <a:t>主要機能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508760"/>
            <a:ext cx="5303520" cy="6858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>
                <a:solidFill>
                  <a:srgbClr val="FFFFFF"/>
                </a:solidFill>
                <a:latin typeface="Meiryo"/>
              </a:defRPr>
            </a:pPr>
            <a:r>
              <a:t>LLMによる多角的検索クエリ自動生成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331720"/>
            <a:ext cx="5303520" cy="6858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>
                <a:solidFill>
                  <a:srgbClr val="FFFFFF"/>
                </a:solidFill>
                <a:latin typeface="Meiryo"/>
              </a:defRPr>
            </a:pPr>
            <a:r>
              <a:t>HTTP Request + 結果パース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154680"/>
            <a:ext cx="5303520" cy="6858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>
                <a:solidFill>
                  <a:srgbClr val="FFFFFF"/>
                </a:solidFill>
                <a:latin typeface="Meiryo"/>
              </a:defRPr>
            </a:pPr>
            <a:r>
              <a:t>調査深度に応じたクエリ数調整 (3-5個)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977640"/>
            <a:ext cx="5303520" cy="6858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>
                <a:solidFill>
                  <a:srgbClr val="FFFFFF"/>
                </a:solidFill>
                <a:latin typeface="Meiryo"/>
              </a:defRPr>
            </a:pPr>
            <a:r>
              <a:t>エグゼクティブサマリー+出典付きレポート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9377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  <a:latin typeface="Meiryo"/>
              </a:defRPr>
            </a:pPr>
            <a:r>
              <a:t>出力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5257800"/>
            <a:ext cx="5303520" cy="548640"/>
          </a:xfrm>
          <a:prstGeom prst="round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リサーチレポート (サマリー/調査結果/分析/出典一覧)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EC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eiryo"/>
              </a:defRPr>
            </a:pPr>
            <a:r>
              <a:t>MKT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7315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eiryo"/>
              </a:defRPr>
            </a:pPr>
            <a:r>
              <a:t>AIS-08: マーケティングコピー一括AI生成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182880"/>
            <a:ext cx="164592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C407A"/>
                </a:solidFill>
                <a:latin typeface="Meiryo"/>
              </a:defRPr>
            </a:pPr>
            <a:r>
              <a:t>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CC"/>
                </a:solidFill>
                <a:latin typeface="Meiryo"/>
              </a:defRPr>
            </a:pPr>
            <a:r>
              <a:t>vs. JAPAN AI Marketing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  <a:latin typeface="Meiryo"/>
              </a:defRPr>
            </a:pPr>
            <a:r>
              <a:t>概要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商品・サービス情報を入力するとSNS投稿・LP・メルマガ・広告文を4系統のLLMで同時生成するマルチチャネル対応ワークフロー。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  <a:latin typeface="Meiryo"/>
              </a:defRPr>
            </a:pPr>
            <a:r>
              <a:t>入力パラメータ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60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Meiryo"/>
              </a:defRPr>
            </a:pPr>
            <a:r>
              <a:t>  商品・サービス情報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FFFFFF"/>
                </a:solidFill>
                <a:latin typeface="Meiryo"/>
              </a:defRPr>
            </a:pPr>
            <a:r>
              <a:t>  ターゲット顧客層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FFFFFF"/>
                </a:solidFill>
                <a:latin typeface="Meiryo"/>
              </a:defRPr>
            </a:pPr>
            <a:r>
              <a:t>  ブランドトーン (カジュアル/プロフェッショナル/エレガント/エネルギッシュ)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FFFFFF"/>
                </a:solidFill>
                <a:latin typeface="Meiryo"/>
              </a:defRPr>
            </a:pPr>
            <a:r>
              <a:t>  キャンペーン目的 (認知拡大/リード獲得/購入促進/ブランディング)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4903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  <a:latin typeface="Meiryo"/>
              </a:defRPr>
            </a:pPr>
            <a:r>
              <a:t>ワークフロー構成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069079"/>
            <a:ext cx="5486400" cy="146304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EC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  <a:latin typeface="Meiryo"/>
              </a:defRPr>
            </a:pPr>
            <a:r>
              <a:t>入力検証 (Code) → IF-ELSE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FFFFFF"/>
                </a:solidFill>
                <a:latin typeface="Meiryo"/>
              </a:defRPr>
            </a:pPr>
            <a:r>
              <a:t>→ [SNS投稿 (LLM) + LP文言 (LLM)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FFFFFF"/>
                </a:solidFill>
                <a:latin typeface="Meiryo"/>
              </a:defRPr>
            </a:pPr>
            <a:r>
              <a:t>   + メルマガ (LLM) + 広告文 (LLM)] (4並列)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FFFFFF"/>
                </a:solidFill>
                <a:latin typeface="Meiryo"/>
              </a:defRPr>
            </a:pPr>
            <a:r>
              <a:t>→ 結果集約 (Variable Aggregator)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FFFFFF"/>
                </a:solidFill>
                <a:latin typeface="Meiryo"/>
              </a:defRPr>
            </a:pPr>
            <a:r>
              <a:t>→ 統合出力 (TT) → 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669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Meiryo"/>
              </a:defRPr>
            </a:pPr>
            <a:r>
              <a:t>Start → Code → IF-ELSE → [LLM×4] → VA → TT → 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1430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  <a:latin typeface="Meiryo"/>
              </a:defRPr>
            </a:pPr>
            <a:r>
              <a:t>主要機能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508760"/>
            <a:ext cx="5303520" cy="6858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>
                <a:solidFill>
                  <a:srgbClr val="FFFFFF"/>
                </a:solidFill>
                <a:latin typeface="Meiryo"/>
              </a:defRPr>
            </a:pPr>
            <a:r>
              <a:t>4系統LLM並列処理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331720"/>
            <a:ext cx="5303520" cy="6858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>
                <a:solidFill>
                  <a:srgbClr val="FFFFFF"/>
                </a:solidFill>
                <a:latin typeface="Meiryo"/>
              </a:defRPr>
            </a:pPr>
            <a:r>
              <a:t>チャネル別最適化 (SNS/LP/メルマガ/広告)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154680"/>
            <a:ext cx="5303520" cy="6858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>
                <a:solidFill>
                  <a:srgbClr val="FFFFFF"/>
                </a:solidFill>
                <a:latin typeface="Meiryo"/>
              </a:defRPr>
            </a:pPr>
            <a:r>
              <a:t>ブランドトーン統一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977640"/>
            <a:ext cx="5303520" cy="6858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>
                <a:solidFill>
                  <a:srgbClr val="FFFFFF"/>
                </a:solidFill>
                <a:latin typeface="Meiryo"/>
              </a:defRPr>
            </a:pPr>
            <a:r>
              <a:t>Variable Aggregatorによる一括集約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9377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  <a:latin typeface="Meiryo"/>
              </a:defRPr>
            </a:pPr>
            <a:r>
              <a:t>出力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5257800"/>
            <a:ext cx="5303520" cy="548640"/>
          </a:xfrm>
          <a:prstGeom prst="roundRect">
            <a:avLst/>
          </a:prstGeom>
          <a:solidFill>
            <a:srgbClr val="EC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SNS投稿 + LP文言 + メルマガ + 広告文 (一括)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eiryo"/>
              </a:defRPr>
            </a:pPr>
            <a:r>
              <a:t>BIZ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7315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eiryo"/>
              </a:defRPr>
            </a:pPr>
            <a:r>
              <a:t>AIS-09: AI営業提案書ジェネレーター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182880"/>
            <a:ext cx="164592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6A69A"/>
                </a:solidFill>
                <a:latin typeface="Meiryo"/>
              </a:defRPr>
            </a:pPr>
            <a:r>
              <a:t>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CC"/>
                </a:solidFill>
                <a:latin typeface="Meiryo"/>
              </a:defRPr>
            </a:pPr>
            <a:r>
              <a:t>vs. Sales Marker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  <a:latin typeface="Meiryo"/>
              </a:defRPr>
            </a:pPr>
            <a:r>
              <a:t>概要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顧客企業情報と提案内容を入力すると、Parameter Extractorで企業情報を構造化し、パーソナライズされた営業提案書を自動生成する。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  <a:latin typeface="Meiryo"/>
              </a:defRPr>
            </a:pPr>
            <a:r>
              <a:t>入力パラメータ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60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Meiryo"/>
              </a:defRPr>
            </a:pPr>
            <a:r>
              <a:t>  顧客企業情報 (自由テキスト)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FFFFFF"/>
                </a:solidFill>
                <a:latin typeface="Meiryo"/>
              </a:defRPr>
            </a:pPr>
            <a:r>
              <a:t>  提案商品・サービス概要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FFFFFF"/>
                </a:solidFill>
                <a:latin typeface="Meiryo"/>
              </a:defRPr>
            </a:pPr>
            <a:r>
              <a:t>  提案書タイプ (初回/詳細/見積付き/更新)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FFFFFF"/>
                </a:solidFill>
                <a:latin typeface="Meiryo"/>
              </a:defRPr>
            </a:pPr>
            <a:r>
              <a:t>  予算レンジ (任意)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4903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  <a:latin typeface="Meiryo"/>
              </a:defRPr>
            </a:pPr>
            <a:r>
              <a:t>ワークフロー構成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069079"/>
            <a:ext cx="5486400" cy="146304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6A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  <a:latin typeface="Meiryo"/>
              </a:defRPr>
            </a:pPr>
            <a:r>
              <a:t>入力検証 (Code) → IF-ELSE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FFFFFF"/>
                </a:solidFill>
                <a:latin typeface="Meiryo"/>
              </a:defRPr>
            </a:pPr>
            <a:r>
              <a:t>→ 企業情報抽出 (Parameter Extractor)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FFFFFF"/>
                </a:solidFill>
                <a:latin typeface="Meiryo"/>
              </a:defRPr>
            </a:pPr>
            <a:r>
              <a:t>→ 提案データ構築 (Code: JSON構造化)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FFFFFF"/>
                </a:solidFill>
                <a:latin typeface="Meiryo"/>
              </a:defRPr>
            </a:pPr>
            <a:r>
              <a:t>→ 提案書生成 (LLM) → 出力整形 (TT) → 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669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Meiryo"/>
              </a:defRPr>
            </a:pPr>
            <a:r>
              <a:t>Start → Code → IF-ELSE → PE → Code → LLM → TT → 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1430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  <a:latin typeface="Meiryo"/>
              </a:defRPr>
            </a:pPr>
            <a:r>
              <a:t>主要機能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508760"/>
            <a:ext cx="5303520" cy="6858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>
                <a:solidFill>
                  <a:srgbClr val="FFFFFF"/>
                </a:solidFill>
                <a:latin typeface="Meiryo"/>
              </a:defRPr>
            </a:pPr>
            <a:r>
              <a:t>Parameter Extractorによる自動構造化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331720"/>
            <a:ext cx="5303520" cy="6858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>
                <a:solidFill>
                  <a:srgbClr val="FFFFFF"/>
                </a:solidFill>
                <a:latin typeface="Meiryo"/>
              </a:defRPr>
            </a:pPr>
            <a:r>
              <a:t>JSON形式の提案データ構築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154680"/>
            <a:ext cx="5303520" cy="6858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>
                <a:solidFill>
                  <a:srgbClr val="FFFFFF"/>
                </a:solidFill>
                <a:latin typeface="Meiryo"/>
              </a:defRPr>
            </a:pPr>
            <a:r>
              <a:t>10セクション構成の提案書テンプレート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977640"/>
            <a:ext cx="5303520" cy="6858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>
                <a:solidFill>
                  <a:srgbClr val="FFFFFF"/>
                </a:solidFill>
                <a:latin typeface="Meiryo"/>
              </a:defRPr>
            </a:pPr>
            <a:r>
              <a:t>ROI・導入事例の自動生成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9377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  <a:latin typeface="Meiryo"/>
              </a:defRPr>
            </a:pPr>
            <a:r>
              <a:t>出力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5257800"/>
            <a:ext cx="5303520" cy="548640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営業提案書 (表紙/サマリー/課題分析/提案/導入計画/FAQ)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eiryo"/>
              </a:defRPr>
            </a:pPr>
            <a:r>
              <a:t>HR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7315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eiryo"/>
              </a:defRPr>
            </a:pPr>
            <a:r>
              <a:t>AIS-10: AI求人票・JD自動生成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182880"/>
            <a:ext cx="164592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B300"/>
                </a:solidFill>
                <a:latin typeface="Meiryo"/>
              </a:defRPr>
            </a:pPr>
            <a:r>
              <a:t>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CC"/>
                </a:solidFill>
                <a:latin typeface="Meiryo"/>
              </a:defRPr>
            </a:pPr>
            <a:r>
              <a:t>vs. AUTOHUNT / SmartHR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  <a:latin typeface="Meiryo"/>
              </a:defRPr>
            </a:pPr>
            <a:r>
              <a:t>概要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ポジション情報を入力すると標準JDを生成し、指定求人媒体(自社/リクナビ/Wantedly/LinkedIn/Indeed)に最適化したバージョンも作成する。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  <a:latin typeface="Meiryo"/>
              </a:defRPr>
            </a:pPr>
            <a:r>
              <a:t>入力パラメータ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60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Meiryo"/>
              </a:defRPr>
            </a:pPr>
            <a:r>
              <a:t>  ポジション情報 (自由テキスト)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FFFFFF"/>
                </a:solidFill>
                <a:latin typeface="Meiryo"/>
              </a:defRPr>
            </a:pPr>
            <a:r>
              <a:t>  雇用形態 (正社員/契約/業務委託/パート/インターン)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FFFFFF"/>
                </a:solidFill>
                <a:latin typeface="Meiryo"/>
              </a:defRPr>
            </a:pPr>
            <a:r>
              <a:t>  経験レベル (新卒〜エグゼクティブ)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FFFFFF"/>
                </a:solidFill>
                <a:latin typeface="Meiryo"/>
              </a:defRPr>
            </a:pPr>
            <a:r>
              <a:t>  対象媒体 (自社/リクナビ/Wantedly/LinkedIn/Indeed)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4903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  <a:latin typeface="Meiryo"/>
              </a:defRPr>
            </a:pPr>
            <a:r>
              <a:t>ワークフロー構成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069079"/>
            <a:ext cx="5486400" cy="146304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  <a:latin typeface="Meiryo"/>
              </a:defRPr>
            </a:pPr>
            <a:r>
              <a:t>入力検証 (Code) → IF-ELSE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FFFFFF"/>
                </a:solidFill>
                <a:latin typeface="Meiryo"/>
              </a:defRPr>
            </a:pPr>
            <a:r>
              <a:t>→ JD生成 (LLM: 9セクション構成)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FFFFFF"/>
                </a:solidFill>
                <a:latin typeface="Meiryo"/>
              </a:defRPr>
            </a:pPr>
            <a:r>
              <a:t>→ 媒体最適化 (LLM: 媒体特性対応)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FFFFFF"/>
                </a:solidFill>
                <a:latin typeface="Meiryo"/>
              </a:defRPr>
            </a:pPr>
            <a:r>
              <a:t>→ 出力整形 (TT) → 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669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Meiryo"/>
              </a:defRPr>
            </a:pPr>
            <a:r>
              <a:t>Start → Code → IF-ELSE → LLM → LLM → TT → 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1430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  <a:latin typeface="Meiryo"/>
              </a:defRPr>
            </a:pPr>
            <a:r>
              <a:t>主要機能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508760"/>
            <a:ext cx="5303520" cy="6858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>
                <a:solidFill>
                  <a:srgbClr val="FFFFFF"/>
                </a:solidFill>
                <a:latin typeface="Meiryo"/>
              </a:defRPr>
            </a:pPr>
            <a:r>
              <a:t>2段階LLM (標準JD + 媒体最適化)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331720"/>
            <a:ext cx="5303520" cy="6858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>
                <a:solidFill>
                  <a:srgbClr val="FFFFFF"/>
                </a:solidFill>
                <a:latin typeface="Meiryo"/>
              </a:defRPr>
            </a:pPr>
            <a:r>
              <a:t>5媒体対応 (自社/リクナビ/Wantedly/LinkedIn/Indeed)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154680"/>
            <a:ext cx="5303520" cy="6858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>
                <a:solidFill>
                  <a:srgbClr val="FFFFFF"/>
                </a:solidFill>
                <a:latin typeface="Meiryo"/>
              </a:defRPr>
            </a:pPr>
            <a:r>
              <a:t>ジェンダーニュートラル表現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977640"/>
            <a:ext cx="5303520" cy="6858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>
                <a:solidFill>
                  <a:srgbClr val="FFFFFF"/>
                </a:solidFill>
                <a:latin typeface="Meiryo"/>
              </a:defRPr>
            </a:pPr>
            <a:r>
              <a:t>経験レベル別要件自動調整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9377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  <a:latin typeface="Meiryo"/>
              </a:defRPr>
            </a:pPr>
            <a:r>
              <a:t>出力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5257800"/>
            <a:ext cx="5303520" cy="548640"/>
          </a:xfrm>
          <a:prstGeom prst="round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標準JD + 媒体最適化版JD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eiryo"/>
              </a:defRPr>
            </a:pPr>
            <a:r>
              <a:t>共通アーキテクチャ &amp; セキュリティ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457200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15544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Meiryo"/>
              </a:defRPr>
            </a:pPr>
            <a:r>
              <a:t>入力バリデーション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全ワークフローにCode(Python)による文字数チェック・</a:t>
            </a:r>
            <a:br/>
            <a:r>
              <a:t>インジェクション検出を実装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303520" cy="15544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EF5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5087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5350"/>
                </a:solidFill>
                <a:latin typeface="Meiryo"/>
              </a:defRPr>
            </a:pPr>
            <a:r>
              <a:t>プロンプトインジェクション対策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正規表現による多パターン検出</a:t>
            </a:r>
            <a:br/>
            <a:r>
              <a:t>(XSS/SQLi/テンプレートインジェクション等)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08960"/>
            <a:ext cx="5303520" cy="15544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F00"/>
                </a:solidFill>
                <a:latin typeface="Meiryo"/>
              </a:defRPr>
            </a:pPr>
            <a:r>
              <a:t>センシティブワード回避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5760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keywords方式の入力・出力双方向フィルタリング</a:t>
            </a:r>
            <a:br/>
            <a:r>
              <a:t>(爆弾/殺害/違法薬物/ハッキング手法)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108960"/>
            <a:ext cx="5303520" cy="15544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3246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CAF50"/>
                </a:solidFill>
                <a:latin typeface="Meiryo"/>
              </a:defRPr>
            </a:pPr>
            <a:r>
              <a:t>安全ガードレール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65760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システムプロンプト非開示 / 個人情報非生成 /</a:t>
            </a:r>
            <a:br/>
            <a:r>
              <a:t>断定的判断回避のルール組込み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46320"/>
            <a:ext cx="5303520" cy="15544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AB4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983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B47BC"/>
                </a:solidFill>
                <a:latin typeface="Meiryo"/>
              </a:defRPr>
            </a:pPr>
            <a:r>
              <a:t>エラーハンドリング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9496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IF-ELSE分岐 + Template Transform による</a:t>
            </a:r>
            <a:br/>
            <a:r>
              <a:t>ユーザーフレンドリーなエラー応答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846320"/>
            <a:ext cx="5303520" cy="15544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26A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4983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6A69A"/>
                </a:solidFill>
                <a:latin typeface="Meiryo"/>
              </a:defRPr>
            </a:pPr>
            <a:r>
              <a:t>DSL v0.1.5 準拠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539496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Dify ワークフロー DSL 仕様 v0.1.5 に完全準拠</a:t>
            </a:r>
            <a:br/>
            <a:r>
              <a:t>LLM: gpt-4o-mini / Provider: OpenAI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eiryo"/>
              </a:defRPr>
            </a:pPr>
            <a:r>
              <a:t>ソリューション比較表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365760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743200"/>
                <a:gridCol w="1188720"/>
                <a:gridCol w="3657600"/>
                <a:gridCol w="2743200"/>
              </a:tblGrid>
              <a:tr h="48213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ソリューション名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モード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主要ノード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競合サービス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AIS-01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SEO記事自動生成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Workflow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Code, LLM, Iteration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SAKUBUN / Transcope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AIS-02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契約書リスクレビュー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Workflow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Code, KR, LLM(x2), IF-ELSE(x2)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LegalForce / GVA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AIS-03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CSチャットボット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Adv.Chat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QC, KR(x2), LLM(x2)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KARAKURI / ChatPlus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AIS-04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議事録AI要約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Workflow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Code, LLM(x2), VA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Notta / Rimo Voice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AIS-05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社内ナレッジ検索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Adv.Chat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KR, LLM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Helpfeel / JAPAN AI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AIS-06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長文ドキュメント要約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Workflow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Code(x2), Iteration, LLM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ELYZA DIGEST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AIS-07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Webリサーチレポート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Workflow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Code, LLM, Iteration(HTTP)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ロボリサ (MRI)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AIS-08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マーケティングコピー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Workflow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Code, LLM(x4), VA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JAPAN AI Marketing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AIS-09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AI営業提案書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Workflow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Code, PE, LLM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Sales Marker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821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AIS-10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求人票・JD自動生成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Workflow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Code, LLM(x2)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AUTOHUNT / SmartHR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