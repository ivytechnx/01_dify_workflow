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6200"/>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9144000" cy="1097280"/>
          </a:xfrm>
          <a:prstGeom prst="rect">
            <a:avLst/>
          </a:prstGeom>
          <a:noFill/>
        </p:spPr>
        <p:txBody>
          <a:bodyPr wrap="square">
            <a:spAutoFit/>
          </a:bodyPr>
          <a:lstStyle/>
          <a:p>
            <a:pPr algn="ctr">
              <a:defRPr sz="4000" b="1">
                <a:solidFill>
                  <a:srgbClr val="FFFFFF"/>
                </a:solidFill>
                <a:latin typeface="Segoe UI"/>
              </a:defRPr>
            </a:pPr>
            <a:r>
              <a:rPr>
                <a:latin typeface="Segoe UI"/>
                <a:ea typeface="Meiryo UI"/>
              </a:rPr>
              <a:t>共通業務系 AI ワークフロー ソリューション</a:t>
            </a:r>
          </a:p>
        </p:txBody>
      </p:sp>
      <p:sp>
        <p:nvSpPr>
          <p:cNvPr id="5" name="TextBox 4"/>
          <p:cNvSpPr txBox="1"/>
          <p:nvPr/>
        </p:nvSpPr>
        <p:spPr>
          <a:xfrm>
            <a:off x="1371600" y="2926080"/>
            <a:ext cx="9144000" cy="731520"/>
          </a:xfrm>
          <a:prstGeom prst="rect">
            <a:avLst/>
          </a:prstGeom>
          <a:noFill/>
        </p:spPr>
        <p:txBody>
          <a:bodyPr wrap="square">
            <a:spAutoFit/>
          </a:bodyPr>
          <a:lstStyle/>
          <a:p>
            <a:pPr algn="ctr">
              <a:defRPr sz="2200" b="0">
                <a:solidFill>
                  <a:srgbClr val="A0A0D0"/>
                </a:solidFill>
                <a:latin typeface="Segoe UI"/>
              </a:defRPr>
            </a:pPr>
            <a:r>
              <a:rPr>
                <a:latin typeface="Segoe UI"/>
                <a:ea typeface="Meiryo UI"/>
              </a:rPr>
              <a:t>Dify プラットフォームによる間接業務の自動化・効率化</a:t>
            </a:r>
          </a:p>
        </p:txBody>
      </p:sp>
      <p:sp>
        <p:nvSpPr>
          <p:cNvPr id="6" name="Rectangle 5"/>
          <p:cNvSpPr/>
          <p:nvPr/>
        </p:nvSpPr>
        <p:spPr>
          <a:xfrm>
            <a:off x="4572000" y="3840480"/>
            <a:ext cx="3017520" cy="50800"/>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4206240"/>
            <a:ext cx="9144000" cy="548640"/>
          </a:xfrm>
          <a:prstGeom prst="rect">
            <a:avLst/>
          </a:prstGeom>
          <a:noFill/>
        </p:spPr>
        <p:txBody>
          <a:bodyPr wrap="square">
            <a:spAutoFit/>
          </a:bodyPr>
          <a:lstStyle/>
          <a:p>
            <a:pPr algn="ctr">
              <a:defRPr sz="1600" b="0">
                <a:solidFill>
                  <a:srgbClr val="8080B0"/>
                </a:solidFill>
                <a:latin typeface="Segoe UI"/>
              </a:defRPr>
            </a:pPr>
            <a:r>
              <a:rPr>
                <a:latin typeface="Segoe UI"/>
                <a:ea typeface="Meiryo UI"/>
              </a:rPr>
              <a:t>10 の業務シーン  |  75 ノード  |  即時インポート可能な DSL テンプレート</a:t>
            </a:r>
          </a:p>
        </p:txBody>
      </p:sp>
      <p:sp>
        <p:nvSpPr>
          <p:cNvPr id="8" name="TextBox 7"/>
          <p:cNvSpPr txBox="1"/>
          <p:nvPr/>
        </p:nvSpPr>
        <p:spPr>
          <a:xfrm>
            <a:off x="1371600" y="5669280"/>
            <a:ext cx="9144000" cy="457200"/>
          </a:xfrm>
          <a:prstGeom prst="rect">
            <a:avLst/>
          </a:prstGeom>
          <a:noFill/>
        </p:spPr>
        <p:txBody>
          <a:bodyPr wrap="square">
            <a:spAutoFit/>
          </a:bodyPr>
          <a:lstStyle/>
          <a:p>
            <a:pPr algn="ctr">
              <a:defRPr sz="1200" b="0">
                <a:solidFill>
                  <a:srgbClr val="606090"/>
                </a:solidFill>
                <a:latin typeface="Segoe UI"/>
              </a:defRPr>
            </a:pPr>
            <a:r>
              <a:rPr>
                <a:latin typeface="Segoe UI"/>
                <a:ea typeface="Meiryo UI"/>
              </a:rPr>
              <a:t>Confidential  |  事例紹介資料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1A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600" b="1">
                <a:solidFill>
                  <a:srgbClr val="FFFFFF"/>
                </a:solidFill>
                <a:latin typeface="Segoe UI"/>
              </a:defRPr>
            </a:pPr>
            <a:r>
              <a:rPr>
                <a:latin typeface="Segoe UI"/>
                <a:ea typeface="Meiryo UI"/>
              </a:rPr>
              <a:t>エグゼクティブサマリー</a:t>
            </a:r>
          </a:p>
        </p:txBody>
      </p:sp>
      <p:sp>
        <p:nvSpPr>
          <p:cNvPr id="4" name="Rounded Rectangle 3"/>
          <p:cNvSpPr/>
          <p:nvPr/>
        </p:nvSpPr>
        <p:spPr>
          <a:xfrm>
            <a:off x="914400" y="1371600"/>
            <a:ext cx="3108960" cy="1828800"/>
          </a:xfrm>
          <a:prstGeom prst="roundRect">
            <a:avLst/>
          </a:prstGeom>
          <a:solidFill>
            <a:srgbClr val="F3F0FA"/>
          </a:solidFill>
          <a:ln w="1270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554480"/>
            <a:ext cx="2560320" cy="731520"/>
          </a:xfrm>
          <a:prstGeom prst="rect">
            <a:avLst/>
          </a:prstGeom>
          <a:noFill/>
        </p:spPr>
        <p:txBody>
          <a:bodyPr wrap="square">
            <a:spAutoFit/>
          </a:bodyPr>
          <a:lstStyle/>
          <a:p>
            <a:pPr algn="ctr">
              <a:defRPr sz="4800" b="1">
                <a:solidFill>
                  <a:srgbClr val="5C6BC0"/>
                </a:solidFill>
                <a:latin typeface="Segoe UI"/>
              </a:defRPr>
            </a:pPr>
            <a:r>
              <a:rPr>
                <a:latin typeface="Segoe UI"/>
                <a:ea typeface="Meiryo UI"/>
              </a:rPr>
              <a:t>10</a:t>
            </a:r>
          </a:p>
        </p:txBody>
      </p:sp>
      <p:sp>
        <p:nvSpPr>
          <p:cNvPr id="6" name="TextBox 5"/>
          <p:cNvSpPr txBox="1"/>
          <p:nvPr/>
        </p:nvSpPr>
        <p:spPr>
          <a:xfrm>
            <a:off x="1188720" y="2148840"/>
            <a:ext cx="2560320" cy="274320"/>
          </a:xfrm>
          <a:prstGeom prst="rect">
            <a:avLst/>
          </a:prstGeom>
          <a:noFill/>
        </p:spPr>
        <p:txBody>
          <a:bodyPr wrap="square">
            <a:spAutoFit/>
          </a:bodyPr>
          <a:lstStyle/>
          <a:p>
            <a:pPr algn="ctr">
              <a:defRPr sz="1800" b="1">
                <a:solidFill>
                  <a:srgbClr val="1A1A2E"/>
                </a:solidFill>
                <a:latin typeface="Segoe UI"/>
              </a:defRPr>
            </a:pPr>
            <a:r>
              <a:rPr>
                <a:latin typeface="Segoe UI"/>
                <a:ea typeface="Meiryo UI"/>
              </a:rPr>
              <a:t>業務シーン</a:t>
            </a:r>
          </a:p>
        </p:txBody>
      </p:sp>
      <p:sp>
        <p:nvSpPr>
          <p:cNvPr id="7" name="TextBox 6"/>
          <p:cNvSpPr txBox="1"/>
          <p:nvPr/>
        </p:nvSpPr>
        <p:spPr>
          <a:xfrm>
            <a:off x="1188720" y="2468880"/>
            <a:ext cx="2560320" cy="640080"/>
          </a:xfrm>
          <a:prstGeom prst="rect">
            <a:avLst/>
          </a:prstGeom>
          <a:noFill/>
        </p:spPr>
        <p:txBody>
          <a:bodyPr wrap="square">
            <a:spAutoFit/>
          </a:bodyPr>
          <a:lstStyle/>
          <a:p>
            <a:pPr algn="ctr">
              <a:defRPr sz="1200" b="0">
                <a:solidFill>
                  <a:srgbClr val="4A5A6A"/>
                </a:solidFill>
                <a:latin typeface="Segoe UI"/>
              </a:defRPr>
            </a:pPr>
            <a:r>
              <a:rPr>
                <a:latin typeface="Segoe UI"/>
                <a:ea typeface="Meiryo UI"/>
              </a:rPr>
              <a:t>日報・議事録・稟議・経費</a:t>
            </a:r>
            <a:br/>
            <a:r>
              <a:rPr>
                <a:latin typeface="Segoe UI"/>
                <a:ea typeface="Meiryo UI"/>
              </a:rPr>
              <a:t>ヘルプデスク・契約・採用 等</a:t>
            </a:r>
          </a:p>
        </p:txBody>
      </p:sp>
      <p:sp>
        <p:nvSpPr>
          <p:cNvPr id="8" name="Rounded Rectangle 7"/>
          <p:cNvSpPr/>
          <p:nvPr/>
        </p:nvSpPr>
        <p:spPr>
          <a:xfrm>
            <a:off x="4480560" y="1371600"/>
            <a:ext cx="3108960" cy="1828800"/>
          </a:xfrm>
          <a:prstGeom prst="roundRect">
            <a:avLst/>
          </a:prstGeom>
          <a:solidFill>
            <a:srgbClr val="F3F0FA"/>
          </a:solidFill>
          <a:ln w="1270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1554480"/>
            <a:ext cx="2560320" cy="731520"/>
          </a:xfrm>
          <a:prstGeom prst="rect">
            <a:avLst/>
          </a:prstGeom>
          <a:noFill/>
        </p:spPr>
        <p:txBody>
          <a:bodyPr wrap="square">
            <a:spAutoFit/>
          </a:bodyPr>
          <a:lstStyle/>
          <a:p>
            <a:pPr algn="ctr">
              <a:defRPr sz="4800" b="1">
                <a:solidFill>
                  <a:srgbClr val="5C6BC0"/>
                </a:solidFill>
                <a:latin typeface="Segoe UI"/>
              </a:defRPr>
            </a:pPr>
            <a:r>
              <a:rPr>
                <a:latin typeface="Segoe UI"/>
                <a:ea typeface="Meiryo UI"/>
              </a:rPr>
              <a:t>75</a:t>
            </a:r>
          </a:p>
        </p:txBody>
      </p:sp>
      <p:sp>
        <p:nvSpPr>
          <p:cNvPr id="10" name="TextBox 9"/>
          <p:cNvSpPr txBox="1"/>
          <p:nvPr/>
        </p:nvSpPr>
        <p:spPr>
          <a:xfrm>
            <a:off x="4754880" y="2148840"/>
            <a:ext cx="2560320" cy="274320"/>
          </a:xfrm>
          <a:prstGeom prst="rect">
            <a:avLst/>
          </a:prstGeom>
          <a:noFill/>
        </p:spPr>
        <p:txBody>
          <a:bodyPr wrap="square">
            <a:spAutoFit/>
          </a:bodyPr>
          <a:lstStyle/>
          <a:p>
            <a:pPr algn="ctr">
              <a:defRPr sz="1800" b="1">
                <a:solidFill>
                  <a:srgbClr val="1A1A2E"/>
                </a:solidFill>
                <a:latin typeface="Segoe UI"/>
              </a:defRPr>
            </a:pPr>
            <a:r>
              <a:rPr>
                <a:latin typeface="Segoe UI"/>
                <a:ea typeface="Meiryo UI"/>
              </a:rPr>
              <a:t>ノード</a:t>
            </a:r>
          </a:p>
        </p:txBody>
      </p:sp>
      <p:sp>
        <p:nvSpPr>
          <p:cNvPr id="11" name="TextBox 10"/>
          <p:cNvSpPr txBox="1"/>
          <p:nvPr/>
        </p:nvSpPr>
        <p:spPr>
          <a:xfrm>
            <a:off x="4754880" y="2468880"/>
            <a:ext cx="2560320" cy="640080"/>
          </a:xfrm>
          <a:prstGeom prst="rect">
            <a:avLst/>
          </a:prstGeom>
          <a:noFill/>
        </p:spPr>
        <p:txBody>
          <a:bodyPr wrap="square">
            <a:spAutoFit/>
          </a:bodyPr>
          <a:lstStyle/>
          <a:p>
            <a:pPr algn="ctr">
              <a:defRPr sz="1200" b="0">
                <a:solidFill>
                  <a:srgbClr val="4A5A6A"/>
                </a:solidFill>
                <a:latin typeface="Segoe UI"/>
              </a:defRPr>
            </a:pPr>
            <a:r>
              <a:rPr>
                <a:latin typeface="Segoe UI"/>
                <a:ea typeface="Meiryo UI"/>
              </a:rPr>
              <a:t>実用ワークフローを</a:t>
            </a:r>
            <a:br/>
            <a:r>
              <a:rPr>
                <a:latin typeface="Segoe UI"/>
                <a:ea typeface="Meiryo UI"/>
              </a:rPr>
              <a:t>即座にインポート可能</a:t>
            </a:r>
          </a:p>
        </p:txBody>
      </p:sp>
      <p:sp>
        <p:nvSpPr>
          <p:cNvPr id="12" name="Rounded Rectangle 11"/>
          <p:cNvSpPr/>
          <p:nvPr/>
        </p:nvSpPr>
        <p:spPr>
          <a:xfrm>
            <a:off x="8046720" y="1371600"/>
            <a:ext cx="3108960" cy="1828800"/>
          </a:xfrm>
          <a:prstGeom prst="roundRect">
            <a:avLst/>
          </a:prstGeom>
          <a:solidFill>
            <a:srgbClr val="F3F0FA"/>
          </a:solidFill>
          <a:ln w="1270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554480"/>
            <a:ext cx="2560320" cy="731520"/>
          </a:xfrm>
          <a:prstGeom prst="rect">
            <a:avLst/>
          </a:prstGeom>
          <a:noFill/>
        </p:spPr>
        <p:txBody>
          <a:bodyPr wrap="square">
            <a:spAutoFit/>
          </a:bodyPr>
          <a:lstStyle/>
          <a:p>
            <a:pPr algn="ctr">
              <a:defRPr sz="4800" b="1">
                <a:solidFill>
                  <a:srgbClr val="5C6BC0"/>
                </a:solidFill>
                <a:latin typeface="Segoe UI"/>
              </a:defRPr>
            </a:pPr>
            <a:r>
              <a:rPr>
                <a:latin typeface="Segoe UI"/>
                <a:ea typeface="Meiryo UI"/>
              </a:rPr>
              <a:t>8</a:t>
            </a:r>
          </a:p>
        </p:txBody>
      </p:sp>
      <p:sp>
        <p:nvSpPr>
          <p:cNvPr id="14" name="TextBox 13"/>
          <p:cNvSpPr txBox="1"/>
          <p:nvPr/>
        </p:nvSpPr>
        <p:spPr>
          <a:xfrm>
            <a:off x="8321040" y="2148840"/>
            <a:ext cx="2560320" cy="274320"/>
          </a:xfrm>
          <a:prstGeom prst="rect">
            <a:avLst/>
          </a:prstGeom>
          <a:noFill/>
        </p:spPr>
        <p:txBody>
          <a:bodyPr wrap="square">
            <a:spAutoFit/>
          </a:bodyPr>
          <a:lstStyle/>
          <a:p>
            <a:pPr algn="ctr">
              <a:defRPr sz="1800" b="1">
                <a:solidFill>
                  <a:srgbClr val="1A1A2E"/>
                </a:solidFill>
                <a:latin typeface="Segoe UI"/>
              </a:defRPr>
            </a:pPr>
            <a:r>
              <a:rPr>
                <a:latin typeface="Segoe UI"/>
                <a:ea typeface="Meiryo UI"/>
              </a:rPr>
              <a:t>部門</a:t>
            </a:r>
          </a:p>
        </p:txBody>
      </p:sp>
      <p:sp>
        <p:nvSpPr>
          <p:cNvPr id="15" name="TextBox 14"/>
          <p:cNvSpPr txBox="1"/>
          <p:nvPr/>
        </p:nvSpPr>
        <p:spPr>
          <a:xfrm>
            <a:off x="8321040" y="2468880"/>
            <a:ext cx="2560320" cy="640080"/>
          </a:xfrm>
          <a:prstGeom prst="rect">
            <a:avLst/>
          </a:prstGeom>
          <a:noFill/>
        </p:spPr>
        <p:txBody>
          <a:bodyPr wrap="square">
            <a:spAutoFit/>
          </a:bodyPr>
          <a:lstStyle/>
          <a:p>
            <a:pPr algn="ctr">
              <a:defRPr sz="1200" b="0">
                <a:solidFill>
                  <a:srgbClr val="4A5A6A"/>
                </a:solidFill>
                <a:latin typeface="Segoe UI"/>
              </a:defRPr>
            </a:pPr>
            <a:r>
              <a:rPr>
                <a:latin typeface="Segoe UI"/>
                <a:ea typeface="Meiryo UI"/>
              </a:rPr>
              <a:t>総務・経理・法務・人事</a:t>
            </a:r>
            <a:br/>
            <a:r>
              <a:rPr>
                <a:latin typeface="Segoe UI"/>
                <a:ea typeface="Meiryo UI"/>
              </a:rPr>
              <a:t>営業・IT・経営企画 等</a:t>
            </a:r>
          </a:p>
        </p:txBody>
      </p:sp>
      <p:sp>
        <p:nvSpPr>
          <p:cNvPr id="16" name="TextBox 15"/>
          <p:cNvSpPr txBox="1"/>
          <p:nvPr/>
        </p:nvSpPr>
        <p:spPr>
          <a:xfrm>
            <a:off x="731520" y="3657600"/>
            <a:ext cx="10515600" cy="2743200"/>
          </a:xfrm>
          <a:prstGeom prst="rect">
            <a:avLst/>
          </a:prstGeom>
          <a:noFill/>
        </p:spPr>
        <p:txBody>
          <a:bodyPr wrap="square">
            <a:spAutoFit/>
          </a:bodyPr>
          <a:lstStyle/>
          <a:p>
            <a:pPr algn="l">
              <a:defRPr sz="2000" b="1">
                <a:solidFill>
                  <a:srgbClr val="1A1A2E"/>
                </a:solidFill>
                <a:latin typeface="Segoe UI"/>
              </a:defRPr>
            </a:pPr>
            <a:r>
              <a:rPr>
                <a:latin typeface="Segoe UI"/>
                <a:ea typeface="Meiryo UI"/>
              </a:rPr>
              <a:t>本ソリューションの特長</a:t>
            </a:r>
          </a:p>
          <a:p>
            <a:pPr algn="l">
              <a:spcBef>
                <a:spcPts val="800"/>
              </a:spcBef>
              <a:spcAft>
                <a:spcPts val="200"/>
              </a:spcAft>
              <a:defRPr sz="1400" b="0">
                <a:solidFill>
                  <a:srgbClr val="4A5A6A"/>
                </a:solidFill>
                <a:latin typeface="Segoe UI"/>
              </a:defRPr>
            </a:pPr>
            <a:r>
              <a:rPr>
                <a:latin typeface="Segoe UI"/>
                <a:ea typeface="Meiryo UI"/>
              </a:rPr>
              <a:t>    Dify にインポートするだけで動作する「即戦力テンプレート」— ゼロからの構築不要</a:t>
            </a:r>
          </a:p>
          <a:p>
            <a:pPr algn="l">
              <a:spcBef>
                <a:spcPts val="800"/>
              </a:spcBef>
              <a:spcAft>
                <a:spcPts val="200"/>
              </a:spcAft>
              <a:defRPr sz="1400" b="0">
                <a:solidFill>
                  <a:srgbClr val="4A5A6A"/>
                </a:solidFill>
                <a:latin typeface="Segoe UI"/>
              </a:defRPr>
            </a:pPr>
            <a:r>
              <a:rPr>
                <a:latin typeface="Segoe UI"/>
                <a:ea typeface="Meiryo UI"/>
              </a:rPr>
              <a:t>    日報・議事録・稟議書など日本企業の典型業務を網羅した 10 ワークフロー</a:t>
            </a:r>
          </a:p>
          <a:p>
            <a:pPr algn="l">
              <a:spcBef>
                <a:spcPts val="800"/>
              </a:spcBef>
              <a:spcAft>
                <a:spcPts val="200"/>
              </a:spcAft>
              <a:defRPr sz="1400" b="0">
                <a:solidFill>
                  <a:srgbClr val="4A5A6A"/>
                </a:solidFill>
                <a:latin typeface="Segoe UI"/>
              </a:defRPr>
            </a:pPr>
            <a:r>
              <a:rPr>
                <a:latin typeface="Segoe UI"/>
                <a:ea typeface="Meiryo UI"/>
              </a:rPr>
              <a:t>    RAG・IF/ELSE・Iteration・3層ガード等 Dify の全主要ノードパターンを活用</a:t>
            </a:r>
          </a:p>
          <a:p>
            <a:pPr algn="l">
              <a:spcBef>
                <a:spcPts val="800"/>
              </a:spcBef>
              <a:spcAft>
                <a:spcPts val="200"/>
              </a:spcAft>
              <a:defRPr sz="1400" b="0">
                <a:solidFill>
                  <a:srgbClr val="4A5A6A"/>
                </a:solidFill>
                <a:latin typeface="Segoe UI"/>
              </a:defRPr>
            </a:pPr>
            <a:r>
              <a:rPr>
                <a:latin typeface="Segoe UI"/>
                <a:ea typeface="Meiryo UI"/>
              </a:rPr>
              <a:t>    LLM モデル・閾値・フォーマットを差し替えるだけで自社環境に即適用可能</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1A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600" b="1">
                <a:solidFill>
                  <a:srgbClr val="FFFFFF"/>
                </a:solidFill>
                <a:latin typeface="Segoe UI"/>
              </a:defRPr>
            </a:pPr>
            <a:r>
              <a:rPr>
                <a:latin typeface="Segoe UI"/>
                <a:ea typeface="Meiryo UI"/>
              </a:rPr>
              <a:t>ワークフロー一覧  ─  10 の業務シーン</a:t>
            </a:r>
          </a:p>
        </p:txBody>
      </p:sp>
      <p:graphicFrame>
        <p:nvGraphicFramePr>
          <p:cNvPr id="4" name="Table 3"/>
          <p:cNvGraphicFramePr>
            <a:graphicFrameLocks noGrp="1"/>
          </p:cNvGraphicFramePr>
          <p:nvPr/>
        </p:nvGraphicFramePr>
        <p:xfrm>
          <a:off x="457200" y="1188720"/>
          <a:ext cx="10972800" cy="5029200"/>
        </p:xfrm>
        <a:graphic>
          <a:graphicData uri="http://schemas.openxmlformats.org/drawingml/2006/table">
            <a:tbl>
              <a:tblPr firstRow="1" bandRow="1">
                <a:tableStyleId>{5C22544A-7EE6-4342-B048-85BDC9FD1C3A}</a:tableStyleId>
              </a:tblPr>
              <a:tblGrid>
                <a:gridCol w="457200"/>
                <a:gridCol w="2926080"/>
                <a:gridCol w="1828800"/>
                <a:gridCol w="5029200"/>
                <a:gridCol w="731520"/>
              </a:tblGrid>
              <a:tr h="457200">
                <a:tc>
                  <a:txBody>
                    <a:bodyPr/>
                    <a:lstStyle/>
                    <a:p>
                      <a:pPr algn="ctr">
                        <a:defRPr sz="1200" b="1">
                          <a:solidFill>
                            <a:srgbClr val="FFFFFF"/>
                          </a:solidFill>
                          <a:latin typeface="Segoe UI"/>
                        </a:defRPr>
                      </a:pPr>
                      <a:r>
                        <a:rPr>
                          <a:latin typeface="Segoe UI"/>
                          <a:ea typeface="Meiryo UI"/>
                        </a:rPr>
                        <a:t>#</a:t>
                      </a:r>
                    </a:p>
                  </a:txBody>
                  <a:tcPr anchor="ctr">
                    <a:solidFill>
                      <a:srgbClr val="2A1F55"/>
                    </a:solidFill>
                  </a:tcPr>
                </a:tc>
                <a:tc>
                  <a:txBody>
                    <a:bodyPr/>
                    <a:lstStyle/>
                    <a:p>
                      <a:pPr algn="ctr">
                        <a:defRPr sz="1200" b="1">
                          <a:solidFill>
                            <a:srgbClr val="FFFFFF"/>
                          </a:solidFill>
                          <a:latin typeface="Segoe UI"/>
                        </a:defRPr>
                      </a:pPr>
                      <a:r>
                        <a:rPr>
                          <a:latin typeface="Segoe UI"/>
                          <a:ea typeface="Meiryo UI"/>
                        </a:rPr>
                        <a:t>ワークフロー名</a:t>
                      </a:r>
                    </a:p>
                  </a:txBody>
                  <a:tcPr anchor="ctr">
                    <a:solidFill>
                      <a:srgbClr val="2A1F55"/>
                    </a:solidFill>
                  </a:tcPr>
                </a:tc>
                <a:tc>
                  <a:txBody>
                    <a:bodyPr/>
                    <a:lstStyle/>
                    <a:p>
                      <a:pPr algn="ctr">
                        <a:defRPr sz="1200" b="1">
                          <a:solidFill>
                            <a:srgbClr val="FFFFFF"/>
                          </a:solidFill>
                          <a:latin typeface="Segoe UI"/>
                        </a:defRPr>
                      </a:pPr>
                      <a:r>
                        <a:rPr>
                          <a:latin typeface="Segoe UI"/>
                          <a:ea typeface="Meiryo UI"/>
                        </a:rPr>
                        <a:t>対象部門</a:t>
                      </a:r>
                    </a:p>
                  </a:txBody>
                  <a:tcPr anchor="ctr">
                    <a:solidFill>
                      <a:srgbClr val="2A1F55"/>
                    </a:solidFill>
                  </a:tcPr>
                </a:tc>
                <a:tc>
                  <a:txBody>
                    <a:bodyPr/>
                    <a:lstStyle/>
                    <a:p>
                      <a:pPr algn="ctr">
                        <a:defRPr sz="1200" b="1">
                          <a:solidFill>
                            <a:srgbClr val="FFFFFF"/>
                          </a:solidFill>
                          <a:latin typeface="Segoe UI"/>
                        </a:defRPr>
                      </a:pPr>
                      <a:r>
                        <a:rPr>
                          <a:latin typeface="Segoe UI"/>
                          <a:ea typeface="Meiryo UI"/>
                        </a:rPr>
                        <a:t>主要パターン</a:t>
                      </a:r>
                    </a:p>
                  </a:txBody>
                  <a:tcPr anchor="ctr">
                    <a:solidFill>
                      <a:srgbClr val="2A1F55"/>
                    </a:solidFill>
                  </a:tcPr>
                </a:tc>
                <a:tc>
                  <a:txBody>
                    <a:bodyPr/>
                    <a:lstStyle/>
                    <a:p>
                      <a:pPr algn="ctr">
                        <a:defRPr sz="1200" b="1">
                          <a:solidFill>
                            <a:srgbClr val="FFFFFF"/>
                          </a:solidFill>
                          <a:latin typeface="Segoe UI"/>
                        </a:defRPr>
                      </a:pPr>
                      <a:r>
                        <a:rPr>
                          <a:latin typeface="Segoe UI"/>
                          <a:ea typeface="Meiryo UI"/>
                        </a:rPr>
                        <a:t>ノード</a:t>
                      </a:r>
                    </a:p>
                  </a:txBody>
                  <a:tcPr anchor="ctr">
                    <a:solidFill>
                      <a:srgbClr val="2A1F55"/>
                    </a:solidFill>
                  </a:tcPr>
                </a:tc>
              </a:tr>
              <a:tr h="457200">
                <a:tc>
                  <a:txBody>
                    <a:bodyPr/>
                    <a:lstStyle/>
                    <a:p>
                      <a:pPr algn="ctr">
                        <a:defRPr sz="1200">
                          <a:solidFill>
                            <a:srgbClr val="1A1A2E"/>
                          </a:solidFill>
                          <a:latin typeface="Segoe UI"/>
                        </a:defRPr>
                      </a:pPr>
                      <a:r>
                        <a:rPr>
                          <a:latin typeface="Segoe UI"/>
                          <a:ea typeface="Meiryo UI"/>
                        </a:rPr>
                        <a:t>1</a:t>
                      </a:r>
                    </a:p>
                  </a:txBody>
                  <a:tcPr anchor="ctr"/>
                </a:tc>
                <a:tc>
                  <a:txBody>
                    <a:bodyPr/>
                    <a:lstStyle/>
                    <a:p>
                      <a:pPr algn="l">
                        <a:defRPr sz="1200">
                          <a:solidFill>
                            <a:srgbClr val="1A1A2E"/>
                          </a:solidFill>
                          <a:latin typeface="Segoe UI"/>
                        </a:defRPr>
                      </a:pPr>
                      <a:r>
                        <a:rPr>
                          <a:latin typeface="Segoe UI"/>
                          <a:ea typeface="Meiryo UI"/>
                        </a:rPr>
                        <a:t>社内規程・就業規則Q&amp;A</a:t>
                      </a:r>
                    </a:p>
                  </a:txBody>
                  <a:tcPr anchor="ctr"/>
                </a:tc>
                <a:tc>
                  <a:txBody>
                    <a:bodyPr/>
                    <a:lstStyle/>
                    <a:p>
                      <a:pPr algn="l">
                        <a:defRPr sz="1200">
                          <a:solidFill>
                            <a:srgbClr val="1A1A2E"/>
                          </a:solidFill>
                          <a:latin typeface="Segoe UI"/>
                        </a:defRPr>
                      </a:pPr>
                      <a:r>
                        <a:rPr>
                          <a:latin typeface="Segoe UI"/>
                          <a:ea typeface="Meiryo UI"/>
                        </a:rPr>
                        <a:t>総務 / 全社員</a:t>
                      </a:r>
                    </a:p>
                  </a:txBody>
                  <a:tcPr anchor="ctr"/>
                </a:tc>
                <a:tc>
                  <a:txBody>
                    <a:bodyPr/>
                    <a:lstStyle/>
                    <a:p>
                      <a:pPr algn="l">
                        <a:defRPr sz="1200">
                          <a:solidFill>
                            <a:srgbClr val="1A1A2E"/>
                          </a:solidFill>
                          <a:latin typeface="Segoe UI"/>
                        </a:defRPr>
                      </a:pPr>
                      <a:r>
                        <a:rPr>
                          <a:latin typeface="Segoe UI"/>
                          <a:ea typeface="Meiryo UI"/>
                        </a:rPr>
                        <a:t>RAG (KR → LLM)</a:t>
                      </a:r>
                    </a:p>
                  </a:txBody>
                  <a:tcPr anchor="ctr"/>
                </a:tc>
                <a:tc>
                  <a:txBody>
                    <a:bodyPr/>
                    <a:lstStyle/>
                    <a:p>
                      <a:pPr algn="ctr">
                        <a:defRPr sz="1200">
                          <a:solidFill>
                            <a:srgbClr val="1A1A2E"/>
                          </a:solidFill>
                          <a:latin typeface="Segoe UI"/>
                        </a:defRPr>
                      </a:pPr>
                      <a:r>
                        <a:rPr>
                          <a:latin typeface="Segoe UI"/>
                          <a:ea typeface="Meiryo UI"/>
                        </a:rPr>
                        <a:t>4</a:t>
                      </a:r>
                    </a:p>
                  </a:txBody>
                  <a:tcPr anchor="ctr"/>
                </a:tc>
              </a:tr>
              <a:tr h="457200">
                <a:tc>
                  <a:txBody>
                    <a:bodyPr/>
                    <a:lstStyle/>
                    <a:p>
                      <a:pPr algn="ctr">
                        <a:defRPr sz="1200">
                          <a:solidFill>
                            <a:srgbClr val="1A1A2E"/>
                          </a:solidFill>
                          <a:latin typeface="Segoe UI"/>
                        </a:defRPr>
                      </a:pPr>
                      <a:r>
                        <a:rPr>
                          <a:latin typeface="Segoe UI"/>
                          <a:ea typeface="Meiryo UI"/>
                        </a:rPr>
                        <a:t>2</a:t>
                      </a:r>
                    </a:p>
                  </a:txBody>
                  <a:tcPr anchor="ctr">
                    <a:solidFill>
                      <a:srgbClr val="F3F0FA"/>
                    </a:solidFill>
                  </a:tcPr>
                </a:tc>
                <a:tc>
                  <a:txBody>
                    <a:bodyPr/>
                    <a:lstStyle/>
                    <a:p>
                      <a:pPr algn="l">
                        <a:defRPr sz="1200">
                          <a:solidFill>
                            <a:srgbClr val="1A1A2E"/>
                          </a:solidFill>
                          <a:latin typeface="Segoe UI"/>
                        </a:defRPr>
                      </a:pPr>
                      <a:r>
                        <a:rPr>
                          <a:latin typeface="Segoe UI"/>
                          <a:ea typeface="Meiryo UI"/>
                        </a:rPr>
                        <a:t>日報自動生成</a:t>
                      </a:r>
                    </a:p>
                  </a:txBody>
                  <a:tcPr anchor="ctr">
                    <a:solidFill>
                      <a:srgbClr val="F3F0FA"/>
                    </a:solidFill>
                  </a:tcPr>
                </a:tc>
                <a:tc>
                  <a:txBody>
                    <a:bodyPr/>
                    <a:lstStyle/>
                    <a:p>
                      <a:pPr algn="l">
                        <a:defRPr sz="1200">
                          <a:solidFill>
                            <a:srgbClr val="1A1A2E"/>
                          </a:solidFill>
                          <a:latin typeface="Segoe UI"/>
                        </a:defRPr>
                      </a:pPr>
                      <a:r>
                        <a:rPr>
                          <a:latin typeface="Segoe UI"/>
                          <a:ea typeface="Meiryo UI"/>
                        </a:rPr>
                        <a:t>全部門</a:t>
                      </a:r>
                    </a:p>
                  </a:txBody>
                  <a:tcPr anchor="ctr">
                    <a:solidFill>
                      <a:srgbClr val="F3F0FA"/>
                    </a:solidFill>
                  </a:tcPr>
                </a:tc>
                <a:tc>
                  <a:txBody>
                    <a:bodyPr/>
                    <a:lstStyle/>
                    <a:p>
                      <a:pPr algn="l">
                        <a:defRPr sz="1200">
                          <a:solidFill>
                            <a:srgbClr val="1A1A2E"/>
                          </a:solidFill>
                          <a:latin typeface="Segoe UI"/>
                        </a:defRPr>
                      </a:pPr>
                      <a:r>
                        <a:rPr>
                          <a:latin typeface="Segoe UI"/>
                          <a:ea typeface="Meiryo UI"/>
                        </a:rPr>
                        <a:t>Code → LLM → Template</a:t>
                      </a:r>
                    </a:p>
                  </a:txBody>
                  <a:tcPr anchor="ctr">
                    <a:solidFill>
                      <a:srgbClr val="F3F0FA"/>
                    </a:solidFill>
                  </a:tcPr>
                </a:tc>
                <a:tc>
                  <a:txBody>
                    <a:bodyPr/>
                    <a:lstStyle/>
                    <a:p>
                      <a:pPr algn="ctr">
                        <a:defRPr sz="1200">
                          <a:solidFill>
                            <a:srgbClr val="1A1A2E"/>
                          </a:solidFill>
                          <a:latin typeface="Segoe UI"/>
                        </a:defRPr>
                      </a:pPr>
                      <a:r>
                        <a:rPr>
                          <a:latin typeface="Segoe UI"/>
                          <a:ea typeface="Meiryo UI"/>
                        </a:rPr>
                        <a:t>5</a:t>
                      </a:r>
                    </a:p>
                  </a:txBody>
                  <a:tcPr anchor="ctr">
                    <a:solidFill>
                      <a:srgbClr val="F3F0FA"/>
                    </a:solidFill>
                  </a:tcPr>
                </a:tc>
              </a:tr>
              <a:tr h="457200">
                <a:tc>
                  <a:txBody>
                    <a:bodyPr/>
                    <a:lstStyle/>
                    <a:p>
                      <a:pPr algn="ctr">
                        <a:defRPr sz="1200">
                          <a:solidFill>
                            <a:srgbClr val="1A1A2E"/>
                          </a:solidFill>
                          <a:latin typeface="Segoe UI"/>
                        </a:defRPr>
                      </a:pPr>
                      <a:r>
                        <a:rPr>
                          <a:latin typeface="Segoe UI"/>
                          <a:ea typeface="Meiryo UI"/>
                        </a:rPr>
                        <a:t>3</a:t>
                      </a:r>
                    </a:p>
                  </a:txBody>
                  <a:tcPr anchor="ctr"/>
                </a:tc>
                <a:tc>
                  <a:txBody>
                    <a:bodyPr/>
                    <a:lstStyle/>
                    <a:p>
                      <a:pPr algn="l">
                        <a:defRPr sz="1200">
                          <a:solidFill>
                            <a:srgbClr val="1A1A2E"/>
                          </a:solidFill>
                          <a:latin typeface="Segoe UI"/>
                        </a:defRPr>
                      </a:pPr>
                      <a:r>
                        <a:rPr>
                          <a:latin typeface="Segoe UI"/>
                          <a:ea typeface="Meiryo UI"/>
                        </a:rPr>
                        <a:t>議事録要約・ToDo抽出</a:t>
                      </a:r>
                    </a:p>
                  </a:txBody>
                  <a:tcPr anchor="ctr"/>
                </a:tc>
                <a:tc>
                  <a:txBody>
                    <a:bodyPr/>
                    <a:lstStyle/>
                    <a:p>
                      <a:pPr algn="l">
                        <a:defRPr sz="1200">
                          <a:solidFill>
                            <a:srgbClr val="1A1A2E"/>
                          </a:solidFill>
                          <a:latin typeface="Segoe UI"/>
                        </a:defRPr>
                      </a:pPr>
                      <a:r>
                        <a:rPr>
                          <a:latin typeface="Segoe UI"/>
                          <a:ea typeface="Meiryo UI"/>
                        </a:rPr>
                        <a:t>全部門</a:t>
                      </a:r>
                    </a:p>
                  </a:txBody>
                  <a:tcPr anchor="ctr"/>
                </a:tc>
                <a:tc>
                  <a:txBody>
                    <a:bodyPr/>
                    <a:lstStyle/>
                    <a:p>
                      <a:pPr algn="l">
                        <a:defRPr sz="1200">
                          <a:solidFill>
                            <a:srgbClr val="1A1A2E"/>
                          </a:solidFill>
                          <a:latin typeface="Segoe UI"/>
                        </a:defRPr>
                      </a:pPr>
                      <a:r>
                        <a:rPr>
                          <a:latin typeface="Segoe UI"/>
                          <a:ea typeface="Meiryo UI"/>
                        </a:rPr>
                        <a:t>PE → 並列LLM → VA → TT</a:t>
                      </a:r>
                    </a:p>
                  </a:txBody>
                  <a:tcPr anchor="ctr"/>
                </a:tc>
                <a:tc>
                  <a:txBody>
                    <a:bodyPr/>
                    <a:lstStyle/>
                    <a:p>
                      <a:pPr algn="ctr">
                        <a:defRPr sz="1200">
                          <a:solidFill>
                            <a:srgbClr val="1A1A2E"/>
                          </a:solidFill>
                          <a:latin typeface="Segoe UI"/>
                        </a:defRPr>
                      </a:pPr>
                      <a:r>
                        <a:rPr>
                          <a:latin typeface="Segoe UI"/>
                          <a:ea typeface="Meiryo UI"/>
                        </a:rPr>
                        <a:t>7</a:t>
                      </a:r>
                    </a:p>
                  </a:txBody>
                  <a:tcPr anchor="ctr"/>
                </a:tc>
              </a:tr>
              <a:tr h="457200">
                <a:tc>
                  <a:txBody>
                    <a:bodyPr/>
                    <a:lstStyle/>
                    <a:p>
                      <a:pPr algn="ctr">
                        <a:defRPr sz="1200">
                          <a:solidFill>
                            <a:srgbClr val="1A1A2E"/>
                          </a:solidFill>
                          <a:latin typeface="Segoe UI"/>
                        </a:defRPr>
                      </a:pPr>
                      <a:r>
                        <a:rPr>
                          <a:latin typeface="Segoe UI"/>
                          <a:ea typeface="Meiryo UI"/>
                        </a:rPr>
                        <a:t>4</a:t>
                      </a:r>
                    </a:p>
                  </a:txBody>
                  <a:tcPr anchor="ctr">
                    <a:solidFill>
                      <a:srgbClr val="F3F0FA"/>
                    </a:solidFill>
                  </a:tcPr>
                </a:tc>
                <a:tc>
                  <a:txBody>
                    <a:bodyPr/>
                    <a:lstStyle/>
                    <a:p>
                      <a:pPr algn="l">
                        <a:defRPr sz="1200">
                          <a:solidFill>
                            <a:srgbClr val="1A1A2E"/>
                          </a:solidFill>
                          <a:latin typeface="Segoe UI"/>
                        </a:defRPr>
                      </a:pPr>
                      <a:r>
                        <a:rPr>
                          <a:latin typeface="Segoe UI"/>
                          <a:ea typeface="Meiryo UI"/>
                        </a:rPr>
                        <a:t>経費申請チェック</a:t>
                      </a:r>
                    </a:p>
                  </a:txBody>
                  <a:tcPr anchor="ctr">
                    <a:solidFill>
                      <a:srgbClr val="F3F0FA"/>
                    </a:solidFill>
                  </a:tcPr>
                </a:tc>
                <a:tc>
                  <a:txBody>
                    <a:bodyPr/>
                    <a:lstStyle/>
                    <a:p>
                      <a:pPr algn="l">
                        <a:defRPr sz="1200">
                          <a:solidFill>
                            <a:srgbClr val="1A1A2E"/>
                          </a:solidFill>
                          <a:latin typeface="Segoe UI"/>
                        </a:defRPr>
                      </a:pPr>
                      <a:r>
                        <a:rPr>
                          <a:latin typeface="Segoe UI"/>
                          <a:ea typeface="Meiryo UI"/>
                        </a:rPr>
                        <a:t>経理 / 全社員</a:t>
                      </a:r>
                    </a:p>
                  </a:txBody>
                  <a:tcPr anchor="ctr">
                    <a:solidFill>
                      <a:srgbClr val="F3F0FA"/>
                    </a:solidFill>
                  </a:tcPr>
                </a:tc>
                <a:tc>
                  <a:txBody>
                    <a:bodyPr/>
                    <a:lstStyle/>
                    <a:p>
                      <a:pPr algn="l">
                        <a:defRPr sz="1200">
                          <a:solidFill>
                            <a:srgbClr val="1A1A2E"/>
                          </a:solidFill>
                          <a:latin typeface="Segoe UI"/>
                        </a:defRPr>
                      </a:pPr>
                      <a:r>
                        <a:rPr>
                          <a:latin typeface="Segoe UI"/>
                          <a:ea typeface="Meiryo UI"/>
                        </a:rPr>
                        <a:t>PE → Code → IF/ELSE → VA</a:t>
                      </a:r>
                    </a:p>
                  </a:txBody>
                  <a:tcPr anchor="ctr">
                    <a:solidFill>
                      <a:srgbClr val="F3F0FA"/>
                    </a:solidFill>
                  </a:tcPr>
                </a:tc>
                <a:tc>
                  <a:txBody>
                    <a:bodyPr/>
                    <a:lstStyle/>
                    <a:p>
                      <a:pPr algn="ctr">
                        <a:defRPr sz="1200">
                          <a:solidFill>
                            <a:srgbClr val="1A1A2E"/>
                          </a:solidFill>
                          <a:latin typeface="Segoe UI"/>
                        </a:defRPr>
                      </a:pPr>
                      <a:r>
                        <a:rPr>
                          <a:latin typeface="Segoe UI"/>
                          <a:ea typeface="Meiryo UI"/>
                        </a:rPr>
                        <a:t>8</a:t>
                      </a:r>
                    </a:p>
                  </a:txBody>
                  <a:tcPr anchor="ctr">
                    <a:solidFill>
                      <a:srgbClr val="F3F0FA"/>
                    </a:solidFill>
                  </a:tcPr>
                </a:tc>
              </a:tr>
              <a:tr h="457200">
                <a:tc>
                  <a:txBody>
                    <a:bodyPr/>
                    <a:lstStyle/>
                    <a:p>
                      <a:pPr algn="ctr">
                        <a:defRPr sz="1200">
                          <a:solidFill>
                            <a:srgbClr val="1A1A2E"/>
                          </a:solidFill>
                          <a:latin typeface="Segoe UI"/>
                        </a:defRPr>
                      </a:pPr>
                      <a:r>
                        <a:rPr>
                          <a:latin typeface="Segoe UI"/>
                          <a:ea typeface="Meiryo UI"/>
                        </a:rPr>
                        <a:t>5</a:t>
                      </a:r>
                    </a:p>
                  </a:txBody>
                  <a:tcPr anchor="ctr"/>
                </a:tc>
                <a:tc>
                  <a:txBody>
                    <a:bodyPr/>
                    <a:lstStyle/>
                    <a:p>
                      <a:pPr algn="l">
                        <a:defRPr sz="1200">
                          <a:solidFill>
                            <a:srgbClr val="1A1A2E"/>
                          </a:solidFill>
                          <a:latin typeface="Segoe UI"/>
                        </a:defRPr>
                      </a:pPr>
                      <a:r>
                        <a:rPr>
                          <a:latin typeface="Segoe UI"/>
                          <a:ea typeface="Meiryo UI"/>
                        </a:rPr>
                        <a:t>社内ヘルプデスクチャット</a:t>
                      </a:r>
                    </a:p>
                  </a:txBody>
                  <a:tcPr anchor="ctr"/>
                </a:tc>
                <a:tc>
                  <a:txBody>
                    <a:bodyPr/>
                    <a:lstStyle/>
                    <a:p>
                      <a:pPr algn="l">
                        <a:defRPr sz="1200">
                          <a:solidFill>
                            <a:srgbClr val="1A1A2E"/>
                          </a:solidFill>
                          <a:latin typeface="Segoe UI"/>
                        </a:defRPr>
                      </a:pPr>
                      <a:r>
                        <a:rPr>
                          <a:latin typeface="Segoe UI"/>
                          <a:ea typeface="Meiryo UI"/>
                        </a:rPr>
                        <a:t>情シス / 全社員</a:t>
                      </a:r>
                    </a:p>
                  </a:txBody>
                  <a:tcPr anchor="ctr"/>
                </a:tc>
                <a:tc>
                  <a:txBody>
                    <a:bodyPr/>
                    <a:lstStyle/>
                    <a:p>
                      <a:pPr algn="l">
                        <a:defRPr sz="1200">
                          <a:solidFill>
                            <a:srgbClr val="1A1A2E"/>
                          </a:solidFill>
                          <a:latin typeface="Segoe UI"/>
                        </a:defRPr>
                      </a:pPr>
                      <a:r>
                        <a:rPr>
                          <a:latin typeface="Segoe UI"/>
                          <a:ea typeface="Meiryo UI"/>
                        </a:rPr>
                        <a:t>QC 3分岐 → KR → LLM(memory)</a:t>
                      </a:r>
                    </a:p>
                  </a:txBody>
                  <a:tcPr anchor="ctr"/>
                </a:tc>
                <a:tc>
                  <a:txBody>
                    <a:bodyPr/>
                    <a:lstStyle/>
                    <a:p>
                      <a:pPr algn="ctr">
                        <a:defRPr sz="1200">
                          <a:solidFill>
                            <a:srgbClr val="1A1A2E"/>
                          </a:solidFill>
                          <a:latin typeface="Segoe UI"/>
                        </a:defRPr>
                      </a:pPr>
                      <a:r>
                        <a:rPr>
                          <a:latin typeface="Segoe UI"/>
                          <a:ea typeface="Meiryo UI"/>
                        </a:rPr>
                        <a:t>10</a:t>
                      </a:r>
                    </a:p>
                  </a:txBody>
                  <a:tcPr anchor="ctr"/>
                </a:tc>
              </a:tr>
              <a:tr h="457200">
                <a:tc>
                  <a:txBody>
                    <a:bodyPr/>
                    <a:lstStyle/>
                    <a:p>
                      <a:pPr algn="ctr">
                        <a:defRPr sz="1200">
                          <a:solidFill>
                            <a:srgbClr val="1A1A2E"/>
                          </a:solidFill>
                          <a:latin typeface="Segoe UI"/>
                        </a:defRPr>
                      </a:pPr>
                      <a:r>
                        <a:rPr>
                          <a:latin typeface="Segoe UI"/>
                          <a:ea typeface="Meiryo UI"/>
                        </a:rPr>
                        <a:t>6</a:t>
                      </a:r>
                    </a:p>
                  </a:txBody>
                  <a:tcPr anchor="ctr">
                    <a:solidFill>
                      <a:srgbClr val="F3F0FA"/>
                    </a:solidFill>
                  </a:tcPr>
                </a:tc>
                <a:tc>
                  <a:txBody>
                    <a:bodyPr/>
                    <a:lstStyle/>
                    <a:p>
                      <a:pPr algn="l">
                        <a:defRPr sz="1200">
                          <a:solidFill>
                            <a:srgbClr val="1A1A2E"/>
                          </a:solidFill>
                          <a:latin typeface="Segoe UI"/>
                        </a:defRPr>
                      </a:pPr>
                      <a:r>
                        <a:rPr>
                          <a:latin typeface="Segoe UI"/>
                          <a:ea typeface="Meiryo UI"/>
                        </a:rPr>
                        <a:t>契約書リスクレビュー</a:t>
                      </a:r>
                    </a:p>
                  </a:txBody>
                  <a:tcPr anchor="ctr">
                    <a:solidFill>
                      <a:srgbClr val="F3F0FA"/>
                    </a:solidFill>
                  </a:tcPr>
                </a:tc>
                <a:tc>
                  <a:txBody>
                    <a:bodyPr/>
                    <a:lstStyle/>
                    <a:p>
                      <a:pPr algn="l">
                        <a:defRPr sz="1200">
                          <a:solidFill>
                            <a:srgbClr val="1A1A2E"/>
                          </a:solidFill>
                          <a:latin typeface="Segoe UI"/>
                        </a:defRPr>
                      </a:pPr>
                      <a:r>
                        <a:rPr>
                          <a:latin typeface="Segoe UI"/>
                          <a:ea typeface="Meiryo UI"/>
                        </a:rPr>
                        <a:t>法務 / 営業</a:t>
                      </a:r>
                    </a:p>
                  </a:txBody>
                  <a:tcPr anchor="ctr">
                    <a:solidFill>
                      <a:srgbClr val="F3F0FA"/>
                    </a:solidFill>
                  </a:tcPr>
                </a:tc>
                <a:tc>
                  <a:txBody>
                    <a:bodyPr/>
                    <a:lstStyle/>
                    <a:p>
                      <a:pPr algn="l">
                        <a:defRPr sz="1200">
                          <a:solidFill>
                            <a:srgbClr val="1A1A2E"/>
                          </a:solidFill>
                          <a:latin typeface="Segoe UI"/>
                        </a:defRPr>
                      </a:pPr>
                      <a:r>
                        <a:rPr>
                          <a:latin typeface="Segoe UI"/>
                          <a:ea typeface="Meiryo UI"/>
                        </a:rPr>
                        <a:t>3層ガード (Code → IE → KR → LLM)</a:t>
                      </a:r>
                    </a:p>
                  </a:txBody>
                  <a:tcPr anchor="ctr">
                    <a:solidFill>
                      <a:srgbClr val="F3F0FA"/>
                    </a:solidFill>
                  </a:tcPr>
                </a:tc>
                <a:tc>
                  <a:txBody>
                    <a:bodyPr/>
                    <a:lstStyle/>
                    <a:p>
                      <a:pPr algn="ctr">
                        <a:defRPr sz="1200">
                          <a:solidFill>
                            <a:srgbClr val="1A1A2E"/>
                          </a:solidFill>
                          <a:latin typeface="Segoe UI"/>
                        </a:defRPr>
                      </a:pPr>
                      <a:r>
                        <a:rPr>
                          <a:latin typeface="Segoe UI"/>
                          <a:ea typeface="Meiryo UI"/>
                        </a:rPr>
                        <a:t>9</a:t>
                      </a:r>
                    </a:p>
                  </a:txBody>
                  <a:tcPr anchor="ctr">
                    <a:solidFill>
                      <a:srgbClr val="F3F0FA"/>
                    </a:solidFill>
                  </a:tcPr>
                </a:tc>
              </a:tr>
              <a:tr h="457200">
                <a:tc>
                  <a:txBody>
                    <a:bodyPr/>
                    <a:lstStyle/>
                    <a:p>
                      <a:pPr algn="ctr">
                        <a:defRPr sz="1200">
                          <a:solidFill>
                            <a:srgbClr val="1A1A2E"/>
                          </a:solidFill>
                          <a:latin typeface="Segoe UI"/>
                        </a:defRPr>
                      </a:pPr>
                      <a:r>
                        <a:rPr>
                          <a:latin typeface="Segoe UI"/>
                          <a:ea typeface="Meiryo UI"/>
                        </a:rPr>
                        <a:t>7</a:t>
                      </a:r>
                    </a:p>
                  </a:txBody>
                  <a:tcPr anchor="ctr"/>
                </a:tc>
                <a:tc>
                  <a:txBody>
                    <a:bodyPr/>
                    <a:lstStyle/>
                    <a:p>
                      <a:pPr algn="l">
                        <a:defRPr sz="1200">
                          <a:solidFill>
                            <a:srgbClr val="1A1A2E"/>
                          </a:solidFill>
                          <a:latin typeface="Segoe UI"/>
                        </a:defRPr>
                      </a:pPr>
                      <a:r>
                        <a:rPr>
                          <a:latin typeface="Segoe UI"/>
                          <a:ea typeface="Meiryo UI"/>
                        </a:rPr>
                        <a:t>稟議書ドラフト作成</a:t>
                      </a:r>
                    </a:p>
                  </a:txBody>
                  <a:tcPr anchor="ctr"/>
                </a:tc>
                <a:tc>
                  <a:txBody>
                    <a:bodyPr/>
                    <a:lstStyle/>
                    <a:p>
                      <a:pPr algn="l">
                        <a:defRPr sz="1200">
                          <a:solidFill>
                            <a:srgbClr val="1A1A2E"/>
                          </a:solidFill>
                          <a:latin typeface="Segoe UI"/>
                        </a:defRPr>
                      </a:pPr>
                      <a:r>
                        <a:rPr>
                          <a:latin typeface="Segoe UI"/>
                          <a:ea typeface="Meiryo UI"/>
                        </a:rPr>
                        <a:t>全部門 / 管理職</a:t>
                      </a:r>
                    </a:p>
                  </a:txBody>
                  <a:tcPr anchor="ctr"/>
                </a:tc>
                <a:tc>
                  <a:txBody>
                    <a:bodyPr/>
                    <a:lstStyle/>
                    <a:p>
                      <a:pPr algn="l">
                        <a:defRPr sz="1200">
                          <a:solidFill>
                            <a:srgbClr val="1A1A2E"/>
                          </a:solidFill>
                          <a:latin typeface="Segoe UI"/>
                        </a:defRPr>
                      </a:pPr>
                      <a:r>
                        <a:rPr>
                          <a:latin typeface="Segoe UI"/>
                          <a:ea typeface="Meiryo UI"/>
                        </a:rPr>
                        <a:t>6入力 → Code → LLM(8192) → TT</a:t>
                      </a:r>
                    </a:p>
                  </a:txBody>
                  <a:tcPr anchor="ctr"/>
                </a:tc>
                <a:tc>
                  <a:txBody>
                    <a:bodyPr/>
                    <a:lstStyle/>
                    <a:p>
                      <a:pPr algn="ctr">
                        <a:defRPr sz="1200">
                          <a:solidFill>
                            <a:srgbClr val="1A1A2E"/>
                          </a:solidFill>
                          <a:latin typeface="Segoe UI"/>
                        </a:defRPr>
                      </a:pPr>
                      <a:r>
                        <a:rPr>
                          <a:latin typeface="Segoe UI"/>
                          <a:ea typeface="Meiryo UI"/>
                        </a:rPr>
                        <a:t>5</a:t>
                      </a:r>
                    </a:p>
                  </a:txBody>
                  <a:tcPr anchor="ctr"/>
                </a:tc>
              </a:tr>
              <a:tr h="457200">
                <a:tc>
                  <a:txBody>
                    <a:bodyPr/>
                    <a:lstStyle/>
                    <a:p>
                      <a:pPr algn="ctr">
                        <a:defRPr sz="1200">
                          <a:solidFill>
                            <a:srgbClr val="1A1A2E"/>
                          </a:solidFill>
                          <a:latin typeface="Segoe UI"/>
                        </a:defRPr>
                      </a:pPr>
                      <a:r>
                        <a:rPr>
                          <a:latin typeface="Segoe UI"/>
                          <a:ea typeface="Meiryo UI"/>
                        </a:rPr>
                        <a:t>8</a:t>
                      </a:r>
                    </a:p>
                  </a:txBody>
                  <a:tcPr anchor="ctr">
                    <a:solidFill>
                      <a:srgbClr val="F3F0FA"/>
                    </a:solidFill>
                  </a:tcPr>
                </a:tc>
                <a:tc>
                  <a:txBody>
                    <a:bodyPr/>
                    <a:lstStyle/>
                    <a:p>
                      <a:pPr algn="l">
                        <a:defRPr sz="1200">
                          <a:solidFill>
                            <a:srgbClr val="1A1A2E"/>
                          </a:solidFill>
                          <a:latin typeface="Segoe UI"/>
                        </a:defRPr>
                      </a:pPr>
                      <a:r>
                        <a:rPr>
                          <a:latin typeface="Segoe UI"/>
                          <a:ea typeface="Meiryo UI"/>
                        </a:rPr>
                        <a:t>採用候補者スクリーニング</a:t>
                      </a:r>
                    </a:p>
                  </a:txBody>
                  <a:tcPr anchor="ctr">
                    <a:solidFill>
                      <a:srgbClr val="F3F0FA"/>
                    </a:solidFill>
                  </a:tcPr>
                </a:tc>
                <a:tc>
                  <a:txBody>
                    <a:bodyPr/>
                    <a:lstStyle/>
                    <a:p>
                      <a:pPr algn="l">
                        <a:defRPr sz="1200">
                          <a:solidFill>
                            <a:srgbClr val="1A1A2E"/>
                          </a:solidFill>
                          <a:latin typeface="Segoe UI"/>
                        </a:defRPr>
                      </a:pPr>
                      <a:r>
                        <a:rPr>
                          <a:latin typeface="Segoe UI"/>
                          <a:ea typeface="Meiryo UI"/>
                        </a:rPr>
                        <a:t>人事部</a:t>
                      </a:r>
                    </a:p>
                  </a:txBody>
                  <a:tcPr anchor="ctr">
                    <a:solidFill>
                      <a:srgbClr val="F3F0FA"/>
                    </a:solidFill>
                  </a:tcPr>
                </a:tc>
                <a:tc>
                  <a:txBody>
                    <a:bodyPr/>
                    <a:lstStyle/>
                    <a:p>
                      <a:pPr algn="l">
                        <a:defRPr sz="1200">
                          <a:solidFill>
                            <a:srgbClr val="1A1A2E"/>
                          </a:solidFill>
                          <a:latin typeface="Segoe UI"/>
                        </a:defRPr>
                      </a:pPr>
                      <a:r>
                        <a:rPr>
                          <a:latin typeface="Segoe UI"/>
                          <a:ea typeface="Meiryo UI"/>
                        </a:rPr>
                        <a:t>PE → Code(スコア) → IF/ELSE → VA</a:t>
                      </a:r>
                    </a:p>
                  </a:txBody>
                  <a:tcPr anchor="ctr">
                    <a:solidFill>
                      <a:srgbClr val="F3F0FA"/>
                    </a:solidFill>
                  </a:tcPr>
                </a:tc>
                <a:tc>
                  <a:txBody>
                    <a:bodyPr/>
                    <a:lstStyle/>
                    <a:p>
                      <a:pPr algn="ctr">
                        <a:defRPr sz="1200">
                          <a:solidFill>
                            <a:srgbClr val="1A1A2E"/>
                          </a:solidFill>
                          <a:latin typeface="Segoe UI"/>
                        </a:defRPr>
                      </a:pPr>
                      <a:r>
                        <a:rPr>
                          <a:latin typeface="Segoe UI"/>
                          <a:ea typeface="Meiryo UI"/>
                        </a:rPr>
                        <a:t>8</a:t>
                      </a:r>
                    </a:p>
                  </a:txBody>
                  <a:tcPr anchor="ctr">
                    <a:solidFill>
                      <a:srgbClr val="F3F0FA"/>
                    </a:solidFill>
                  </a:tcPr>
                </a:tc>
              </a:tr>
              <a:tr h="457200">
                <a:tc>
                  <a:txBody>
                    <a:bodyPr/>
                    <a:lstStyle/>
                    <a:p>
                      <a:pPr algn="ctr">
                        <a:defRPr sz="1200">
                          <a:solidFill>
                            <a:srgbClr val="1A1A2E"/>
                          </a:solidFill>
                          <a:latin typeface="Segoe UI"/>
                        </a:defRPr>
                      </a:pPr>
                      <a:r>
                        <a:rPr>
                          <a:latin typeface="Segoe UI"/>
                          <a:ea typeface="Meiryo UI"/>
                        </a:rPr>
                        <a:t>9</a:t>
                      </a:r>
                    </a:p>
                  </a:txBody>
                  <a:tcPr anchor="ctr"/>
                </a:tc>
                <a:tc>
                  <a:txBody>
                    <a:bodyPr/>
                    <a:lstStyle/>
                    <a:p>
                      <a:pPr algn="l">
                        <a:defRPr sz="1200">
                          <a:solidFill>
                            <a:srgbClr val="1A1A2E"/>
                          </a:solidFill>
                          <a:latin typeface="Segoe UI"/>
                        </a:defRPr>
                      </a:pPr>
                      <a:r>
                        <a:rPr>
                          <a:latin typeface="Segoe UI"/>
                          <a:ea typeface="Meiryo UI"/>
                        </a:rPr>
                        <a:t>部門別KPIレポート一括生成</a:t>
                      </a:r>
                    </a:p>
                  </a:txBody>
                  <a:tcPr anchor="ctr"/>
                </a:tc>
                <a:tc>
                  <a:txBody>
                    <a:bodyPr/>
                    <a:lstStyle/>
                    <a:p>
                      <a:pPr algn="l">
                        <a:defRPr sz="1200">
                          <a:solidFill>
                            <a:srgbClr val="1A1A2E"/>
                          </a:solidFill>
                          <a:latin typeface="Segoe UI"/>
                        </a:defRPr>
                      </a:pPr>
                      <a:r>
                        <a:rPr>
                          <a:latin typeface="Segoe UI"/>
                          <a:ea typeface="Meiryo UI"/>
                        </a:rPr>
                        <a:t>経営企画部</a:t>
                      </a:r>
                    </a:p>
                  </a:txBody>
                  <a:tcPr anchor="ctr"/>
                </a:tc>
                <a:tc>
                  <a:txBody>
                    <a:bodyPr/>
                    <a:lstStyle/>
                    <a:p>
                      <a:pPr algn="l">
                        <a:defRPr sz="1200">
                          <a:solidFill>
                            <a:srgbClr val="1A1A2E"/>
                          </a:solidFill>
                          <a:latin typeface="Segoe UI"/>
                        </a:defRPr>
                      </a:pPr>
                      <a:r>
                        <a:rPr>
                          <a:latin typeface="Segoe UI"/>
                          <a:ea typeface="Meiryo UI"/>
                        </a:rPr>
                        <a:t>Code → Iteration[HTTP] → LLM</a:t>
                      </a:r>
                    </a:p>
                  </a:txBody>
                  <a:tcPr anchor="ctr"/>
                </a:tc>
                <a:tc>
                  <a:txBody>
                    <a:bodyPr/>
                    <a:lstStyle/>
                    <a:p>
                      <a:pPr algn="ctr">
                        <a:defRPr sz="1200">
                          <a:solidFill>
                            <a:srgbClr val="1A1A2E"/>
                          </a:solidFill>
                          <a:latin typeface="Segoe UI"/>
                        </a:defRPr>
                      </a:pPr>
                      <a:r>
                        <a:rPr>
                          <a:latin typeface="Segoe UI"/>
                          <a:ea typeface="Meiryo UI"/>
                        </a:rPr>
                        <a:t>7</a:t>
                      </a:r>
                    </a:p>
                  </a:txBody>
                  <a:tcPr anchor="ctr"/>
                </a:tc>
              </a:tr>
              <a:tr h="457200">
                <a:tc>
                  <a:txBody>
                    <a:bodyPr/>
                    <a:lstStyle/>
                    <a:p>
                      <a:pPr algn="ctr">
                        <a:defRPr sz="1200">
                          <a:solidFill>
                            <a:srgbClr val="1A1A2E"/>
                          </a:solidFill>
                          <a:latin typeface="Segoe UI"/>
                        </a:defRPr>
                      </a:pPr>
                      <a:r>
                        <a:rPr>
                          <a:latin typeface="Segoe UI"/>
                          <a:ea typeface="Meiryo UI"/>
                        </a:rPr>
                        <a:t>10</a:t>
                      </a:r>
                    </a:p>
                  </a:txBody>
                  <a:tcPr anchor="ctr">
                    <a:solidFill>
                      <a:srgbClr val="F3F0FA"/>
                    </a:solidFill>
                  </a:tcPr>
                </a:tc>
                <a:tc>
                  <a:txBody>
                    <a:bodyPr/>
                    <a:lstStyle/>
                    <a:p>
                      <a:pPr algn="l">
                        <a:defRPr sz="1200">
                          <a:solidFill>
                            <a:srgbClr val="1A1A2E"/>
                          </a:solidFill>
                          <a:latin typeface="Segoe UI"/>
                        </a:defRPr>
                      </a:pPr>
                      <a:r>
                        <a:rPr>
                          <a:latin typeface="Segoe UI"/>
                          <a:ea typeface="Meiryo UI"/>
                        </a:rPr>
                        <a:t>営業メール自動生成</a:t>
                      </a:r>
                    </a:p>
                  </a:txBody>
                  <a:tcPr anchor="ctr">
                    <a:solidFill>
                      <a:srgbClr val="F3F0FA"/>
                    </a:solidFill>
                  </a:tcPr>
                </a:tc>
                <a:tc>
                  <a:txBody>
                    <a:bodyPr/>
                    <a:lstStyle/>
                    <a:p>
                      <a:pPr algn="l">
                        <a:defRPr sz="1200">
                          <a:solidFill>
                            <a:srgbClr val="1A1A2E"/>
                          </a:solidFill>
                          <a:latin typeface="Segoe UI"/>
                        </a:defRPr>
                      </a:pPr>
                      <a:r>
                        <a:rPr>
                          <a:latin typeface="Segoe UI"/>
                          <a:ea typeface="Meiryo UI"/>
                        </a:rPr>
                        <a:t>営業部</a:t>
                      </a:r>
                    </a:p>
                  </a:txBody>
                  <a:tcPr anchor="ctr">
                    <a:solidFill>
                      <a:srgbClr val="F3F0FA"/>
                    </a:solidFill>
                  </a:tcPr>
                </a:tc>
                <a:tc>
                  <a:txBody>
                    <a:bodyPr/>
                    <a:lstStyle/>
                    <a:p>
                      <a:pPr algn="l">
                        <a:defRPr sz="1200">
                          <a:solidFill>
                            <a:srgbClr val="1A1A2E"/>
                          </a:solidFill>
                          <a:latin typeface="Segoe UI"/>
                        </a:defRPr>
                      </a:pPr>
                      <a:r>
                        <a:rPr>
                          <a:latin typeface="Segoe UI"/>
                          <a:ea typeface="Meiryo UI"/>
                        </a:rPr>
                        <a:t>Code → QC 4分岐 → LLM×4 → VA</a:t>
                      </a:r>
                    </a:p>
                  </a:txBody>
                  <a:tcPr anchor="ctr">
                    <a:solidFill>
                      <a:srgbClr val="F3F0FA"/>
                    </a:solidFill>
                  </a:tcPr>
                </a:tc>
                <a:tc>
                  <a:txBody>
                    <a:bodyPr/>
                    <a:lstStyle/>
                    <a:p>
                      <a:pPr algn="ctr">
                        <a:defRPr sz="1200">
                          <a:solidFill>
                            <a:srgbClr val="1A1A2E"/>
                          </a:solidFill>
                          <a:latin typeface="Segoe UI"/>
                        </a:defRPr>
                      </a:pPr>
                      <a:r>
                        <a:rPr>
                          <a:latin typeface="Segoe UI"/>
                          <a:ea typeface="Meiryo UI"/>
                        </a:rPr>
                        <a:t>12</a:t>
                      </a:r>
                    </a:p>
                  </a:txBody>
                  <a:tcPr anchor="ctr">
                    <a:solidFill>
                      <a:srgbClr val="F3F0FA"/>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1A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600" b="1">
                <a:solidFill>
                  <a:srgbClr val="FFFFFF"/>
                </a:solidFill>
                <a:latin typeface="Segoe UI"/>
              </a:defRPr>
            </a:pPr>
            <a:r>
              <a:rPr>
                <a:latin typeface="Segoe UI"/>
                <a:ea typeface="Meiryo UI"/>
              </a:rPr>
              <a:t>設計思想  ─  日本企業の共通業務への最適化</a:t>
            </a:r>
          </a:p>
        </p:txBody>
      </p:sp>
      <p:sp>
        <p:nvSpPr>
          <p:cNvPr id="4" name="Rectangle 3"/>
          <p:cNvSpPr/>
          <p:nvPr/>
        </p:nvSpPr>
        <p:spPr>
          <a:xfrm>
            <a:off x="548640" y="1280160"/>
            <a:ext cx="63500" cy="2011680"/>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75640" y="1280160"/>
            <a:ext cx="3291840" cy="2011680"/>
          </a:xfrm>
          <a:prstGeom prst="roundRect">
            <a:avLst/>
          </a:prstGeom>
          <a:solidFill>
            <a:srgbClr val="F3F0FA"/>
          </a:solidFill>
          <a:ln w="635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17320"/>
            <a:ext cx="3017520" cy="365760"/>
          </a:xfrm>
          <a:prstGeom prst="rect">
            <a:avLst/>
          </a:prstGeom>
          <a:noFill/>
        </p:spPr>
        <p:txBody>
          <a:bodyPr wrap="square">
            <a:spAutoFit/>
          </a:bodyPr>
          <a:lstStyle/>
          <a:p>
            <a:pPr algn="l">
              <a:defRPr sz="1600" b="1">
                <a:solidFill>
                  <a:srgbClr val="5C6BC0"/>
                </a:solidFill>
                <a:latin typeface="Segoe UI"/>
              </a:defRPr>
            </a:pPr>
            <a:r>
              <a:rPr>
                <a:latin typeface="Segoe UI"/>
                <a:ea typeface="Meiryo UI"/>
              </a:rPr>
              <a:t>業種非依存</a:t>
            </a:r>
          </a:p>
        </p:txBody>
      </p:sp>
      <p:sp>
        <p:nvSpPr>
          <p:cNvPr id="7" name="TextBox 6"/>
          <p:cNvSpPr txBox="1"/>
          <p:nvPr/>
        </p:nvSpPr>
        <p:spPr>
          <a:xfrm>
            <a:off x="731520" y="1874520"/>
            <a:ext cx="3017520" cy="128016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製造業・金融・サービス業等</a:t>
            </a:r>
            <a:br/>
            <a:r>
              <a:rPr>
                <a:latin typeface="Segoe UI"/>
                <a:ea typeface="Meiryo UI"/>
              </a:rPr>
              <a:t>業種を問わず全社で利用可能な</a:t>
            </a:r>
            <a:br/>
            <a:r>
              <a:rPr>
                <a:latin typeface="Segoe UI"/>
                <a:ea typeface="Meiryo UI"/>
              </a:rPr>
              <a:t>汎用業務をカバー。</a:t>
            </a:r>
          </a:p>
        </p:txBody>
      </p:sp>
      <p:sp>
        <p:nvSpPr>
          <p:cNvPr id="8" name="Rectangle 7"/>
          <p:cNvSpPr/>
          <p:nvPr/>
        </p:nvSpPr>
        <p:spPr>
          <a:xfrm>
            <a:off x="4297679" y="1280160"/>
            <a:ext cx="63500" cy="201168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24679" y="1280160"/>
            <a:ext cx="3291840" cy="2011680"/>
          </a:xfrm>
          <a:prstGeom prst="roundRect">
            <a:avLst/>
          </a:prstGeom>
          <a:solidFill>
            <a:srgbClr val="F3F0FA"/>
          </a:solidFill>
          <a:ln w="635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59" y="1417320"/>
            <a:ext cx="3017520" cy="365760"/>
          </a:xfrm>
          <a:prstGeom prst="rect">
            <a:avLst/>
          </a:prstGeom>
          <a:noFill/>
        </p:spPr>
        <p:txBody>
          <a:bodyPr wrap="square">
            <a:spAutoFit/>
          </a:bodyPr>
          <a:lstStyle/>
          <a:p>
            <a:pPr algn="l">
              <a:defRPr sz="1600" b="1">
                <a:solidFill>
                  <a:srgbClr val="C62828"/>
                </a:solidFill>
                <a:latin typeface="Segoe UI"/>
              </a:defRPr>
            </a:pPr>
            <a:r>
              <a:rPr>
                <a:latin typeface="Segoe UI"/>
                <a:ea typeface="Meiryo UI"/>
              </a:rPr>
              <a:t>日本企業文化対応</a:t>
            </a:r>
          </a:p>
        </p:txBody>
      </p:sp>
      <p:sp>
        <p:nvSpPr>
          <p:cNvPr id="11" name="TextBox 10"/>
          <p:cNvSpPr txBox="1"/>
          <p:nvPr/>
        </p:nvSpPr>
        <p:spPr>
          <a:xfrm>
            <a:off x="4480559" y="1874520"/>
            <a:ext cx="3017520" cy="128016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稟議書・日報・議事録・敬語メール等</a:t>
            </a:r>
            <a:br/>
            <a:r>
              <a:rPr>
                <a:latin typeface="Segoe UI"/>
                <a:ea typeface="Meiryo UI"/>
              </a:rPr>
              <a:t>日本特有のビジネス慣習に</a:t>
            </a:r>
            <a:br/>
            <a:r>
              <a:rPr>
                <a:latin typeface="Segoe UI"/>
                <a:ea typeface="Meiryo UI"/>
              </a:rPr>
              <a:t>最適化したプロンプト設計。</a:t>
            </a:r>
          </a:p>
        </p:txBody>
      </p:sp>
      <p:sp>
        <p:nvSpPr>
          <p:cNvPr id="12" name="Rectangle 11"/>
          <p:cNvSpPr/>
          <p:nvPr/>
        </p:nvSpPr>
        <p:spPr>
          <a:xfrm>
            <a:off x="8046719" y="1280160"/>
            <a:ext cx="63500" cy="2011680"/>
          </a:xfrm>
          <a:prstGeom prst="rect">
            <a:avLst/>
          </a:prstGeom>
          <a:solidFill>
            <a:srgbClr val="008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73719" y="1280160"/>
            <a:ext cx="3291840" cy="2011680"/>
          </a:xfrm>
          <a:prstGeom prst="roundRect">
            <a:avLst/>
          </a:prstGeom>
          <a:solidFill>
            <a:srgbClr val="F3F0FA"/>
          </a:solidFill>
          <a:ln w="635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9" y="1417320"/>
            <a:ext cx="3017520" cy="365760"/>
          </a:xfrm>
          <a:prstGeom prst="rect">
            <a:avLst/>
          </a:prstGeom>
          <a:noFill/>
        </p:spPr>
        <p:txBody>
          <a:bodyPr wrap="square">
            <a:spAutoFit/>
          </a:bodyPr>
          <a:lstStyle/>
          <a:p>
            <a:pPr algn="l">
              <a:defRPr sz="1600" b="1">
                <a:solidFill>
                  <a:srgbClr val="00896B"/>
                </a:solidFill>
                <a:latin typeface="Segoe UI"/>
              </a:defRPr>
            </a:pPr>
            <a:r>
              <a:rPr>
                <a:latin typeface="Segoe UI"/>
                <a:ea typeface="Meiryo UI"/>
              </a:rPr>
              <a:t>ノードパターン網羅</a:t>
            </a:r>
          </a:p>
        </p:txBody>
      </p:sp>
      <p:sp>
        <p:nvSpPr>
          <p:cNvPr id="15" name="TextBox 14"/>
          <p:cNvSpPr txBox="1"/>
          <p:nvPr/>
        </p:nvSpPr>
        <p:spPr>
          <a:xfrm>
            <a:off x="8229599" y="1874520"/>
            <a:ext cx="3017520" cy="128016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Dify の全主要ノードタイプを活用。</a:t>
            </a:r>
            <a:br/>
            <a:r>
              <a:rPr>
                <a:latin typeface="Segoe UI"/>
                <a:ea typeface="Meiryo UI"/>
              </a:rPr>
              <a:t>RAG・IF/ELSE・Iteration・QC・PE 等</a:t>
            </a:r>
            <a:br/>
            <a:r>
              <a:rPr>
                <a:latin typeface="Segoe UI"/>
                <a:ea typeface="Meiryo UI"/>
              </a:rPr>
              <a:t>実装リファレンスとしても活用可能。</a:t>
            </a:r>
          </a:p>
        </p:txBody>
      </p:sp>
      <p:sp>
        <p:nvSpPr>
          <p:cNvPr id="16" name="Rectangle 15"/>
          <p:cNvSpPr/>
          <p:nvPr/>
        </p:nvSpPr>
        <p:spPr>
          <a:xfrm>
            <a:off x="548640" y="3931920"/>
            <a:ext cx="63500" cy="2011680"/>
          </a:xfrm>
          <a:prstGeom prst="rect">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75640" y="3931920"/>
            <a:ext cx="3291840" cy="2011680"/>
          </a:xfrm>
          <a:prstGeom prst="roundRect">
            <a:avLst/>
          </a:prstGeom>
          <a:solidFill>
            <a:srgbClr val="F3F0FA"/>
          </a:solidFill>
          <a:ln w="635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069080"/>
            <a:ext cx="3017520" cy="365760"/>
          </a:xfrm>
          <a:prstGeom prst="rect">
            <a:avLst/>
          </a:prstGeom>
          <a:noFill/>
        </p:spPr>
        <p:txBody>
          <a:bodyPr wrap="square">
            <a:spAutoFit/>
          </a:bodyPr>
          <a:lstStyle/>
          <a:p>
            <a:pPr algn="l">
              <a:defRPr sz="1600" b="1">
                <a:solidFill>
                  <a:srgbClr val="E86C00"/>
                </a:solidFill>
                <a:latin typeface="Segoe UI"/>
              </a:defRPr>
            </a:pPr>
            <a:r>
              <a:rPr>
                <a:latin typeface="Segoe UI"/>
                <a:ea typeface="Meiryo UI"/>
              </a:rPr>
              <a:t>安全設計</a:t>
            </a:r>
          </a:p>
        </p:txBody>
      </p:sp>
      <p:sp>
        <p:nvSpPr>
          <p:cNvPr id="19" name="TextBox 18"/>
          <p:cNvSpPr txBox="1"/>
          <p:nvPr/>
        </p:nvSpPr>
        <p:spPr>
          <a:xfrm>
            <a:off x="731520" y="4526280"/>
            <a:ext cx="3017520" cy="128016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全ワークフローで禁止語検出を有効化。</a:t>
            </a:r>
            <a:br/>
            <a:r>
              <a:rPr>
                <a:latin typeface="Segoe UI"/>
                <a:ea typeface="Meiryo UI"/>
              </a:rPr>
              <a:t>個人情報保護ルールとシステム</a:t>
            </a:r>
            <a:br/>
            <a:r>
              <a:rPr>
                <a:latin typeface="Segoe UI"/>
                <a:ea typeface="Meiryo UI"/>
              </a:rPr>
              <a:t>プロンプト秘匿をガードレールに組込み。</a:t>
            </a:r>
          </a:p>
        </p:txBody>
      </p:sp>
      <p:sp>
        <p:nvSpPr>
          <p:cNvPr id="20" name="Rectangle 19"/>
          <p:cNvSpPr/>
          <p:nvPr/>
        </p:nvSpPr>
        <p:spPr>
          <a:xfrm>
            <a:off x="4297679" y="3931920"/>
            <a:ext cx="63500" cy="201168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424679" y="3931920"/>
            <a:ext cx="3291840" cy="2011680"/>
          </a:xfrm>
          <a:prstGeom prst="roundRect">
            <a:avLst/>
          </a:prstGeom>
          <a:solidFill>
            <a:srgbClr val="F3F0FA"/>
          </a:solidFill>
          <a:ln w="635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0559" y="4069080"/>
            <a:ext cx="3017520" cy="365760"/>
          </a:xfrm>
          <a:prstGeom prst="rect">
            <a:avLst/>
          </a:prstGeom>
          <a:noFill/>
        </p:spPr>
        <p:txBody>
          <a:bodyPr wrap="square">
            <a:spAutoFit/>
          </a:bodyPr>
          <a:lstStyle/>
          <a:p>
            <a:pPr algn="l">
              <a:defRPr sz="1600" b="1">
                <a:solidFill>
                  <a:srgbClr val="6A1B9A"/>
                </a:solidFill>
                <a:latin typeface="Segoe UI"/>
              </a:defRPr>
            </a:pPr>
            <a:r>
              <a:rPr>
                <a:latin typeface="Segoe UI"/>
                <a:ea typeface="Meiryo UI"/>
              </a:rPr>
              <a:t>3層ガード</a:t>
            </a:r>
          </a:p>
        </p:txBody>
      </p:sp>
      <p:sp>
        <p:nvSpPr>
          <p:cNvPr id="23" name="TextBox 22"/>
          <p:cNvSpPr txBox="1"/>
          <p:nvPr/>
        </p:nvSpPr>
        <p:spPr>
          <a:xfrm>
            <a:off x="4480559" y="4526280"/>
            <a:ext cx="3017520" cy="128016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CMN-06 で入力検証→KR連携LLM→</a:t>
            </a:r>
            <a:br/>
            <a:r>
              <a:rPr>
                <a:latin typeface="Segoe UI"/>
                <a:ea typeface="Meiryo UI"/>
              </a:rPr>
              <a:t>出力検証の Guarded Pipeline を実装。</a:t>
            </a:r>
            <a:br/>
            <a:r>
              <a:rPr>
                <a:latin typeface="Segoe UI"/>
                <a:ea typeface="Meiryo UI"/>
              </a:rPr>
              <a:t>不正入力・不適切出力を自動ブロック。</a:t>
            </a:r>
          </a:p>
        </p:txBody>
      </p:sp>
      <p:sp>
        <p:nvSpPr>
          <p:cNvPr id="24" name="Rectangle 23"/>
          <p:cNvSpPr/>
          <p:nvPr/>
        </p:nvSpPr>
        <p:spPr>
          <a:xfrm>
            <a:off x="8046719" y="3931920"/>
            <a:ext cx="63500" cy="2011680"/>
          </a:xfrm>
          <a:prstGeom prst="rect">
            <a:avLst/>
          </a:prstGeom>
          <a:solidFill>
            <a:srgbClr val="006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173719" y="3931920"/>
            <a:ext cx="3291840" cy="2011680"/>
          </a:xfrm>
          <a:prstGeom prst="roundRect">
            <a:avLst/>
          </a:prstGeom>
          <a:solidFill>
            <a:srgbClr val="F3F0FA"/>
          </a:solidFill>
          <a:ln w="635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9" y="4069080"/>
            <a:ext cx="3017520" cy="365760"/>
          </a:xfrm>
          <a:prstGeom prst="rect">
            <a:avLst/>
          </a:prstGeom>
          <a:noFill/>
        </p:spPr>
        <p:txBody>
          <a:bodyPr wrap="square">
            <a:spAutoFit/>
          </a:bodyPr>
          <a:lstStyle/>
          <a:p>
            <a:pPr algn="l">
              <a:defRPr sz="1600" b="1">
                <a:solidFill>
                  <a:srgbClr val="006EBF"/>
                </a:solidFill>
                <a:latin typeface="Segoe UI"/>
              </a:defRPr>
            </a:pPr>
            <a:r>
              <a:rPr>
                <a:latin typeface="Segoe UI"/>
                <a:ea typeface="Meiryo UI"/>
              </a:rPr>
              <a:t>段階的難易度</a:t>
            </a:r>
          </a:p>
        </p:txBody>
      </p:sp>
      <p:sp>
        <p:nvSpPr>
          <p:cNvPr id="27" name="TextBox 26"/>
          <p:cNvSpPr txBox="1"/>
          <p:nvPr/>
        </p:nvSpPr>
        <p:spPr>
          <a:xfrm>
            <a:off x="8229599" y="4526280"/>
            <a:ext cx="3017520" cy="128016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4ノード（RAG基本）から</a:t>
            </a:r>
            <a:br/>
            <a:r>
              <a:rPr>
                <a:latin typeface="Segoe UI"/>
                <a:ea typeface="Meiryo UI"/>
              </a:rPr>
              <a:t>12ノード（複合型）まで段階的に複雑化。</a:t>
            </a:r>
            <a:br/>
            <a:r>
              <a:rPr>
                <a:latin typeface="Segoe UI"/>
                <a:ea typeface="Meiryo UI"/>
              </a:rPr>
              <a:t>学習・導入の両面で活用可能。</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1A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400" b="1">
                <a:solidFill>
                  <a:srgbClr val="FFFFFF"/>
                </a:solidFill>
                <a:latin typeface="Segoe UI"/>
              </a:defRPr>
            </a:pPr>
            <a:r>
              <a:rPr>
                <a:latin typeface="Segoe UI"/>
                <a:ea typeface="Meiryo UI"/>
              </a:rPr>
              <a:t>詳細 ①  全社共通  ─  日報・議事録・規程検索</a:t>
            </a:r>
          </a:p>
        </p:txBody>
      </p:sp>
      <p:sp>
        <p:nvSpPr>
          <p:cNvPr id="4" name="Rounded Rectangle 3"/>
          <p:cNvSpPr/>
          <p:nvPr/>
        </p:nvSpPr>
        <p:spPr>
          <a:xfrm>
            <a:off x="457200" y="1188720"/>
            <a:ext cx="3520440" cy="5120640"/>
          </a:xfrm>
          <a:prstGeom prst="roundRect">
            <a:avLst/>
          </a:prstGeom>
          <a:solidFill>
            <a:srgbClr val="F3F0FA"/>
          </a:solidFill>
          <a:ln w="1270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188720"/>
            <a:ext cx="3520440" cy="63500"/>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25880"/>
            <a:ext cx="3154680" cy="457200"/>
          </a:xfrm>
          <a:prstGeom prst="rect">
            <a:avLst/>
          </a:prstGeom>
          <a:noFill/>
        </p:spPr>
        <p:txBody>
          <a:bodyPr wrap="square">
            <a:spAutoFit/>
          </a:bodyPr>
          <a:lstStyle/>
          <a:p>
            <a:pPr algn="l">
              <a:defRPr sz="1400" b="1">
                <a:solidFill>
                  <a:srgbClr val="1A1A2E"/>
                </a:solidFill>
                <a:latin typeface="Segoe UI"/>
              </a:defRPr>
            </a:pPr>
            <a:r>
              <a:rPr>
                <a:latin typeface="Segoe UI"/>
                <a:ea typeface="Meiryo UI"/>
              </a:rPr>
              <a:t>CMN-01  社内規程Q&amp;A</a:t>
            </a:r>
          </a:p>
        </p:txBody>
      </p:sp>
      <p:sp>
        <p:nvSpPr>
          <p:cNvPr id="7" name="TextBox 6"/>
          <p:cNvSpPr txBox="1"/>
          <p:nvPr/>
        </p:nvSpPr>
        <p:spPr>
          <a:xfrm>
            <a:off x="640080" y="1737360"/>
            <a:ext cx="3154680" cy="27432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総務部 / 全社員</a:t>
            </a:r>
          </a:p>
        </p:txBody>
      </p:sp>
      <p:sp>
        <p:nvSpPr>
          <p:cNvPr id="8" name="Rectangle 7"/>
          <p:cNvSpPr/>
          <p:nvPr/>
        </p:nvSpPr>
        <p:spPr>
          <a:xfrm>
            <a:off x="640080" y="2057400"/>
            <a:ext cx="3154680" cy="12700"/>
          </a:xfrm>
          <a:prstGeom prst="rect">
            <a:avLst/>
          </a:prstGeom>
          <a:solidFill>
            <a:srgbClr val="D0D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194560"/>
            <a:ext cx="3154680" cy="228600"/>
          </a:xfrm>
          <a:prstGeom prst="rect">
            <a:avLst/>
          </a:prstGeom>
          <a:noFill/>
        </p:spPr>
        <p:txBody>
          <a:bodyPr wrap="square">
            <a:spAutoFit/>
          </a:bodyPr>
          <a:lstStyle/>
          <a:p>
            <a:pPr algn="l">
              <a:defRPr sz="1000" b="1">
                <a:solidFill>
                  <a:srgbClr val="5C6BC0"/>
                </a:solidFill>
                <a:latin typeface="Segoe UI"/>
              </a:defRPr>
            </a:pPr>
            <a:r>
              <a:rPr>
                <a:latin typeface="Segoe UI"/>
                <a:ea typeface="Meiryo UI"/>
              </a:rPr>
              <a:t>フロー</a:t>
            </a:r>
          </a:p>
        </p:txBody>
      </p:sp>
      <p:sp>
        <p:nvSpPr>
          <p:cNvPr id="10" name="TextBox 9"/>
          <p:cNvSpPr txBox="1"/>
          <p:nvPr/>
        </p:nvSpPr>
        <p:spPr>
          <a:xfrm>
            <a:off x="640080" y="2423160"/>
            <a:ext cx="3154680" cy="914400"/>
          </a:xfrm>
          <a:prstGeom prst="rect">
            <a:avLst/>
          </a:prstGeom>
          <a:noFill/>
        </p:spPr>
        <p:txBody>
          <a:bodyPr wrap="square">
            <a:spAutoFit/>
          </a:bodyPr>
          <a:lstStyle/>
          <a:p>
            <a:pPr algn="l">
              <a:defRPr sz="1100" b="0">
                <a:solidFill>
                  <a:srgbClr val="1A1A2E"/>
                </a:solidFill>
                <a:latin typeface="Segoe UI"/>
              </a:defRPr>
            </a:pPr>
            <a:r>
              <a:rPr>
                <a:latin typeface="Segoe UI"/>
                <a:ea typeface="Meiryo UI"/>
              </a:rPr>
              <a:t>開始 → 規程ナレッジ検索(KR) → 規程回答生成(LLM) → 終了</a:t>
            </a:r>
          </a:p>
        </p:txBody>
      </p:sp>
      <p:sp>
        <p:nvSpPr>
          <p:cNvPr id="11" name="TextBox 10"/>
          <p:cNvSpPr txBox="1"/>
          <p:nvPr/>
        </p:nvSpPr>
        <p:spPr>
          <a:xfrm>
            <a:off x="640080" y="3474720"/>
            <a:ext cx="3154680" cy="228600"/>
          </a:xfrm>
          <a:prstGeom prst="rect">
            <a:avLst/>
          </a:prstGeom>
          <a:noFill/>
        </p:spPr>
        <p:txBody>
          <a:bodyPr wrap="square">
            <a:spAutoFit/>
          </a:bodyPr>
          <a:lstStyle/>
          <a:p>
            <a:pPr algn="l">
              <a:defRPr sz="1000" b="1">
                <a:solidFill>
                  <a:srgbClr val="5C6BC0"/>
                </a:solidFill>
                <a:latin typeface="Segoe UI"/>
              </a:defRPr>
            </a:pPr>
            <a:r>
              <a:rPr>
                <a:latin typeface="Segoe UI"/>
                <a:ea typeface="Meiryo UI"/>
              </a:rPr>
              <a:t>概要</a:t>
            </a:r>
          </a:p>
        </p:txBody>
      </p:sp>
      <p:sp>
        <p:nvSpPr>
          <p:cNvPr id="12" name="TextBox 11"/>
          <p:cNvSpPr txBox="1"/>
          <p:nvPr/>
        </p:nvSpPr>
        <p:spPr>
          <a:xfrm>
            <a:off x="640080" y="3703320"/>
            <a:ext cx="3154680" cy="1188720"/>
          </a:xfrm>
          <a:prstGeom prst="rect">
            <a:avLst/>
          </a:prstGeom>
          <a:noFill/>
        </p:spPr>
        <p:txBody>
          <a:bodyPr wrap="square">
            <a:spAutoFit/>
          </a:bodyPr>
          <a:lstStyle/>
          <a:p>
            <a:pPr algn="l">
              <a:defRPr sz="1100" b="0">
                <a:solidFill>
                  <a:srgbClr val="1A1A2E"/>
                </a:solidFill>
                <a:latin typeface="Segoe UI"/>
              </a:defRPr>
            </a:pPr>
            <a:r>
              <a:rPr>
                <a:latin typeface="Segoe UI"/>
                <a:ea typeface="Meiryo UI"/>
              </a:rPr>
              <a:t>就業規則・旅費規程・セキュリティポリシー等をRAGで検索。条文番号を明示した正確な回答を生成。</a:t>
            </a:r>
          </a:p>
        </p:txBody>
      </p:sp>
      <p:sp>
        <p:nvSpPr>
          <p:cNvPr id="13" name="Rounded Rectangle 12"/>
          <p:cNvSpPr/>
          <p:nvPr/>
        </p:nvSpPr>
        <p:spPr>
          <a:xfrm>
            <a:off x="640080" y="5120640"/>
            <a:ext cx="3154680" cy="822960"/>
          </a:xfrm>
          <a:prstGeom prst="roundRect">
            <a:avLst/>
          </a:prstGeom>
          <a:solidFill>
            <a:srgbClr val="EDE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166360"/>
            <a:ext cx="2971800" cy="228600"/>
          </a:xfrm>
          <a:prstGeom prst="rect">
            <a:avLst/>
          </a:prstGeom>
          <a:noFill/>
        </p:spPr>
        <p:txBody>
          <a:bodyPr wrap="square">
            <a:spAutoFit/>
          </a:bodyPr>
          <a:lstStyle/>
          <a:p>
            <a:pPr algn="l">
              <a:defRPr sz="1000" b="1">
                <a:solidFill>
                  <a:srgbClr val="4A148C"/>
                </a:solidFill>
                <a:latin typeface="Segoe UI"/>
              </a:defRPr>
            </a:pPr>
            <a:r>
              <a:rPr>
                <a:latin typeface="Segoe UI"/>
                <a:ea typeface="Meiryo UI"/>
              </a:rPr>
              <a:t>導入効果</a:t>
            </a:r>
          </a:p>
        </p:txBody>
      </p:sp>
      <p:sp>
        <p:nvSpPr>
          <p:cNvPr id="15" name="TextBox 14"/>
          <p:cNvSpPr txBox="1"/>
          <p:nvPr/>
        </p:nvSpPr>
        <p:spPr>
          <a:xfrm>
            <a:off x="731520" y="5394960"/>
            <a:ext cx="2971800" cy="457200"/>
          </a:xfrm>
          <a:prstGeom prst="rect">
            <a:avLst/>
          </a:prstGeom>
          <a:noFill/>
        </p:spPr>
        <p:txBody>
          <a:bodyPr wrap="square">
            <a:spAutoFit/>
          </a:bodyPr>
          <a:lstStyle/>
          <a:p>
            <a:pPr algn="l">
              <a:defRPr sz="1100" b="1">
                <a:solidFill>
                  <a:srgbClr val="4A148C"/>
                </a:solidFill>
                <a:latin typeface="Segoe UI"/>
              </a:defRPr>
            </a:pPr>
            <a:r>
              <a:rPr>
                <a:latin typeface="Segoe UI"/>
                <a:ea typeface="Meiryo UI"/>
              </a:rPr>
              <a:t>規程問い合わせの自動化、総務部負荷軽減</a:t>
            </a:r>
          </a:p>
        </p:txBody>
      </p:sp>
      <p:sp>
        <p:nvSpPr>
          <p:cNvPr id="16" name="Rounded Rectangle 15"/>
          <p:cNvSpPr/>
          <p:nvPr/>
        </p:nvSpPr>
        <p:spPr>
          <a:xfrm>
            <a:off x="4175760" y="1188720"/>
            <a:ext cx="3520440" cy="5120640"/>
          </a:xfrm>
          <a:prstGeom prst="roundRect">
            <a:avLst/>
          </a:prstGeom>
          <a:solidFill>
            <a:srgbClr val="F3F0FA"/>
          </a:solidFill>
          <a:ln w="1270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75760" y="1188720"/>
            <a:ext cx="3520440" cy="63500"/>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58640" y="1325880"/>
            <a:ext cx="3154680" cy="457200"/>
          </a:xfrm>
          <a:prstGeom prst="rect">
            <a:avLst/>
          </a:prstGeom>
          <a:noFill/>
        </p:spPr>
        <p:txBody>
          <a:bodyPr wrap="square">
            <a:spAutoFit/>
          </a:bodyPr>
          <a:lstStyle/>
          <a:p>
            <a:pPr algn="l">
              <a:defRPr sz="1400" b="1">
                <a:solidFill>
                  <a:srgbClr val="1A1A2E"/>
                </a:solidFill>
                <a:latin typeface="Segoe UI"/>
              </a:defRPr>
            </a:pPr>
            <a:r>
              <a:rPr>
                <a:latin typeface="Segoe UI"/>
                <a:ea typeface="Meiryo UI"/>
              </a:rPr>
              <a:t>CMN-02  日報自動生成</a:t>
            </a:r>
          </a:p>
        </p:txBody>
      </p:sp>
      <p:sp>
        <p:nvSpPr>
          <p:cNvPr id="19" name="TextBox 18"/>
          <p:cNvSpPr txBox="1"/>
          <p:nvPr/>
        </p:nvSpPr>
        <p:spPr>
          <a:xfrm>
            <a:off x="4358640" y="1737360"/>
            <a:ext cx="3154680" cy="27432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全部門</a:t>
            </a:r>
          </a:p>
        </p:txBody>
      </p:sp>
      <p:sp>
        <p:nvSpPr>
          <p:cNvPr id="20" name="Rectangle 19"/>
          <p:cNvSpPr/>
          <p:nvPr/>
        </p:nvSpPr>
        <p:spPr>
          <a:xfrm>
            <a:off x="4358640" y="2057400"/>
            <a:ext cx="3154680" cy="12700"/>
          </a:xfrm>
          <a:prstGeom prst="rect">
            <a:avLst/>
          </a:prstGeom>
          <a:solidFill>
            <a:srgbClr val="D0D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58640" y="2194560"/>
            <a:ext cx="3154680" cy="228600"/>
          </a:xfrm>
          <a:prstGeom prst="rect">
            <a:avLst/>
          </a:prstGeom>
          <a:noFill/>
        </p:spPr>
        <p:txBody>
          <a:bodyPr wrap="square">
            <a:spAutoFit/>
          </a:bodyPr>
          <a:lstStyle/>
          <a:p>
            <a:pPr algn="l">
              <a:defRPr sz="1000" b="1">
                <a:solidFill>
                  <a:srgbClr val="5C6BC0"/>
                </a:solidFill>
                <a:latin typeface="Segoe UI"/>
              </a:defRPr>
            </a:pPr>
            <a:r>
              <a:rPr>
                <a:latin typeface="Segoe UI"/>
                <a:ea typeface="Meiryo UI"/>
              </a:rPr>
              <a:t>フロー</a:t>
            </a:r>
          </a:p>
        </p:txBody>
      </p:sp>
      <p:sp>
        <p:nvSpPr>
          <p:cNvPr id="22" name="TextBox 21"/>
          <p:cNvSpPr txBox="1"/>
          <p:nvPr/>
        </p:nvSpPr>
        <p:spPr>
          <a:xfrm>
            <a:off x="4358640" y="2423160"/>
            <a:ext cx="3154680" cy="914400"/>
          </a:xfrm>
          <a:prstGeom prst="rect">
            <a:avLst/>
          </a:prstGeom>
          <a:noFill/>
        </p:spPr>
        <p:txBody>
          <a:bodyPr wrap="square">
            <a:spAutoFit/>
          </a:bodyPr>
          <a:lstStyle/>
          <a:p>
            <a:pPr algn="l">
              <a:defRPr sz="1100" b="0">
                <a:solidFill>
                  <a:srgbClr val="1A1A2E"/>
                </a:solidFill>
                <a:latin typeface="Segoe UI"/>
              </a:defRPr>
            </a:pPr>
            <a:r>
              <a:rPr>
                <a:latin typeface="Segoe UI"/>
                <a:ea typeface="Meiryo UI"/>
              </a:rPr>
              <a:t>開始(3入力) → Code整形 → LLM日報生成 → TT(フォーマット) → 終了</a:t>
            </a:r>
          </a:p>
        </p:txBody>
      </p:sp>
      <p:sp>
        <p:nvSpPr>
          <p:cNvPr id="23" name="TextBox 22"/>
          <p:cNvSpPr txBox="1"/>
          <p:nvPr/>
        </p:nvSpPr>
        <p:spPr>
          <a:xfrm>
            <a:off x="4358640" y="3474720"/>
            <a:ext cx="3154680" cy="228600"/>
          </a:xfrm>
          <a:prstGeom prst="rect">
            <a:avLst/>
          </a:prstGeom>
          <a:noFill/>
        </p:spPr>
        <p:txBody>
          <a:bodyPr wrap="square">
            <a:spAutoFit/>
          </a:bodyPr>
          <a:lstStyle/>
          <a:p>
            <a:pPr algn="l">
              <a:defRPr sz="1000" b="1">
                <a:solidFill>
                  <a:srgbClr val="5C6BC0"/>
                </a:solidFill>
                <a:latin typeface="Segoe UI"/>
              </a:defRPr>
            </a:pPr>
            <a:r>
              <a:rPr>
                <a:latin typeface="Segoe UI"/>
                <a:ea typeface="Meiryo UI"/>
              </a:rPr>
              <a:t>概要</a:t>
            </a:r>
          </a:p>
        </p:txBody>
      </p:sp>
      <p:sp>
        <p:nvSpPr>
          <p:cNvPr id="24" name="TextBox 23"/>
          <p:cNvSpPr txBox="1"/>
          <p:nvPr/>
        </p:nvSpPr>
        <p:spPr>
          <a:xfrm>
            <a:off x="4358640" y="3703320"/>
            <a:ext cx="3154680" cy="1188720"/>
          </a:xfrm>
          <a:prstGeom prst="rect">
            <a:avLst/>
          </a:prstGeom>
          <a:noFill/>
        </p:spPr>
        <p:txBody>
          <a:bodyPr wrap="square">
            <a:spAutoFit/>
          </a:bodyPr>
          <a:lstStyle/>
          <a:p>
            <a:pPr algn="l">
              <a:defRPr sz="1100" b="0">
                <a:solidFill>
                  <a:srgbClr val="1A1A2E"/>
                </a:solidFill>
                <a:latin typeface="Segoe UI"/>
              </a:defRPr>
            </a:pPr>
            <a:r>
              <a:rPr>
                <a:latin typeface="Segoe UI"/>
                <a:ea typeface="Meiryo UI"/>
              </a:rPr>
              <a:t>メモ・稼働時間・翌日予定から日本企業標準の日報フォーマットを自動生成。</a:t>
            </a:r>
          </a:p>
        </p:txBody>
      </p:sp>
      <p:sp>
        <p:nvSpPr>
          <p:cNvPr id="25" name="Rounded Rectangle 24"/>
          <p:cNvSpPr/>
          <p:nvPr/>
        </p:nvSpPr>
        <p:spPr>
          <a:xfrm>
            <a:off x="4358640" y="5120640"/>
            <a:ext cx="3154680" cy="822960"/>
          </a:xfrm>
          <a:prstGeom prst="roundRect">
            <a:avLst/>
          </a:prstGeom>
          <a:solidFill>
            <a:srgbClr val="EDE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50080" y="5166360"/>
            <a:ext cx="2971800" cy="228600"/>
          </a:xfrm>
          <a:prstGeom prst="rect">
            <a:avLst/>
          </a:prstGeom>
          <a:noFill/>
        </p:spPr>
        <p:txBody>
          <a:bodyPr wrap="square">
            <a:spAutoFit/>
          </a:bodyPr>
          <a:lstStyle/>
          <a:p>
            <a:pPr algn="l">
              <a:defRPr sz="1000" b="1">
                <a:solidFill>
                  <a:srgbClr val="4A148C"/>
                </a:solidFill>
                <a:latin typeface="Segoe UI"/>
              </a:defRPr>
            </a:pPr>
            <a:r>
              <a:rPr>
                <a:latin typeface="Segoe UI"/>
                <a:ea typeface="Meiryo UI"/>
              </a:rPr>
              <a:t>導入効果</a:t>
            </a:r>
          </a:p>
        </p:txBody>
      </p:sp>
      <p:sp>
        <p:nvSpPr>
          <p:cNvPr id="27" name="TextBox 26"/>
          <p:cNvSpPr txBox="1"/>
          <p:nvPr/>
        </p:nvSpPr>
        <p:spPr>
          <a:xfrm>
            <a:off x="4450080" y="5394960"/>
            <a:ext cx="2971800" cy="457200"/>
          </a:xfrm>
          <a:prstGeom prst="rect">
            <a:avLst/>
          </a:prstGeom>
          <a:noFill/>
        </p:spPr>
        <p:txBody>
          <a:bodyPr wrap="square">
            <a:spAutoFit/>
          </a:bodyPr>
          <a:lstStyle/>
          <a:p>
            <a:pPr algn="l">
              <a:defRPr sz="1100" b="1">
                <a:solidFill>
                  <a:srgbClr val="4A148C"/>
                </a:solidFill>
                <a:latin typeface="Segoe UI"/>
              </a:defRPr>
            </a:pPr>
            <a:r>
              <a:rPr>
                <a:latin typeface="Segoe UI"/>
                <a:ea typeface="Meiryo UI"/>
              </a:rPr>
              <a:t>日報作成を10分→2分に短縮</a:t>
            </a:r>
          </a:p>
        </p:txBody>
      </p:sp>
      <p:sp>
        <p:nvSpPr>
          <p:cNvPr id="28" name="Rounded Rectangle 27"/>
          <p:cNvSpPr/>
          <p:nvPr/>
        </p:nvSpPr>
        <p:spPr>
          <a:xfrm>
            <a:off x="7894320" y="1188720"/>
            <a:ext cx="3520440" cy="5120640"/>
          </a:xfrm>
          <a:prstGeom prst="roundRect">
            <a:avLst/>
          </a:prstGeom>
          <a:solidFill>
            <a:srgbClr val="F3F0FA"/>
          </a:solidFill>
          <a:ln w="1270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94320" y="1188720"/>
            <a:ext cx="3520440" cy="63500"/>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77200" y="1325880"/>
            <a:ext cx="3154680" cy="457200"/>
          </a:xfrm>
          <a:prstGeom prst="rect">
            <a:avLst/>
          </a:prstGeom>
          <a:noFill/>
        </p:spPr>
        <p:txBody>
          <a:bodyPr wrap="square">
            <a:spAutoFit/>
          </a:bodyPr>
          <a:lstStyle/>
          <a:p>
            <a:pPr algn="l">
              <a:defRPr sz="1400" b="1">
                <a:solidFill>
                  <a:srgbClr val="1A1A2E"/>
                </a:solidFill>
                <a:latin typeface="Segoe UI"/>
              </a:defRPr>
            </a:pPr>
            <a:r>
              <a:rPr>
                <a:latin typeface="Segoe UI"/>
                <a:ea typeface="Meiryo UI"/>
              </a:rPr>
              <a:t>CMN-03  議事録要約・ToDo抽出</a:t>
            </a:r>
          </a:p>
        </p:txBody>
      </p:sp>
      <p:sp>
        <p:nvSpPr>
          <p:cNvPr id="31" name="TextBox 30"/>
          <p:cNvSpPr txBox="1"/>
          <p:nvPr/>
        </p:nvSpPr>
        <p:spPr>
          <a:xfrm>
            <a:off x="8077200" y="1737360"/>
            <a:ext cx="3154680" cy="27432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全部門（管理職・PL）</a:t>
            </a:r>
          </a:p>
        </p:txBody>
      </p:sp>
      <p:sp>
        <p:nvSpPr>
          <p:cNvPr id="32" name="Rectangle 31"/>
          <p:cNvSpPr/>
          <p:nvPr/>
        </p:nvSpPr>
        <p:spPr>
          <a:xfrm>
            <a:off x="8077200" y="2057400"/>
            <a:ext cx="3154680" cy="12700"/>
          </a:xfrm>
          <a:prstGeom prst="rect">
            <a:avLst/>
          </a:prstGeom>
          <a:solidFill>
            <a:srgbClr val="D0D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77200" y="2194560"/>
            <a:ext cx="3154680" cy="228600"/>
          </a:xfrm>
          <a:prstGeom prst="rect">
            <a:avLst/>
          </a:prstGeom>
          <a:noFill/>
        </p:spPr>
        <p:txBody>
          <a:bodyPr wrap="square">
            <a:spAutoFit/>
          </a:bodyPr>
          <a:lstStyle/>
          <a:p>
            <a:pPr algn="l">
              <a:defRPr sz="1000" b="1">
                <a:solidFill>
                  <a:srgbClr val="5C6BC0"/>
                </a:solidFill>
                <a:latin typeface="Segoe UI"/>
              </a:defRPr>
            </a:pPr>
            <a:r>
              <a:rPr>
                <a:latin typeface="Segoe UI"/>
                <a:ea typeface="Meiryo UI"/>
              </a:rPr>
              <a:t>フロー</a:t>
            </a:r>
          </a:p>
        </p:txBody>
      </p:sp>
      <p:sp>
        <p:nvSpPr>
          <p:cNvPr id="34" name="TextBox 33"/>
          <p:cNvSpPr txBox="1"/>
          <p:nvPr/>
        </p:nvSpPr>
        <p:spPr>
          <a:xfrm>
            <a:off x="8077200" y="2423160"/>
            <a:ext cx="3154680" cy="914400"/>
          </a:xfrm>
          <a:prstGeom prst="rect">
            <a:avLst/>
          </a:prstGeom>
          <a:noFill/>
        </p:spPr>
        <p:txBody>
          <a:bodyPr wrap="square">
            <a:spAutoFit/>
          </a:bodyPr>
          <a:lstStyle/>
          <a:p>
            <a:pPr algn="l">
              <a:defRPr sz="1100" b="0">
                <a:solidFill>
                  <a:srgbClr val="1A1A2E"/>
                </a:solidFill>
                <a:latin typeface="Segoe UI"/>
              </a:defRPr>
            </a:pPr>
            <a:r>
              <a:rPr>
                <a:latin typeface="Segoe UI"/>
                <a:ea typeface="Meiryo UI"/>
              </a:rPr>
              <a:t>開始 → PE(メタ抽出) → 並列LLM(要約+AI) → VA → TT → 終了</a:t>
            </a:r>
          </a:p>
        </p:txBody>
      </p:sp>
      <p:sp>
        <p:nvSpPr>
          <p:cNvPr id="35" name="TextBox 34"/>
          <p:cNvSpPr txBox="1"/>
          <p:nvPr/>
        </p:nvSpPr>
        <p:spPr>
          <a:xfrm>
            <a:off x="8077200" y="3474720"/>
            <a:ext cx="3154680" cy="228600"/>
          </a:xfrm>
          <a:prstGeom prst="rect">
            <a:avLst/>
          </a:prstGeom>
          <a:noFill/>
        </p:spPr>
        <p:txBody>
          <a:bodyPr wrap="square">
            <a:spAutoFit/>
          </a:bodyPr>
          <a:lstStyle/>
          <a:p>
            <a:pPr algn="l">
              <a:defRPr sz="1000" b="1">
                <a:solidFill>
                  <a:srgbClr val="5C6BC0"/>
                </a:solidFill>
                <a:latin typeface="Segoe UI"/>
              </a:defRPr>
            </a:pPr>
            <a:r>
              <a:rPr>
                <a:latin typeface="Segoe UI"/>
                <a:ea typeface="Meiryo UI"/>
              </a:rPr>
              <a:t>概要</a:t>
            </a:r>
          </a:p>
        </p:txBody>
      </p:sp>
      <p:sp>
        <p:nvSpPr>
          <p:cNvPr id="36" name="TextBox 35"/>
          <p:cNvSpPr txBox="1"/>
          <p:nvPr/>
        </p:nvSpPr>
        <p:spPr>
          <a:xfrm>
            <a:off x="8077200" y="3703320"/>
            <a:ext cx="3154680" cy="1188720"/>
          </a:xfrm>
          <a:prstGeom prst="rect">
            <a:avLst/>
          </a:prstGeom>
          <a:noFill/>
        </p:spPr>
        <p:txBody>
          <a:bodyPr wrap="square">
            <a:spAutoFit/>
          </a:bodyPr>
          <a:lstStyle/>
          <a:p>
            <a:pPr algn="l">
              <a:defRPr sz="1100" b="0">
                <a:solidFill>
                  <a:srgbClr val="1A1A2E"/>
                </a:solidFill>
                <a:latin typeface="Segoe UI"/>
              </a:defRPr>
            </a:pPr>
            <a:r>
              <a:rPr>
                <a:latin typeface="Segoe UI"/>
                <a:ea typeface="Meiryo UI"/>
              </a:rPr>
              <a:t>会議テキストからメタ情報抽出、並列で議事要約とアクションアイテムを同時生成。</a:t>
            </a:r>
          </a:p>
        </p:txBody>
      </p:sp>
      <p:sp>
        <p:nvSpPr>
          <p:cNvPr id="37" name="Rounded Rectangle 36"/>
          <p:cNvSpPr/>
          <p:nvPr/>
        </p:nvSpPr>
        <p:spPr>
          <a:xfrm>
            <a:off x="8077200" y="5120640"/>
            <a:ext cx="3154680" cy="822960"/>
          </a:xfrm>
          <a:prstGeom prst="roundRect">
            <a:avLst/>
          </a:prstGeom>
          <a:solidFill>
            <a:srgbClr val="EDE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68640" y="5166360"/>
            <a:ext cx="2971800" cy="228600"/>
          </a:xfrm>
          <a:prstGeom prst="rect">
            <a:avLst/>
          </a:prstGeom>
          <a:noFill/>
        </p:spPr>
        <p:txBody>
          <a:bodyPr wrap="square">
            <a:spAutoFit/>
          </a:bodyPr>
          <a:lstStyle/>
          <a:p>
            <a:pPr algn="l">
              <a:defRPr sz="1000" b="1">
                <a:solidFill>
                  <a:srgbClr val="4A148C"/>
                </a:solidFill>
                <a:latin typeface="Segoe UI"/>
              </a:defRPr>
            </a:pPr>
            <a:r>
              <a:rPr>
                <a:latin typeface="Segoe UI"/>
                <a:ea typeface="Meiryo UI"/>
              </a:rPr>
              <a:t>導入効果</a:t>
            </a:r>
          </a:p>
        </p:txBody>
      </p:sp>
      <p:sp>
        <p:nvSpPr>
          <p:cNvPr id="39" name="TextBox 38"/>
          <p:cNvSpPr txBox="1"/>
          <p:nvPr/>
        </p:nvSpPr>
        <p:spPr>
          <a:xfrm>
            <a:off x="8168640" y="5394960"/>
            <a:ext cx="2971800" cy="457200"/>
          </a:xfrm>
          <a:prstGeom prst="rect">
            <a:avLst/>
          </a:prstGeom>
          <a:noFill/>
        </p:spPr>
        <p:txBody>
          <a:bodyPr wrap="square">
            <a:spAutoFit/>
          </a:bodyPr>
          <a:lstStyle/>
          <a:p>
            <a:pPr algn="l">
              <a:defRPr sz="1100" b="1">
                <a:solidFill>
                  <a:srgbClr val="4A148C"/>
                </a:solidFill>
                <a:latin typeface="Segoe UI"/>
              </a:defRPr>
            </a:pPr>
            <a:r>
              <a:rPr>
                <a:latin typeface="Segoe UI"/>
                <a:ea typeface="Meiryo UI"/>
              </a:rPr>
              <a:t>議事録作成の自動化、ToDo漏れ防止</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1A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400" b="1">
                <a:solidFill>
                  <a:srgbClr val="FFFFFF"/>
                </a:solidFill>
                <a:latin typeface="Segoe UI"/>
              </a:defRPr>
            </a:pPr>
            <a:r>
              <a:rPr>
                <a:latin typeface="Segoe UI"/>
                <a:ea typeface="Meiryo UI"/>
              </a:rPr>
              <a:t>詳細 ②  経理・法務・人事  ─  チェック・レビュー・スクリーニング</a:t>
            </a:r>
          </a:p>
        </p:txBody>
      </p:sp>
      <p:sp>
        <p:nvSpPr>
          <p:cNvPr id="4" name="Rounded Rectangle 3"/>
          <p:cNvSpPr/>
          <p:nvPr/>
        </p:nvSpPr>
        <p:spPr>
          <a:xfrm>
            <a:off x="457200" y="1188720"/>
            <a:ext cx="3520440" cy="5120640"/>
          </a:xfrm>
          <a:prstGeom prst="roundRect">
            <a:avLst/>
          </a:prstGeom>
          <a:solidFill>
            <a:srgbClr val="F3F0FA"/>
          </a:solidFill>
          <a:ln w="1270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188720"/>
            <a:ext cx="3520440" cy="63500"/>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25880"/>
            <a:ext cx="3154680" cy="457200"/>
          </a:xfrm>
          <a:prstGeom prst="rect">
            <a:avLst/>
          </a:prstGeom>
          <a:noFill/>
        </p:spPr>
        <p:txBody>
          <a:bodyPr wrap="square">
            <a:spAutoFit/>
          </a:bodyPr>
          <a:lstStyle/>
          <a:p>
            <a:pPr algn="l">
              <a:defRPr sz="1400" b="1">
                <a:solidFill>
                  <a:srgbClr val="1A1A2E"/>
                </a:solidFill>
                <a:latin typeface="Segoe UI"/>
              </a:defRPr>
            </a:pPr>
            <a:r>
              <a:rPr>
                <a:latin typeface="Segoe UI"/>
                <a:ea typeface="Meiryo UI"/>
              </a:rPr>
              <a:t>CMN-04  経費申請チェック</a:t>
            </a:r>
          </a:p>
        </p:txBody>
      </p:sp>
      <p:sp>
        <p:nvSpPr>
          <p:cNvPr id="7" name="TextBox 6"/>
          <p:cNvSpPr txBox="1"/>
          <p:nvPr/>
        </p:nvSpPr>
        <p:spPr>
          <a:xfrm>
            <a:off x="640080" y="1737360"/>
            <a:ext cx="3154680" cy="27432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経理部 / 全社員</a:t>
            </a:r>
          </a:p>
        </p:txBody>
      </p:sp>
      <p:sp>
        <p:nvSpPr>
          <p:cNvPr id="8" name="Rectangle 7"/>
          <p:cNvSpPr/>
          <p:nvPr/>
        </p:nvSpPr>
        <p:spPr>
          <a:xfrm>
            <a:off x="640080" y="2057400"/>
            <a:ext cx="3154680" cy="12700"/>
          </a:xfrm>
          <a:prstGeom prst="rect">
            <a:avLst/>
          </a:prstGeom>
          <a:solidFill>
            <a:srgbClr val="D0D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194560"/>
            <a:ext cx="3154680" cy="228600"/>
          </a:xfrm>
          <a:prstGeom prst="rect">
            <a:avLst/>
          </a:prstGeom>
          <a:noFill/>
        </p:spPr>
        <p:txBody>
          <a:bodyPr wrap="square">
            <a:spAutoFit/>
          </a:bodyPr>
          <a:lstStyle/>
          <a:p>
            <a:pPr algn="l">
              <a:defRPr sz="1000" b="1">
                <a:solidFill>
                  <a:srgbClr val="5C6BC0"/>
                </a:solidFill>
                <a:latin typeface="Segoe UI"/>
              </a:defRPr>
            </a:pPr>
            <a:r>
              <a:rPr>
                <a:latin typeface="Segoe UI"/>
                <a:ea typeface="Meiryo UI"/>
              </a:rPr>
              <a:t>フロー</a:t>
            </a:r>
          </a:p>
        </p:txBody>
      </p:sp>
      <p:sp>
        <p:nvSpPr>
          <p:cNvPr id="10" name="TextBox 9"/>
          <p:cNvSpPr txBox="1"/>
          <p:nvPr/>
        </p:nvSpPr>
        <p:spPr>
          <a:xfrm>
            <a:off x="640080" y="2423160"/>
            <a:ext cx="3154680" cy="914400"/>
          </a:xfrm>
          <a:prstGeom prst="rect">
            <a:avLst/>
          </a:prstGeom>
          <a:noFill/>
        </p:spPr>
        <p:txBody>
          <a:bodyPr wrap="square">
            <a:spAutoFit/>
          </a:bodyPr>
          <a:lstStyle/>
          <a:p>
            <a:pPr algn="l">
              <a:defRPr sz="1100" b="0">
                <a:solidFill>
                  <a:srgbClr val="1A1A2E"/>
                </a:solidFill>
                <a:latin typeface="Segoe UI"/>
              </a:defRPr>
            </a:pPr>
            <a:r>
              <a:rPr>
                <a:latin typeface="Segoe UI"/>
                <a:ea typeface="Meiryo UI"/>
              </a:rPr>
              <a:t>開始 → PE(抽出) → Code(規程) → IF/ELSE → LLM/TT → VA → 終了</a:t>
            </a:r>
          </a:p>
        </p:txBody>
      </p:sp>
      <p:sp>
        <p:nvSpPr>
          <p:cNvPr id="11" name="TextBox 10"/>
          <p:cNvSpPr txBox="1"/>
          <p:nvPr/>
        </p:nvSpPr>
        <p:spPr>
          <a:xfrm>
            <a:off x="640080" y="3474720"/>
            <a:ext cx="3154680" cy="228600"/>
          </a:xfrm>
          <a:prstGeom prst="rect">
            <a:avLst/>
          </a:prstGeom>
          <a:noFill/>
        </p:spPr>
        <p:txBody>
          <a:bodyPr wrap="square">
            <a:spAutoFit/>
          </a:bodyPr>
          <a:lstStyle/>
          <a:p>
            <a:pPr algn="l">
              <a:defRPr sz="1000" b="1">
                <a:solidFill>
                  <a:srgbClr val="5C6BC0"/>
                </a:solidFill>
                <a:latin typeface="Segoe UI"/>
              </a:defRPr>
            </a:pPr>
            <a:r>
              <a:rPr>
                <a:latin typeface="Segoe UI"/>
                <a:ea typeface="Meiryo UI"/>
              </a:rPr>
              <a:t>概要</a:t>
            </a:r>
          </a:p>
        </p:txBody>
      </p:sp>
      <p:sp>
        <p:nvSpPr>
          <p:cNvPr id="12" name="TextBox 11"/>
          <p:cNvSpPr txBox="1"/>
          <p:nvPr/>
        </p:nvSpPr>
        <p:spPr>
          <a:xfrm>
            <a:off x="640080" y="3703320"/>
            <a:ext cx="3154680" cy="1188720"/>
          </a:xfrm>
          <a:prstGeom prst="rect">
            <a:avLst/>
          </a:prstGeom>
          <a:noFill/>
        </p:spPr>
        <p:txBody>
          <a:bodyPr wrap="square">
            <a:spAutoFit/>
          </a:bodyPr>
          <a:lstStyle/>
          <a:p>
            <a:pPr algn="l">
              <a:defRPr sz="1100" b="0">
                <a:solidFill>
                  <a:srgbClr val="1A1A2E"/>
                </a:solidFill>
                <a:latin typeface="Segoe UI"/>
              </a:defRPr>
            </a:pPr>
            <a:r>
              <a:rPr>
                <a:latin typeface="Segoe UI"/>
                <a:ea typeface="Meiryo UI"/>
              </a:rPr>
              <a:t>経費申請を構造化し、職級別上限・カテゴリルールで自動チェック。適合/不適合で分岐。</a:t>
            </a:r>
          </a:p>
        </p:txBody>
      </p:sp>
      <p:sp>
        <p:nvSpPr>
          <p:cNvPr id="13" name="Rounded Rectangle 12"/>
          <p:cNvSpPr/>
          <p:nvPr/>
        </p:nvSpPr>
        <p:spPr>
          <a:xfrm>
            <a:off x="640080" y="5120640"/>
            <a:ext cx="3154680" cy="822960"/>
          </a:xfrm>
          <a:prstGeom prst="roundRect">
            <a:avLst/>
          </a:prstGeom>
          <a:solidFill>
            <a:srgbClr val="EDE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166360"/>
            <a:ext cx="2971800" cy="228600"/>
          </a:xfrm>
          <a:prstGeom prst="rect">
            <a:avLst/>
          </a:prstGeom>
          <a:noFill/>
        </p:spPr>
        <p:txBody>
          <a:bodyPr wrap="square">
            <a:spAutoFit/>
          </a:bodyPr>
          <a:lstStyle/>
          <a:p>
            <a:pPr algn="l">
              <a:defRPr sz="1000" b="1">
                <a:solidFill>
                  <a:srgbClr val="4A148C"/>
                </a:solidFill>
                <a:latin typeface="Segoe UI"/>
              </a:defRPr>
            </a:pPr>
            <a:r>
              <a:rPr>
                <a:latin typeface="Segoe UI"/>
                <a:ea typeface="Meiryo UI"/>
              </a:rPr>
              <a:t>導入効果</a:t>
            </a:r>
          </a:p>
        </p:txBody>
      </p:sp>
      <p:sp>
        <p:nvSpPr>
          <p:cNvPr id="15" name="TextBox 14"/>
          <p:cNvSpPr txBox="1"/>
          <p:nvPr/>
        </p:nvSpPr>
        <p:spPr>
          <a:xfrm>
            <a:off x="731520" y="5394960"/>
            <a:ext cx="2971800" cy="457200"/>
          </a:xfrm>
          <a:prstGeom prst="rect">
            <a:avLst/>
          </a:prstGeom>
          <a:noFill/>
        </p:spPr>
        <p:txBody>
          <a:bodyPr wrap="square">
            <a:spAutoFit/>
          </a:bodyPr>
          <a:lstStyle/>
          <a:p>
            <a:pPr algn="l">
              <a:defRPr sz="1100" b="1">
                <a:solidFill>
                  <a:srgbClr val="4A148C"/>
                </a:solidFill>
                <a:latin typeface="Segoe UI"/>
              </a:defRPr>
            </a:pPr>
            <a:r>
              <a:rPr>
                <a:latin typeface="Segoe UI"/>
                <a:ea typeface="Meiryo UI"/>
              </a:rPr>
              <a:t>経費精算の事前チェック自動化</a:t>
            </a:r>
          </a:p>
        </p:txBody>
      </p:sp>
      <p:sp>
        <p:nvSpPr>
          <p:cNvPr id="16" name="Rounded Rectangle 15"/>
          <p:cNvSpPr/>
          <p:nvPr/>
        </p:nvSpPr>
        <p:spPr>
          <a:xfrm>
            <a:off x="4175760" y="1188720"/>
            <a:ext cx="3520440" cy="5120640"/>
          </a:xfrm>
          <a:prstGeom prst="roundRect">
            <a:avLst/>
          </a:prstGeom>
          <a:solidFill>
            <a:srgbClr val="F3F0FA"/>
          </a:solidFill>
          <a:ln w="1270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75760" y="1188720"/>
            <a:ext cx="3520440" cy="63500"/>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58640" y="1325880"/>
            <a:ext cx="3154680" cy="457200"/>
          </a:xfrm>
          <a:prstGeom prst="rect">
            <a:avLst/>
          </a:prstGeom>
          <a:noFill/>
        </p:spPr>
        <p:txBody>
          <a:bodyPr wrap="square">
            <a:spAutoFit/>
          </a:bodyPr>
          <a:lstStyle/>
          <a:p>
            <a:pPr algn="l">
              <a:defRPr sz="1400" b="1">
                <a:solidFill>
                  <a:srgbClr val="1A1A2E"/>
                </a:solidFill>
                <a:latin typeface="Segoe UI"/>
              </a:defRPr>
            </a:pPr>
            <a:r>
              <a:rPr>
                <a:latin typeface="Segoe UI"/>
                <a:ea typeface="Meiryo UI"/>
              </a:rPr>
              <a:t>CMN-06  契約書リスクレビュー</a:t>
            </a:r>
          </a:p>
        </p:txBody>
      </p:sp>
      <p:sp>
        <p:nvSpPr>
          <p:cNvPr id="19" name="TextBox 18"/>
          <p:cNvSpPr txBox="1"/>
          <p:nvPr/>
        </p:nvSpPr>
        <p:spPr>
          <a:xfrm>
            <a:off x="4358640" y="1737360"/>
            <a:ext cx="3154680" cy="27432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法務部 / 営業部</a:t>
            </a:r>
          </a:p>
        </p:txBody>
      </p:sp>
      <p:sp>
        <p:nvSpPr>
          <p:cNvPr id="20" name="Rectangle 19"/>
          <p:cNvSpPr/>
          <p:nvPr/>
        </p:nvSpPr>
        <p:spPr>
          <a:xfrm>
            <a:off x="4358640" y="2057400"/>
            <a:ext cx="3154680" cy="12700"/>
          </a:xfrm>
          <a:prstGeom prst="rect">
            <a:avLst/>
          </a:prstGeom>
          <a:solidFill>
            <a:srgbClr val="D0D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58640" y="2194560"/>
            <a:ext cx="3154680" cy="228600"/>
          </a:xfrm>
          <a:prstGeom prst="rect">
            <a:avLst/>
          </a:prstGeom>
          <a:noFill/>
        </p:spPr>
        <p:txBody>
          <a:bodyPr wrap="square">
            <a:spAutoFit/>
          </a:bodyPr>
          <a:lstStyle/>
          <a:p>
            <a:pPr algn="l">
              <a:defRPr sz="1000" b="1">
                <a:solidFill>
                  <a:srgbClr val="5C6BC0"/>
                </a:solidFill>
                <a:latin typeface="Segoe UI"/>
              </a:defRPr>
            </a:pPr>
            <a:r>
              <a:rPr>
                <a:latin typeface="Segoe UI"/>
                <a:ea typeface="Meiryo UI"/>
              </a:rPr>
              <a:t>フロー</a:t>
            </a:r>
          </a:p>
        </p:txBody>
      </p:sp>
      <p:sp>
        <p:nvSpPr>
          <p:cNvPr id="22" name="TextBox 21"/>
          <p:cNvSpPr txBox="1"/>
          <p:nvPr/>
        </p:nvSpPr>
        <p:spPr>
          <a:xfrm>
            <a:off x="4358640" y="2423160"/>
            <a:ext cx="3154680" cy="914400"/>
          </a:xfrm>
          <a:prstGeom prst="rect">
            <a:avLst/>
          </a:prstGeom>
          <a:noFill/>
        </p:spPr>
        <p:txBody>
          <a:bodyPr wrap="square">
            <a:spAutoFit/>
          </a:bodyPr>
          <a:lstStyle/>
          <a:p>
            <a:pPr algn="l">
              <a:defRPr sz="1100" b="0">
                <a:solidFill>
                  <a:srgbClr val="1A1A2E"/>
                </a:solidFill>
                <a:latin typeface="Segoe UI"/>
              </a:defRPr>
            </a:pPr>
            <a:r>
              <a:rPr>
                <a:latin typeface="Segoe UI"/>
                <a:ea typeface="Meiryo UI"/>
              </a:rPr>
              <a:t>開始 → Code(入力検証) → IE → KR → LLM → Code(出力検証) → IE → 終了</a:t>
            </a:r>
          </a:p>
        </p:txBody>
      </p:sp>
      <p:sp>
        <p:nvSpPr>
          <p:cNvPr id="23" name="TextBox 22"/>
          <p:cNvSpPr txBox="1"/>
          <p:nvPr/>
        </p:nvSpPr>
        <p:spPr>
          <a:xfrm>
            <a:off x="4358640" y="3474720"/>
            <a:ext cx="3154680" cy="228600"/>
          </a:xfrm>
          <a:prstGeom prst="rect">
            <a:avLst/>
          </a:prstGeom>
          <a:noFill/>
        </p:spPr>
        <p:txBody>
          <a:bodyPr wrap="square">
            <a:spAutoFit/>
          </a:bodyPr>
          <a:lstStyle/>
          <a:p>
            <a:pPr algn="l">
              <a:defRPr sz="1000" b="1">
                <a:solidFill>
                  <a:srgbClr val="5C6BC0"/>
                </a:solidFill>
                <a:latin typeface="Segoe UI"/>
              </a:defRPr>
            </a:pPr>
            <a:r>
              <a:rPr>
                <a:latin typeface="Segoe UI"/>
                <a:ea typeface="Meiryo UI"/>
              </a:rPr>
              <a:t>概要</a:t>
            </a:r>
          </a:p>
        </p:txBody>
      </p:sp>
      <p:sp>
        <p:nvSpPr>
          <p:cNvPr id="24" name="TextBox 23"/>
          <p:cNvSpPr txBox="1"/>
          <p:nvPr/>
        </p:nvSpPr>
        <p:spPr>
          <a:xfrm>
            <a:off x="4358640" y="3703320"/>
            <a:ext cx="3154680" cy="1188720"/>
          </a:xfrm>
          <a:prstGeom prst="rect">
            <a:avLst/>
          </a:prstGeom>
          <a:noFill/>
        </p:spPr>
        <p:txBody>
          <a:bodyPr wrap="square">
            <a:spAutoFit/>
          </a:bodyPr>
          <a:lstStyle/>
          <a:p>
            <a:pPr algn="l">
              <a:defRPr sz="1100" b="0">
                <a:solidFill>
                  <a:srgbClr val="1A1A2E"/>
                </a:solidFill>
                <a:latin typeface="Segoe UI"/>
              </a:defRPr>
            </a:pPr>
            <a:r>
              <a:rPr>
                <a:latin typeface="Segoe UI"/>
                <a:ea typeface="Meiryo UI"/>
              </a:rPr>
              <a:t>3層ガード構成。入力検証→KRガイドライン→LLMリスク分析→出力検証で安全なレビュー。</a:t>
            </a:r>
          </a:p>
        </p:txBody>
      </p:sp>
      <p:sp>
        <p:nvSpPr>
          <p:cNvPr id="25" name="Rounded Rectangle 24"/>
          <p:cNvSpPr/>
          <p:nvPr/>
        </p:nvSpPr>
        <p:spPr>
          <a:xfrm>
            <a:off x="4358640" y="5120640"/>
            <a:ext cx="3154680" cy="822960"/>
          </a:xfrm>
          <a:prstGeom prst="roundRect">
            <a:avLst/>
          </a:prstGeom>
          <a:solidFill>
            <a:srgbClr val="EDE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50080" y="5166360"/>
            <a:ext cx="2971800" cy="228600"/>
          </a:xfrm>
          <a:prstGeom prst="rect">
            <a:avLst/>
          </a:prstGeom>
          <a:noFill/>
        </p:spPr>
        <p:txBody>
          <a:bodyPr wrap="square">
            <a:spAutoFit/>
          </a:bodyPr>
          <a:lstStyle/>
          <a:p>
            <a:pPr algn="l">
              <a:defRPr sz="1000" b="1">
                <a:solidFill>
                  <a:srgbClr val="4A148C"/>
                </a:solidFill>
                <a:latin typeface="Segoe UI"/>
              </a:defRPr>
            </a:pPr>
            <a:r>
              <a:rPr>
                <a:latin typeface="Segoe UI"/>
                <a:ea typeface="Meiryo UI"/>
              </a:rPr>
              <a:t>導入効果</a:t>
            </a:r>
          </a:p>
        </p:txBody>
      </p:sp>
      <p:sp>
        <p:nvSpPr>
          <p:cNvPr id="27" name="TextBox 26"/>
          <p:cNvSpPr txBox="1"/>
          <p:nvPr/>
        </p:nvSpPr>
        <p:spPr>
          <a:xfrm>
            <a:off x="4450080" y="5394960"/>
            <a:ext cx="2971800" cy="457200"/>
          </a:xfrm>
          <a:prstGeom prst="rect">
            <a:avLst/>
          </a:prstGeom>
          <a:noFill/>
        </p:spPr>
        <p:txBody>
          <a:bodyPr wrap="square">
            <a:spAutoFit/>
          </a:bodyPr>
          <a:lstStyle/>
          <a:p>
            <a:pPr algn="l">
              <a:defRPr sz="1100" b="1">
                <a:solidFill>
                  <a:srgbClr val="4A148C"/>
                </a:solidFill>
                <a:latin typeface="Segoe UI"/>
              </a:defRPr>
            </a:pPr>
            <a:r>
              <a:rPr>
                <a:latin typeface="Segoe UI"/>
                <a:ea typeface="Meiryo UI"/>
              </a:rPr>
              <a:t>契約リスクの見落とし防止、レビュー時間短縮</a:t>
            </a:r>
          </a:p>
        </p:txBody>
      </p:sp>
      <p:sp>
        <p:nvSpPr>
          <p:cNvPr id="28" name="Rounded Rectangle 27"/>
          <p:cNvSpPr/>
          <p:nvPr/>
        </p:nvSpPr>
        <p:spPr>
          <a:xfrm>
            <a:off x="7894320" y="1188720"/>
            <a:ext cx="3520440" cy="5120640"/>
          </a:xfrm>
          <a:prstGeom prst="roundRect">
            <a:avLst/>
          </a:prstGeom>
          <a:solidFill>
            <a:srgbClr val="F3F0FA"/>
          </a:solidFill>
          <a:ln w="1270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94320" y="1188720"/>
            <a:ext cx="3520440" cy="63500"/>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77200" y="1325880"/>
            <a:ext cx="3154680" cy="457200"/>
          </a:xfrm>
          <a:prstGeom prst="rect">
            <a:avLst/>
          </a:prstGeom>
          <a:noFill/>
        </p:spPr>
        <p:txBody>
          <a:bodyPr wrap="square">
            <a:spAutoFit/>
          </a:bodyPr>
          <a:lstStyle/>
          <a:p>
            <a:pPr algn="l">
              <a:defRPr sz="1400" b="1">
                <a:solidFill>
                  <a:srgbClr val="1A1A2E"/>
                </a:solidFill>
                <a:latin typeface="Segoe UI"/>
              </a:defRPr>
            </a:pPr>
            <a:r>
              <a:rPr>
                <a:latin typeface="Segoe UI"/>
                <a:ea typeface="Meiryo UI"/>
              </a:rPr>
              <a:t>CMN-08  採用候補者スクリーニング</a:t>
            </a:r>
          </a:p>
        </p:txBody>
      </p:sp>
      <p:sp>
        <p:nvSpPr>
          <p:cNvPr id="31" name="TextBox 30"/>
          <p:cNvSpPr txBox="1"/>
          <p:nvPr/>
        </p:nvSpPr>
        <p:spPr>
          <a:xfrm>
            <a:off x="8077200" y="1737360"/>
            <a:ext cx="3154680" cy="27432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人事部</a:t>
            </a:r>
          </a:p>
        </p:txBody>
      </p:sp>
      <p:sp>
        <p:nvSpPr>
          <p:cNvPr id="32" name="Rectangle 31"/>
          <p:cNvSpPr/>
          <p:nvPr/>
        </p:nvSpPr>
        <p:spPr>
          <a:xfrm>
            <a:off x="8077200" y="2057400"/>
            <a:ext cx="3154680" cy="12700"/>
          </a:xfrm>
          <a:prstGeom prst="rect">
            <a:avLst/>
          </a:prstGeom>
          <a:solidFill>
            <a:srgbClr val="D0D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77200" y="2194560"/>
            <a:ext cx="3154680" cy="228600"/>
          </a:xfrm>
          <a:prstGeom prst="rect">
            <a:avLst/>
          </a:prstGeom>
          <a:noFill/>
        </p:spPr>
        <p:txBody>
          <a:bodyPr wrap="square">
            <a:spAutoFit/>
          </a:bodyPr>
          <a:lstStyle/>
          <a:p>
            <a:pPr algn="l">
              <a:defRPr sz="1000" b="1">
                <a:solidFill>
                  <a:srgbClr val="5C6BC0"/>
                </a:solidFill>
                <a:latin typeface="Segoe UI"/>
              </a:defRPr>
            </a:pPr>
            <a:r>
              <a:rPr>
                <a:latin typeface="Segoe UI"/>
                <a:ea typeface="Meiryo UI"/>
              </a:rPr>
              <a:t>フロー</a:t>
            </a:r>
          </a:p>
        </p:txBody>
      </p:sp>
      <p:sp>
        <p:nvSpPr>
          <p:cNvPr id="34" name="TextBox 33"/>
          <p:cNvSpPr txBox="1"/>
          <p:nvPr/>
        </p:nvSpPr>
        <p:spPr>
          <a:xfrm>
            <a:off x="8077200" y="2423160"/>
            <a:ext cx="3154680" cy="914400"/>
          </a:xfrm>
          <a:prstGeom prst="rect">
            <a:avLst/>
          </a:prstGeom>
          <a:noFill/>
        </p:spPr>
        <p:txBody>
          <a:bodyPr wrap="square">
            <a:spAutoFit/>
          </a:bodyPr>
          <a:lstStyle/>
          <a:p>
            <a:pPr algn="l">
              <a:defRPr sz="1100" b="0">
                <a:solidFill>
                  <a:srgbClr val="1A1A2E"/>
                </a:solidFill>
                <a:latin typeface="Segoe UI"/>
              </a:defRPr>
            </a:pPr>
            <a:r>
              <a:rPr>
                <a:latin typeface="Segoe UI"/>
                <a:ea typeface="Meiryo UI"/>
              </a:rPr>
              <a:t>開始 → PE(候補者抽出) → Code(スコア) → IF/ELSE → LLM/TT → VA → 終了</a:t>
            </a:r>
          </a:p>
        </p:txBody>
      </p:sp>
      <p:sp>
        <p:nvSpPr>
          <p:cNvPr id="35" name="TextBox 34"/>
          <p:cNvSpPr txBox="1"/>
          <p:nvPr/>
        </p:nvSpPr>
        <p:spPr>
          <a:xfrm>
            <a:off x="8077200" y="3474720"/>
            <a:ext cx="3154680" cy="228600"/>
          </a:xfrm>
          <a:prstGeom prst="rect">
            <a:avLst/>
          </a:prstGeom>
          <a:noFill/>
        </p:spPr>
        <p:txBody>
          <a:bodyPr wrap="square">
            <a:spAutoFit/>
          </a:bodyPr>
          <a:lstStyle/>
          <a:p>
            <a:pPr algn="l">
              <a:defRPr sz="1000" b="1">
                <a:solidFill>
                  <a:srgbClr val="5C6BC0"/>
                </a:solidFill>
                <a:latin typeface="Segoe UI"/>
              </a:defRPr>
            </a:pPr>
            <a:r>
              <a:rPr>
                <a:latin typeface="Segoe UI"/>
                <a:ea typeface="Meiryo UI"/>
              </a:rPr>
              <a:t>概要</a:t>
            </a:r>
          </a:p>
        </p:txBody>
      </p:sp>
      <p:sp>
        <p:nvSpPr>
          <p:cNvPr id="36" name="TextBox 35"/>
          <p:cNvSpPr txBox="1"/>
          <p:nvPr/>
        </p:nvSpPr>
        <p:spPr>
          <a:xfrm>
            <a:off x="8077200" y="3703320"/>
            <a:ext cx="3154680" cy="1188720"/>
          </a:xfrm>
          <a:prstGeom prst="rect">
            <a:avLst/>
          </a:prstGeom>
          <a:noFill/>
        </p:spPr>
        <p:txBody>
          <a:bodyPr wrap="square">
            <a:spAutoFit/>
          </a:bodyPr>
          <a:lstStyle/>
          <a:p>
            <a:pPr algn="l">
              <a:defRPr sz="1100" b="0">
                <a:solidFill>
                  <a:srgbClr val="1A1A2E"/>
                </a:solidFill>
                <a:latin typeface="Segoe UI"/>
              </a:defRPr>
            </a:pPr>
            <a:r>
              <a:rPr>
                <a:latin typeface="Segoe UI"/>
                <a:ea typeface="Meiryo UI"/>
              </a:rPr>
              <a:t>経歴書をPEで構造化、スキル・経験・学歴をスコアリング。60点以上は詳細評価コメント生成。</a:t>
            </a:r>
          </a:p>
        </p:txBody>
      </p:sp>
      <p:sp>
        <p:nvSpPr>
          <p:cNvPr id="37" name="Rounded Rectangle 36"/>
          <p:cNvSpPr/>
          <p:nvPr/>
        </p:nvSpPr>
        <p:spPr>
          <a:xfrm>
            <a:off x="8077200" y="5120640"/>
            <a:ext cx="3154680" cy="822960"/>
          </a:xfrm>
          <a:prstGeom prst="roundRect">
            <a:avLst/>
          </a:prstGeom>
          <a:solidFill>
            <a:srgbClr val="EDE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68640" y="5166360"/>
            <a:ext cx="2971800" cy="228600"/>
          </a:xfrm>
          <a:prstGeom prst="rect">
            <a:avLst/>
          </a:prstGeom>
          <a:noFill/>
        </p:spPr>
        <p:txBody>
          <a:bodyPr wrap="square">
            <a:spAutoFit/>
          </a:bodyPr>
          <a:lstStyle/>
          <a:p>
            <a:pPr algn="l">
              <a:defRPr sz="1000" b="1">
                <a:solidFill>
                  <a:srgbClr val="4A148C"/>
                </a:solidFill>
                <a:latin typeface="Segoe UI"/>
              </a:defRPr>
            </a:pPr>
            <a:r>
              <a:rPr>
                <a:latin typeface="Segoe UI"/>
                <a:ea typeface="Meiryo UI"/>
              </a:rPr>
              <a:t>導入効果</a:t>
            </a:r>
          </a:p>
        </p:txBody>
      </p:sp>
      <p:sp>
        <p:nvSpPr>
          <p:cNvPr id="39" name="TextBox 38"/>
          <p:cNvSpPr txBox="1"/>
          <p:nvPr/>
        </p:nvSpPr>
        <p:spPr>
          <a:xfrm>
            <a:off x="8168640" y="5394960"/>
            <a:ext cx="2971800" cy="457200"/>
          </a:xfrm>
          <a:prstGeom prst="rect">
            <a:avLst/>
          </a:prstGeom>
          <a:noFill/>
        </p:spPr>
        <p:txBody>
          <a:bodyPr wrap="square">
            <a:spAutoFit/>
          </a:bodyPr>
          <a:lstStyle/>
          <a:p>
            <a:pPr algn="l">
              <a:defRPr sz="1100" b="1">
                <a:solidFill>
                  <a:srgbClr val="4A148C"/>
                </a:solidFill>
                <a:latin typeface="Segoe UI"/>
              </a:defRPr>
            </a:pPr>
            <a:r>
              <a:rPr>
                <a:latin typeface="Segoe UI"/>
                <a:ea typeface="Meiryo UI"/>
              </a:rPr>
              <a:t>書類選考の一次スクリーニング効率化</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1A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400" b="1">
                <a:solidFill>
                  <a:srgbClr val="FFFFFF"/>
                </a:solidFill>
                <a:latin typeface="Segoe UI"/>
              </a:defRPr>
            </a:pPr>
            <a:r>
              <a:rPr>
                <a:latin typeface="Segoe UI"/>
                <a:ea typeface="Meiryo UI"/>
              </a:rPr>
              <a:t>詳細 ③  営業・経営  ─  メール生成・KPIレポート・稟議</a:t>
            </a:r>
          </a:p>
        </p:txBody>
      </p:sp>
      <p:sp>
        <p:nvSpPr>
          <p:cNvPr id="4" name="Rounded Rectangle 3"/>
          <p:cNvSpPr/>
          <p:nvPr/>
        </p:nvSpPr>
        <p:spPr>
          <a:xfrm>
            <a:off x="457200" y="1188720"/>
            <a:ext cx="3520440" cy="5120640"/>
          </a:xfrm>
          <a:prstGeom prst="roundRect">
            <a:avLst/>
          </a:prstGeom>
          <a:solidFill>
            <a:srgbClr val="F3F0FA"/>
          </a:solidFill>
          <a:ln w="1270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188720"/>
            <a:ext cx="3520440" cy="63500"/>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25880"/>
            <a:ext cx="3154680" cy="457200"/>
          </a:xfrm>
          <a:prstGeom prst="rect">
            <a:avLst/>
          </a:prstGeom>
          <a:noFill/>
        </p:spPr>
        <p:txBody>
          <a:bodyPr wrap="square">
            <a:spAutoFit/>
          </a:bodyPr>
          <a:lstStyle/>
          <a:p>
            <a:pPr algn="l">
              <a:defRPr sz="1400" b="1">
                <a:solidFill>
                  <a:srgbClr val="1A1A2E"/>
                </a:solidFill>
                <a:latin typeface="Segoe UI"/>
              </a:defRPr>
            </a:pPr>
            <a:r>
              <a:rPr>
                <a:latin typeface="Segoe UI"/>
                <a:ea typeface="Meiryo UI"/>
              </a:rPr>
              <a:t>CMN-10  営業メール自動生成</a:t>
            </a:r>
          </a:p>
        </p:txBody>
      </p:sp>
      <p:sp>
        <p:nvSpPr>
          <p:cNvPr id="7" name="TextBox 6"/>
          <p:cNvSpPr txBox="1"/>
          <p:nvPr/>
        </p:nvSpPr>
        <p:spPr>
          <a:xfrm>
            <a:off x="640080" y="1737360"/>
            <a:ext cx="3154680" cy="27432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営業部</a:t>
            </a:r>
          </a:p>
        </p:txBody>
      </p:sp>
      <p:sp>
        <p:nvSpPr>
          <p:cNvPr id="8" name="Rectangle 7"/>
          <p:cNvSpPr/>
          <p:nvPr/>
        </p:nvSpPr>
        <p:spPr>
          <a:xfrm>
            <a:off x="640080" y="2057400"/>
            <a:ext cx="3154680" cy="12700"/>
          </a:xfrm>
          <a:prstGeom prst="rect">
            <a:avLst/>
          </a:prstGeom>
          <a:solidFill>
            <a:srgbClr val="D0D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194560"/>
            <a:ext cx="3154680" cy="228600"/>
          </a:xfrm>
          <a:prstGeom prst="rect">
            <a:avLst/>
          </a:prstGeom>
          <a:noFill/>
        </p:spPr>
        <p:txBody>
          <a:bodyPr wrap="square">
            <a:spAutoFit/>
          </a:bodyPr>
          <a:lstStyle/>
          <a:p>
            <a:pPr algn="l">
              <a:defRPr sz="1000" b="1">
                <a:solidFill>
                  <a:srgbClr val="5C6BC0"/>
                </a:solidFill>
                <a:latin typeface="Segoe UI"/>
              </a:defRPr>
            </a:pPr>
            <a:r>
              <a:rPr>
                <a:latin typeface="Segoe UI"/>
                <a:ea typeface="Meiryo UI"/>
              </a:rPr>
              <a:t>フロー</a:t>
            </a:r>
          </a:p>
        </p:txBody>
      </p:sp>
      <p:sp>
        <p:nvSpPr>
          <p:cNvPr id="10" name="TextBox 9"/>
          <p:cNvSpPr txBox="1"/>
          <p:nvPr/>
        </p:nvSpPr>
        <p:spPr>
          <a:xfrm>
            <a:off x="640080" y="2423160"/>
            <a:ext cx="3154680" cy="914400"/>
          </a:xfrm>
          <a:prstGeom prst="rect">
            <a:avLst/>
          </a:prstGeom>
          <a:noFill/>
        </p:spPr>
        <p:txBody>
          <a:bodyPr wrap="square">
            <a:spAutoFit/>
          </a:bodyPr>
          <a:lstStyle/>
          <a:p>
            <a:pPr algn="l">
              <a:defRPr sz="1100" b="0">
                <a:solidFill>
                  <a:srgbClr val="1A1A2E"/>
                </a:solidFill>
                <a:latin typeface="Segoe UI"/>
              </a:defRPr>
            </a:pPr>
            <a:r>
              <a:rPr>
                <a:latin typeface="Segoe UI"/>
                <a:ea typeface="Meiryo UI"/>
              </a:rPr>
              <a:t>開始 → Code(検証) → IE → QC(4分岐) → LLM×4 → VA → Code(JSON) → 終了</a:t>
            </a:r>
          </a:p>
        </p:txBody>
      </p:sp>
      <p:sp>
        <p:nvSpPr>
          <p:cNvPr id="11" name="TextBox 10"/>
          <p:cNvSpPr txBox="1"/>
          <p:nvPr/>
        </p:nvSpPr>
        <p:spPr>
          <a:xfrm>
            <a:off x="640080" y="3474720"/>
            <a:ext cx="3154680" cy="228600"/>
          </a:xfrm>
          <a:prstGeom prst="rect">
            <a:avLst/>
          </a:prstGeom>
          <a:noFill/>
        </p:spPr>
        <p:txBody>
          <a:bodyPr wrap="square">
            <a:spAutoFit/>
          </a:bodyPr>
          <a:lstStyle/>
          <a:p>
            <a:pPr algn="l">
              <a:defRPr sz="1000" b="1">
                <a:solidFill>
                  <a:srgbClr val="5C6BC0"/>
                </a:solidFill>
                <a:latin typeface="Segoe UI"/>
              </a:defRPr>
            </a:pPr>
            <a:r>
              <a:rPr>
                <a:latin typeface="Segoe UI"/>
                <a:ea typeface="Meiryo UI"/>
              </a:rPr>
              <a:t>概要</a:t>
            </a:r>
          </a:p>
        </p:txBody>
      </p:sp>
      <p:sp>
        <p:nvSpPr>
          <p:cNvPr id="12" name="TextBox 11"/>
          <p:cNvSpPr txBox="1"/>
          <p:nvPr/>
        </p:nvSpPr>
        <p:spPr>
          <a:xfrm>
            <a:off x="640080" y="3703320"/>
            <a:ext cx="3154680" cy="1188720"/>
          </a:xfrm>
          <a:prstGeom prst="rect">
            <a:avLst/>
          </a:prstGeom>
          <a:noFill/>
        </p:spPr>
        <p:txBody>
          <a:bodyPr wrap="square">
            <a:spAutoFit/>
          </a:bodyPr>
          <a:lstStyle/>
          <a:p>
            <a:pPr algn="l">
              <a:defRPr sz="1100" b="0">
                <a:solidFill>
                  <a:srgbClr val="1A1A2E"/>
                </a:solidFill>
                <a:latin typeface="Segoe UI"/>
              </a:defRPr>
            </a:pPr>
            <a:r>
              <a:rPr>
                <a:latin typeface="Segoe UI"/>
                <a:ea typeface="Meiryo UI"/>
              </a:rPr>
              <a:t>新規アポ・フォロー・見積・お礼の4種メールを専用LLMで生成。日本のビジネスメール文化に対応。</a:t>
            </a:r>
          </a:p>
        </p:txBody>
      </p:sp>
      <p:sp>
        <p:nvSpPr>
          <p:cNvPr id="13" name="Rounded Rectangle 12"/>
          <p:cNvSpPr/>
          <p:nvPr/>
        </p:nvSpPr>
        <p:spPr>
          <a:xfrm>
            <a:off x="640080" y="5120640"/>
            <a:ext cx="3154680" cy="822960"/>
          </a:xfrm>
          <a:prstGeom prst="roundRect">
            <a:avLst/>
          </a:prstGeom>
          <a:solidFill>
            <a:srgbClr val="EDE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166360"/>
            <a:ext cx="2971800" cy="228600"/>
          </a:xfrm>
          <a:prstGeom prst="rect">
            <a:avLst/>
          </a:prstGeom>
          <a:noFill/>
        </p:spPr>
        <p:txBody>
          <a:bodyPr wrap="square">
            <a:spAutoFit/>
          </a:bodyPr>
          <a:lstStyle/>
          <a:p>
            <a:pPr algn="l">
              <a:defRPr sz="1000" b="1">
                <a:solidFill>
                  <a:srgbClr val="4A148C"/>
                </a:solidFill>
                <a:latin typeface="Segoe UI"/>
              </a:defRPr>
            </a:pPr>
            <a:r>
              <a:rPr>
                <a:latin typeface="Segoe UI"/>
                <a:ea typeface="Meiryo UI"/>
              </a:rPr>
              <a:t>導入効果</a:t>
            </a:r>
          </a:p>
        </p:txBody>
      </p:sp>
      <p:sp>
        <p:nvSpPr>
          <p:cNvPr id="15" name="TextBox 14"/>
          <p:cNvSpPr txBox="1"/>
          <p:nvPr/>
        </p:nvSpPr>
        <p:spPr>
          <a:xfrm>
            <a:off x="731520" y="5394960"/>
            <a:ext cx="2971800" cy="457200"/>
          </a:xfrm>
          <a:prstGeom prst="rect">
            <a:avLst/>
          </a:prstGeom>
          <a:noFill/>
        </p:spPr>
        <p:txBody>
          <a:bodyPr wrap="square">
            <a:spAutoFit/>
          </a:bodyPr>
          <a:lstStyle/>
          <a:p>
            <a:pPr algn="l">
              <a:defRPr sz="1100" b="1">
                <a:solidFill>
                  <a:srgbClr val="4A148C"/>
                </a:solidFill>
                <a:latin typeface="Segoe UI"/>
              </a:defRPr>
            </a:pPr>
            <a:r>
              <a:rPr>
                <a:latin typeface="Segoe UI"/>
                <a:ea typeface="Meiryo UI"/>
              </a:rPr>
              <a:t>メール作成時間の大幅短縮、品質均質化</a:t>
            </a:r>
          </a:p>
        </p:txBody>
      </p:sp>
      <p:sp>
        <p:nvSpPr>
          <p:cNvPr id="16" name="Rounded Rectangle 15"/>
          <p:cNvSpPr/>
          <p:nvPr/>
        </p:nvSpPr>
        <p:spPr>
          <a:xfrm>
            <a:off x="4175760" y="1188720"/>
            <a:ext cx="3520440" cy="5120640"/>
          </a:xfrm>
          <a:prstGeom prst="roundRect">
            <a:avLst/>
          </a:prstGeom>
          <a:solidFill>
            <a:srgbClr val="F3F0FA"/>
          </a:solidFill>
          <a:ln w="1270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75760" y="1188720"/>
            <a:ext cx="3520440" cy="63500"/>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58640" y="1325880"/>
            <a:ext cx="3154680" cy="457200"/>
          </a:xfrm>
          <a:prstGeom prst="rect">
            <a:avLst/>
          </a:prstGeom>
          <a:noFill/>
        </p:spPr>
        <p:txBody>
          <a:bodyPr wrap="square">
            <a:spAutoFit/>
          </a:bodyPr>
          <a:lstStyle/>
          <a:p>
            <a:pPr algn="l">
              <a:defRPr sz="1400" b="1">
                <a:solidFill>
                  <a:srgbClr val="1A1A2E"/>
                </a:solidFill>
                <a:latin typeface="Segoe UI"/>
              </a:defRPr>
            </a:pPr>
            <a:r>
              <a:rPr>
                <a:latin typeface="Segoe UI"/>
                <a:ea typeface="Meiryo UI"/>
              </a:rPr>
              <a:t>CMN-09  部門別KPIレポート一括生成</a:t>
            </a:r>
          </a:p>
        </p:txBody>
      </p:sp>
      <p:sp>
        <p:nvSpPr>
          <p:cNvPr id="19" name="TextBox 18"/>
          <p:cNvSpPr txBox="1"/>
          <p:nvPr/>
        </p:nvSpPr>
        <p:spPr>
          <a:xfrm>
            <a:off x="4358640" y="1737360"/>
            <a:ext cx="3154680" cy="27432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経営企画部</a:t>
            </a:r>
          </a:p>
        </p:txBody>
      </p:sp>
      <p:sp>
        <p:nvSpPr>
          <p:cNvPr id="20" name="Rectangle 19"/>
          <p:cNvSpPr/>
          <p:nvPr/>
        </p:nvSpPr>
        <p:spPr>
          <a:xfrm>
            <a:off x="4358640" y="2057400"/>
            <a:ext cx="3154680" cy="12700"/>
          </a:xfrm>
          <a:prstGeom prst="rect">
            <a:avLst/>
          </a:prstGeom>
          <a:solidFill>
            <a:srgbClr val="D0D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58640" y="2194560"/>
            <a:ext cx="3154680" cy="228600"/>
          </a:xfrm>
          <a:prstGeom prst="rect">
            <a:avLst/>
          </a:prstGeom>
          <a:noFill/>
        </p:spPr>
        <p:txBody>
          <a:bodyPr wrap="square">
            <a:spAutoFit/>
          </a:bodyPr>
          <a:lstStyle/>
          <a:p>
            <a:pPr algn="l">
              <a:defRPr sz="1000" b="1">
                <a:solidFill>
                  <a:srgbClr val="5C6BC0"/>
                </a:solidFill>
                <a:latin typeface="Segoe UI"/>
              </a:defRPr>
            </a:pPr>
            <a:r>
              <a:rPr>
                <a:latin typeface="Segoe UI"/>
                <a:ea typeface="Meiryo UI"/>
              </a:rPr>
              <a:t>フロー</a:t>
            </a:r>
          </a:p>
        </p:txBody>
      </p:sp>
      <p:sp>
        <p:nvSpPr>
          <p:cNvPr id="22" name="TextBox 21"/>
          <p:cNvSpPr txBox="1"/>
          <p:nvPr/>
        </p:nvSpPr>
        <p:spPr>
          <a:xfrm>
            <a:off x="4358640" y="2423160"/>
            <a:ext cx="3154680" cy="914400"/>
          </a:xfrm>
          <a:prstGeom prst="rect">
            <a:avLst/>
          </a:prstGeom>
          <a:noFill/>
        </p:spPr>
        <p:txBody>
          <a:bodyPr wrap="square">
            <a:spAutoFit/>
          </a:bodyPr>
          <a:lstStyle/>
          <a:p>
            <a:pPr algn="l">
              <a:defRPr sz="1100" b="0">
                <a:solidFill>
                  <a:srgbClr val="1A1A2E"/>
                </a:solidFill>
                <a:latin typeface="Segoe UI"/>
              </a:defRPr>
            </a:pPr>
            <a:r>
              <a:rPr>
                <a:latin typeface="Segoe UI"/>
                <a:ea typeface="Meiryo UI"/>
              </a:rPr>
              <a:t>開始 → Code(配列化) → Iteration[HTTP] → Code(集約) → LLM(分析) → 終了</a:t>
            </a:r>
          </a:p>
        </p:txBody>
      </p:sp>
      <p:sp>
        <p:nvSpPr>
          <p:cNvPr id="23" name="TextBox 22"/>
          <p:cNvSpPr txBox="1"/>
          <p:nvPr/>
        </p:nvSpPr>
        <p:spPr>
          <a:xfrm>
            <a:off x="4358640" y="3474720"/>
            <a:ext cx="3154680" cy="228600"/>
          </a:xfrm>
          <a:prstGeom prst="rect">
            <a:avLst/>
          </a:prstGeom>
          <a:noFill/>
        </p:spPr>
        <p:txBody>
          <a:bodyPr wrap="square">
            <a:spAutoFit/>
          </a:bodyPr>
          <a:lstStyle/>
          <a:p>
            <a:pPr algn="l">
              <a:defRPr sz="1000" b="1">
                <a:solidFill>
                  <a:srgbClr val="5C6BC0"/>
                </a:solidFill>
                <a:latin typeface="Segoe UI"/>
              </a:defRPr>
            </a:pPr>
            <a:r>
              <a:rPr>
                <a:latin typeface="Segoe UI"/>
                <a:ea typeface="Meiryo UI"/>
              </a:rPr>
              <a:t>概要</a:t>
            </a:r>
          </a:p>
        </p:txBody>
      </p:sp>
      <p:sp>
        <p:nvSpPr>
          <p:cNvPr id="24" name="TextBox 23"/>
          <p:cNvSpPr txBox="1"/>
          <p:nvPr/>
        </p:nvSpPr>
        <p:spPr>
          <a:xfrm>
            <a:off x="4358640" y="3703320"/>
            <a:ext cx="3154680" cy="1188720"/>
          </a:xfrm>
          <a:prstGeom prst="rect">
            <a:avLst/>
          </a:prstGeom>
          <a:noFill/>
        </p:spPr>
        <p:txBody>
          <a:bodyPr wrap="square">
            <a:spAutoFit/>
          </a:bodyPr>
          <a:lstStyle/>
          <a:p>
            <a:pPr algn="l">
              <a:defRPr sz="1100" b="0">
                <a:solidFill>
                  <a:srgbClr val="1A1A2E"/>
                </a:solidFill>
                <a:latin typeface="Segoe UI"/>
              </a:defRPr>
            </a:pPr>
            <a:r>
              <a:rPr>
                <a:latin typeface="Segoe UI"/>
                <a:ea typeface="Meiryo UI"/>
              </a:rPr>
              <a:t>複数部門のKPIをAPIバッチ取得し、部門横断の経営分析レポートを自動生成。</a:t>
            </a:r>
          </a:p>
        </p:txBody>
      </p:sp>
      <p:sp>
        <p:nvSpPr>
          <p:cNvPr id="25" name="Rounded Rectangle 24"/>
          <p:cNvSpPr/>
          <p:nvPr/>
        </p:nvSpPr>
        <p:spPr>
          <a:xfrm>
            <a:off x="4358640" y="5120640"/>
            <a:ext cx="3154680" cy="822960"/>
          </a:xfrm>
          <a:prstGeom prst="roundRect">
            <a:avLst/>
          </a:prstGeom>
          <a:solidFill>
            <a:srgbClr val="EDE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50080" y="5166360"/>
            <a:ext cx="2971800" cy="228600"/>
          </a:xfrm>
          <a:prstGeom prst="rect">
            <a:avLst/>
          </a:prstGeom>
          <a:noFill/>
        </p:spPr>
        <p:txBody>
          <a:bodyPr wrap="square">
            <a:spAutoFit/>
          </a:bodyPr>
          <a:lstStyle/>
          <a:p>
            <a:pPr algn="l">
              <a:defRPr sz="1000" b="1">
                <a:solidFill>
                  <a:srgbClr val="4A148C"/>
                </a:solidFill>
                <a:latin typeface="Segoe UI"/>
              </a:defRPr>
            </a:pPr>
            <a:r>
              <a:rPr>
                <a:latin typeface="Segoe UI"/>
                <a:ea typeface="Meiryo UI"/>
              </a:rPr>
              <a:t>導入効果</a:t>
            </a:r>
          </a:p>
        </p:txBody>
      </p:sp>
      <p:sp>
        <p:nvSpPr>
          <p:cNvPr id="27" name="TextBox 26"/>
          <p:cNvSpPr txBox="1"/>
          <p:nvPr/>
        </p:nvSpPr>
        <p:spPr>
          <a:xfrm>
            <a:off x="4450080" y="5394960"/>
            <a:ext cx="2971800" cy="457200"/>
          </a:xfrm>
          <a:prstGeom prst="rect">
            <a:avLst/>
          </a:prstGeom>
          <a:noFill/>
        </p:spPr>
        <p:txBody>
          <a:bodyPr wrap="square">
            <a:spAutoFit/>
          </a:bodyPr>
          <a:lstStyle/>
          <a:p>
            <a:pPr algn="l">
              <a:defRPr sz="1100" b="1">
                <a:solidFill>
                  <a:srgbClr val="4A148C"/>
                </a:solidFill>
                <a:latin typeface="Segoe UI"/>
              </a:defRPr>
            </a:pPr>
            <a:r>
              <a:rPr>
                <a:latin typeface="Segoe UI"/>
                <a:ea typeface="Meiryo UI"/>
              </a:rPr>
              <a:t>月次経営会議資料の自動作成</a:t>
            </a:r>
          </a:p>
        </p:txBody>
      </p:sp>
      <p:sp>
        <p:nvSpPr>
          <p:cNvPr id="28" name="Rounded Rectangle 27"/>
          <p:cNvSpPr/>
          <p:nvPr/>
        </p:nvSpPr>
        <p:spPr>
          <a:xfrm>
            <a:off x="7894320" y="1188720"/>
            <a:ext cx="3520440" cy="5120640"/>
          </a:xfrm>
          <a:prstGeom prst="roundRect">
            <a:avLst/>
          </a:prstGeom>
          <a:solidFill>
            <a:srgbClr val="F3F0FA"/>
          </a:solidFill>
          <a:ln w="1270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94320" y="1188720"/>
            <a:ext cx="3520440" cy="63500"/>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77200" y="1325880"/>
            <a:ext cx="3154680" cy="457200"/>
          </a:xfrm>
          <a:prstGeom prst="rect">
            <a:avLst/>
          </a:prstGeom>
          <a:noFill/>
        </p:spPr>
        <p:txBody>
          <a:bodyPr wrap="square">
            <a:spAutoFit/>
          </a:bodyPr>
          <a:lstStyle/>
          <a:p>
            <a:pPr algn="l">
              <a:defRPr sz="1400" b="1">
                <a:solidFill>
                  <a:srgbClr val="1A1A2E"/>
                </a:solidFill>
                <a:latin typeface="Segoe UI"/>
              </a:defRPr>
            </a:pPr>
            <a:r>
              <a:rPr>
                <a:latin typeface="Segoe UI"/>
                <a:ea typeface="Meiryo UI"/>
              </a:rPr>
              <a:t>CMN-07  稟議書ドラフト作成</a:t>
            </a:r>
          </a:p>
        </p:txBody>
      </p:sp>
      <p:sp>
        <p:nvSpPr>
          <p:cNvPr id="31" name="TextBox 30"/>
          <p:cNvSpPr txBox="1"/>
          <p:nvPr/>
        </p:nvSpPr>
        <p:spPr>
          <a:xfrm>
            <a:off x="8077200" y="1737360"/>
            <a:ext cx="3154680" cy="27432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全部門 / 管理職</a:t>
            </a:r>
          </a:p>
        </p:txBody>
      </p:sp>
      <p:sp>
        <p:nvSpPr>
          <p:cNvPr id="32" name="Rectangle 31"/>
          <p:cNvSpPr/>
          <p:nvPr/>
        </p:nvSpPr>
        <p:spPr>
          <a:xfrm>
            <a:off x="8077200" y="2057400"/>
            <a:ext cx="3154680" cy="12700"/>
          </a:xfrm>
          <a:prstGeom prst="rect">
            <a:avLst/>
          </a:prstGeom>
          <a:solidFill>
            <a:srgbClr val="D0D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77200" y="2194560"/>
            <a:ext cx="3154680" cy="228600"/>
          </a:xfrm>
          <a:prstGeom prst="rect">
            <a:avLst/>
          </a:prstGeom>
          <a:noFill/>
        </p:spPr>
        <p:txBody>
          <a:bodyPr wrap="square">
            <a:spAutoFit/>
          </a:bodyPr>
          <a:lstStyle/>
          <a:p>
            <a:pPr algn="l">
              <a:defRPr sz="1000" b="1">
                <a:solidFill>
                  <a:srgbClr val="5C6BC0"/>
                </a:solidFill>
                <a:latin typeface="Segoe UI"/>
              </a:defRPr>
            </a:pPr>
            <a:r>
              <a:rPr>
                <a:latin typeface="Segoe UI"/>
                <a:ea typeface="Meiryo UI"/>
              </a:rPr>
              <a:t>フロー</a:t>
            </a:r>
          </a:p>
        </p:txBody>
      </p:sp>
      <p:sp>
        <p:nvSpPr>
          <p:cNvPr id="34" name="TextBox 33"/>
          <p:cNvSpPr txBox="1"/>
          <p:nvPr/>
        </p:nvSpPr>
        <p:spPr>
          <a:xfrm>
            <a:off x="8077200" y="2423160"/>
            <a:ext cx="3154680" cy="914400"/>
          </a:xfrm>
          <a:prstGeom prst="rect">
            <a:avLst/>
          </a:prstGeom>
          <a:noFill/>
        </p:spPr>
        <p:txBody>
          <a:bodyPr wrap="square">
            <a:spAutoFit/>
          </a:bodyPr>
          <a:lstStyle/>
          <a:p>
            <a:pPr algn="l">
              <a:defRPr sz="1100" b="0">
                <a:solidFill>
                  <a:srgbClr val="1A1A2E"/>
                </a:solidFill>
                <a:latin typeface="Segoe UI"/>
              </a:defRPr>
            </a:pPr>
            <a:r>
              <a:rPr>
                <a:latin typeface="Segoe UI"/>
                <a:ea typeface="Meiryo UI"/>
              </a:rPr>
              <a:t>開始(6入力) → Code(整形) → LLM(8192tok) → TT(フォーマット) → 終了</a:t>
            </a:r>
          </a:p>
        </p:txBody>
      </p:sp>
      <p:sp>
        <p:nvSpPr>
          <p:cNvPr id="35" name="TextBox 34"/>
          <p:cNvSpPr txBox="1"/>
          <p:nvPr/>
        </p:nvSpPr>
        <p:spPr>
          <a:xfrm>
            <a:off x="8077200" y="3474720"/>
            <a:ext cx="3154680" cy="228600"/>
          </a:xfrm>
          <a:prstGeom prst="rect">
            <a:avLst/>
          </a:prstGeom>
          <a:noFill/>
        </p:spPr>
        <p:txBody>
          <a:bodyPr wrap="square">
            <a:spAutoFit/>
          </a:bodyPr>
          <a:lstStyle/>
          <a:p>
            <a:pPr algn="l">
              <a:defRPr sz="1000" b="1">
                <a:solidFill>
                  <a:srgbClr val="5C6BC0"/>
                </a:solidFill>
                <a:latin typeface="Segoe UI"/>
              </a:defRPr>
            </a:pPr>
            <a:r>
              <a:rPr>
                <a:latin typeface="Segoe UI"/>
                <a:ea typeface="Meiryo UI"/>
              </a:rPr>
              <a:t>概要</a:t>
            </a:r>
          </a:p>
        </p:txBody>
      </p:sp>
      <p:sp>
        <p:nvSpPr>
          <p:cNvPr id="36" name="TextBox 35"/>
          <p:cNvSpPr txBox="1"/>
          <p:nvPr/>
        </p:nvSpPr>
        <p:spPr>
          <a:xfrm>
            <a:off x="8077200" y="3703320"/>
            <a:ext cx="3154680" cy="1188720"/>
          </a:xfrm>
          <a:prstGeom prst="rect">
            <a:avLst/>
          </a:prstGeom>
          <a:noFill/>
        </p:spPr>
        <p:txBody>
          <a:bodyPr wrap="square">
            <a:spAutoFit/>
          </a:bodyPr>
          <a:lstStyle/>
          <a:p>
            <a:pPr algn="l">
              <a:defRPr sz="1100" b="0">
                <a:solidFill>
                  <a:srgbClr val="1A1A2E"/>
                </a:solidFill>
                <a:latin typeface="Segoe UI"/>
              </a:defRPr>
            </a:pPr>
            <a:r>
              <a:rPr>
                <a:latin typeface="Segoe UI"/>
                <a:ea typeface="Meiryo UI"/>
              </a:rPr>
              <a:t>件名・区分・金額・目的・効果・リスクから正式な稟議書ドラフトを自動生成。</a:t>
            </a:r>
          </a:p>
        </p:txBody>
      </p:sp>
      <p:sp>
        <p:nvSpPr>
          <p:cNvPr id="37" name="Rounded Rectangle 36"/>
          <p:cNvSpPr/>
          <p:nvPr/>
        </p:nvSpPr>
        <p:spPr>
          <a:xfrm>
            <a:off x="8077200" y="5120640"/>
            <a:ext cx="3154680" cy="822960"/>
          </a:xfrm>
          <a:prstGeom prst="roundRect">
            <a:avLst/>
          </a:prstGeom>
          <a:solidFill>
            <a:srgbClr val="EDE7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68640" y="5166360"/>
            <a:ext cx="2971800" cy="228600"/>
          </a:xfrm>
          <a:prstGeom prst="rect">
            <a:avLst/>
          </a:prstGeom>
          <a:noFill/>
        </p:spPr>
        <p:txBody>
          <a:bodyPr wrap="square">
            <a:spAutoFit/>
          </a:bodyPr>
          <a:lstStyle/>
          <a:p>
            <a:pPr algn="l">
              <a:defRPr sz="1000" b="1">
                <a:solidFill>
                  <a:srgbClr val="4A148C"/>
                </a:solidFill>
                <a:latin typeface="Segoe UI"/>
              </a:defRPr>
            </a:pPr>
            <a:r>
              <a:rPr>
                <a:latin typeface="Segoe UI"/>
                <a:ea typeface="Meiryo UI"/>
              </a:rPr>
              <a:t>導入効果</a:t>
            </a:r>
          </a:p>
        </p:txBody>
      </p:sp>
      <p:sp>
        <p:nvSpPr>
          <p:cNvPr id="39" name="TextBox 38"/>
          <p:cNvSpPr txBox="1"/>
          <p:nvPr/>
        </p:nvSpPr>
        <p:spPr>
          <a:xfrm>
            <a:off x="8168640" y="5394960"/>
            <a:ext cx="2971800" cy="457200"/>
          </a:xfrm>
          <a:prstGeom prst="rect">
            <a:avLst/>
          </a:prstGeom>
          <a:noFill/>
        </p:spPr>
        <p:txBody>
          <a:bodyPr wrap="square">
            <a:spAutoFit/>
          </a:bodyPr>
          <a:lstStyle/>
          <a:p>
            <a:pPr algn="l">
              <a:defRPr sz="1100" b="1">
                <a:solidFill>
                  <a:srgbClr val="4A148C"/>
                </a:solidFill>
                <a:latin typeface="Segoe UI"/>
              </a:defRPr>
            </a:pPr>
            <a:r>
              <a:rPr>
                <a:latin typeface="Segoe UI"/>
                <a:ea typeface="Meiryo UI"/>
              </a:rPr>
              <a:t>稟議書作成の効率化、フォーマット統一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1A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400" b="1">
                <a:solidFill>
                  <a:srgbClr val="FFFFFF"/>
                </a:solidFill>
                <a:latin typeface="Segoe UI"/>
              </a:defRPr>
            </a:pPr>
            <a:r>
              <a:rPr>
                <a:latin typeface="Segoe UI"/>
                <a:ea typeface="Meiryo UI"/>
              </a:rPr>
              <a:t>詳細 ④  社内ヘルプデスクチャット  ─  Chatflow パターン</a:t>
            </a:r>
          </a:p>
        </p:txBody>
      </p:sp>
      <p:sp>
        <p:nvSpPr>
          <p:cNvPr id="4" name="Rounded Rectangle 3"/>
          <p:cNvSpPr/>
          <p:nvPr/>
        </p:nvSpPr>
        <p:spPr>
          <a:xfrm>
            <a:off x="457200" y="1188720"/>
            <a:ext cx="11247120" cy="2286000"/>
          </a:xfrm>
          <a:prstGeom prst="roundRect">
            <a:avLst/>
          </a:prstGeom>
          <a:solidFill>
            <a:srgbClr val="F3F0FA"/>
          </a:solidFill>
          <a:ln w="1270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188720"/>
            <a:ext cx="11247120" cy="63500"/>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0"/>
            <a:ext cx="4572000" cy="365760"/>
          </a:xfrm>
          <a:prstGeom prst="rect">
            <a:avLst/>
          </a:prstGeom>
          <a:noFill/>
        </p:spPr>
        <p:txBody>
          <a:bodyPr wrap="square">
            <a:spAutoFit/>
          </a:bodyPr>
          <a:lstStyle/>
          <a:p>
            <a:pPr algn="l">
              <a:defRPr sz="1800" b="1">
                <a:solidFill>
                  <a:srgbClr val="1A1A2E"/>
                </a:solidFill>
                <a:latin typeface="Segoe UI"/>
              </a:defRPr>
            </a:pPr>
            <a:r>
              <a:rPr>
                <a:latin typeface="Segoe UI"/>
                <a:ea typeface="Meiryo UI"/>
              </a:rPr>
              <a:t>CMN-05  社内ヘルプデスクチャット</a:t>
            </a:r>
          </a:p>
        </p:txBody>
      </p:sp>
      <p:sp>
        <p:nvSpPr>
          <p:cNvPr id="7" name="TextBox 6"/>
          <p:cNvSpPr txBox="1"/>
          <p:nvPr/>
        </p:nvSpPr>
        <p:spPr>
          <a:xfrm>
            <a:off x="731520" y="1783080"/>
            <a:ext cx="4572000" cy="274320"/>
          </a:xfrm>
          <a:prstGeom prst="rect">
            <a:avLst/>
          </a:prstGeom>
          <a:noFill/>
        </p:spPr>
        <p:txBody>
          <a:bodyPr wrap="square">
            <a:spAutoFit/>
          </a:bodyPr>
          <a:lstStyle/>
          <a:p>
            <a:pPr algn="l">
              <a:defRPr sz="1200" b="0">
                <a:solidFill>
                  <a:srgbClr val="4A5A6A"/>
                </a:solidFill>
                <a:latin typeface="Segoe UI"/>
              </a:defRPr>
            </a:pPr>
            <a:r>
              <a:rPr>
                <a:latin typeface="Segoe UI"/>
                <a:ea typeface="Meiryo UI"/>
              </a:rPr>
              <a:t>情報システム部 / 全社員  |  advanced-chat (Chatflow)</a:t>
            </a:r>
          </a:p>
        </p:txBody>
      </p:sp>
      <p:sp>
        <p:nvSpPr>
          <p:cNvPr id="8" name="TextBox 7"/>
          <p:cNvSpPr txBox="1"/>
          <p:nvPr/>
        </p:nvSpPr>
        <p:spPr>
          <a:xfrm>
            <a:off x="731520" y="2194560"/>
            <a:ext cx="10515600" cy="1097280"/>
          </a:xfrm>
          <a:prstGeom prst="rect">
            <a:avLst/>
          </a:prstGeom>
          <a:noFill/>
        </p:spPr>
        <p:txBody>
          <a:bodyPr wrap="square">
            <a:spAutoFit/>
          </a:bodyPr>
          <a:lstStyle/>
          <a:p>
            <a:pPr algn="l">
              <a:defRPr sz="1200" b="0">
                <a:solidFill>
                  <a:srgbClr val="1A1A2E"/>
                </a:solidFill>
                <a:latin typeface="Segoe UI"/>
              </a:defRPr>
            </a:pPr>
            <a:r>
              <a:rPr>
                <a:latin typeface="Segoe UI"/>
                <a:ea typeface="Meiryo UI"/>
              </a:rPr>
              <a:t>開始 → 問い合わせ分類(QC)</a:t>
            </a:r>
            <a:br/>
            <a:r>
              <a:rPr>
                <a:latin typeface="Segoe UI"/>
                <a:ea typeface="Meiryo UI"/>
              </a:rPr>
              <a:t>          ├─ [IT系]     → ITナレッジ検索(KR) → IT対応LLM(memory) → IT回答(Answer)</a:t>
            </a:r>
            <a:br/>
            <a:r>
              <a:rPr>
                <a:latin typeface="Segoe UI"/>
                <a:ea typeface="Meiryo UI"/>
              </a:rPr>
              <a:t>          ├─ [総務系]  → 総務ナレッジ検索(KR) → 総務対応LLM(memory) → 総務回答(Answer)</a:t>
            </a:r>
            <a:br/>
            <a:r>
              <a:rPr>
                <a:latin typeface="Segoe UI"/>
                <a:ea typeface="Meiryo UI"/>
              </a:rPr>
              <a:t>          └─ [人事系]                                    → 人事対応LLM(memory) → 人事回答(Answer)</a:t>
            </a:r>
          </a:p>
        </p:txBody>
      </p:sp>
      <p:sp>
        <p:nvSpPr>
          <p:cNvPr id="9" name="Rounded Rectangle 8"/>
          <p:cNvSpPr/>
          <p:nvPr/>
        </p:nvSpPr>
        <p:spPr>
          <a:xfrm>
            <a:off x="457200" y="3840480"/>
            <a:ext cx="3474720" cy="2560320"/>
          </a:xfrm>
          <a:prstGeom prst="roundRect">
            <a:avLst/>
          </a:prstGeom>
          <a:solidFill>
            <a:srgbClr val="F3F0FA"/>
          </a:solidFill>
          <a:ln w="1270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645920" y="3977640"/>
            <a:ext cx="1097280" cy="457200"/>
          </a:xfrm>
          <a:prstGeom prst="ellipse">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480560"/>
            <a:ext cx="3291840" cy="548640"/>
          </a:xfrm>
          <a:prstGeom prst="rect">
            <a:avLst/>
          </a:prstGeom>
          <a:noFill/>
        </p:spPr>
        <p:txBody>
          <a:bodyPr wrap="square">
            <a:spAutoFit/>
          </a:bodyPr>
          <a:lstStyle/>
          <a:p>
            <a:pPr algn="ctr">
              <a:defRPr sz="1300" b="1">
                <a:solidFill>
                  <a:srgbClr val="6A1B9A"/>
                </a:solidFill>
                <a:latin typeface="Segoe UI"/>
              </a:defRPr>
            </a:pPr>
            <a:r>
              <a:rPr>
                <a:latin typeface="Segoe UI"/>
                <a:ea typeface="Meiryo UI"/>
              </a:rPr>
              <a:t>Question Classifier</a:t>
            </a:r>
            <a:br/>
            <a:r>
              <a:rPr>
                <a:latin typeface="Segoe UI"/>
                <a:ea typeface="Meiryo UI"/>
              </a:rPr>
              <a:t>3分岐ルーティング</a:t>
            </a:r>
          </a:p>
        </p:txBody>
      </p:sp>
      <p:sp>
        <p:nvSpPr>
          <p:cNvPr id="12" name="TextBox 11"/>
          <p:cNvSpPr txBox="1"/>
          <p:nvPr/>
        </p:nvSpPr>
        <p:spPr>
          <a:xfrm>
            <a:off x="640080" y="5120640"/>
            <a:ext cx="3108960" cy="1097280"/>
          </a:xfrm>
          <a:prstGeom prst="rect">
            <a:avLst/>
          </a:prstGeom>
          <a:noFill/>
        </p:spPr>
        <p:txBody>
          <a:bodyPr wrap="square">
            <a:spAutoFit/>
          </a:bodyPr>
          <a:lstStyle/>
          <a:p>
            <a:pPr algn="ctr">
              <a:defRPr sz="1100" b="0">
                <a:solidFill>
                  <a:srgbClr val="4A5A6A"/>
                </a:solidFill>
                <a:latin typeface="Segoe UI"/>
              </a:defRPr>
            </a:pPr>
            <a:r>
              <a:rPr>
                <a:latin typeface="Segoe UI"/>
                <a:ea typeface="Meiryo UI"/>
              </a:rPr>
              <a:t>IT・総務・人事の3カテゴリに</a:t>
            </a:r>
            <a:br/>
            <a:r>
              <a:rPr>
                <a:latin typeface="Segoe UI"/>
                <a:ea typeface="Meiryo UI"/>
              </a:rPr>
              <a:t>自動分類。社員は質問を</a:t>
            </a:r>
            <a:br/>
            <a:r>
              <a:rPr>
                <a:latin typeface="Segoe UI"/>
                <a:ea typeface="Meiryo UI"/>
              </a:rPr>
              <a:t>入力するだけで適切な</a:t>
            </a:r>
            <a:br/>
            <a:r>
              <a:rPr>
                <a:latin typeface="Segoe UI"/>
                <a:ea typeface="Meiryo UI"/>
              </a:rPr>
              <a:t>担当窓口に振り分け。</a:t>
            </a:r>
          </a:p>
        </p:txBody>
      </p:sp>
      <p:sp>
        <p:nvSpPr>
          <p:cNvPr id="13" name="Rounded Rectangle 12"/>
          <p:cNvSpPr/>
          <p:nvPr/>
        </p:nvSpPr>
        <p:spPr>
          <a:xfrm>
            <a:off x="4297680" y="3840480"/>
            <a:ext cx="3474720" cy="2560320"/>
          </a:xfrm>
          <a:prstGeom prst="roundRect">
            <a:avLst/>
          </a:prstGeom>
          <a:solidFill>
            <a:srgbClr val="F3F0FA"/>
          </a:solidFill>
          <a:ln w="1270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486400" y="3977640"/>
            <a:ext cx="1097280" cy="457200"/>
          </a:xfrm>
          <a:prstGeom prst="ellipse">
            <a:avLst/>
          </a:prstGeom>
          <a:solidFill>
            <a:srgbClr val="008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4480560"/>
            <a:ext cx="3291840" cy="548640"/>
          </a:xfrm>
          <a:prstGeom prst="rect">
            <a:avLst/>
          </a:prstGeom>
          <a:noFill/>
        </p:spPr>
        <p:txBody>
          <a:bodyPr wrap="square">
            <a:spAutoFit/>
          </a:bodyPr>
          <a:lstStyle/>
          <a:p>
            <a:pPr algn="ctr">
              <a:defRPr sz="1300" b="1">
                <a:solidFill>
                  <a:srgbClr val="00896B"/>
                </a:solidFill>
                <a:latin typeface="Segoe UI"/>
              </a:defRPr>
            </a:pPr>
            <a:r>
              <a:rPr>
                <a:latin typeface="Segoe UI"/>
                <a:ea typeface="Meiryo UI"/>
              </a:rPr>
              <a:t>Knowledge Retrieval</a:t>
            </a:r>
            <a:br/>
            <a:r>
              <a:rPr>
                <a:latin typeface="Segoe UI"/>
                <a:ea typeface="Meiryo UI"/>
              </a:rPr>
              <a:t>デュアルナレッジベース</a:t>
            </a:r>
          </a:p>
        </p:txBody>
      </p:sp>
      <p:sp>
        <p:nvSpPr>
          <p:cNvPr id="16" name="TextBox 15"/>
          <p:cNvSpPr txBox="1"/>
          <p:nvPr/>
        </p:nvSpPr>
        <p:spPr>
          <a:xfrm>
            <a:off x="4480560" y="5120640"/>
            <a:ext cx="3108960" cy="1097280"/>
          </a:xfrm>
          <a:prstGeom prst="rect">
            <a:avLst/>
          </a:prstGeom>
          <a:noFill/>
        </p:spPr>
        <p:txBody>
          <a:bodyPr wrap="square">
            <a:spAutoFit/>
          </a:bodyPr>
          <a:lstStyle/>
          <a:p>
            <a:pPr algn="ctr">
              <a:defRPr sz="1100" b="0">
                <a:solidFill>
                  <a:srgbClr val="4A5A6A"/>
                </a:solidFill>
                <a:latin typeface="Segoe UI"/>
              </a:defRPr>
            </a:pPr>
            <a:r>
              <a:rPr>
                <a:latin typeface="Segoe UI"/>
                <a:ea typeface="Meiryo UI"/>
              </a:rPr>
              <a:t>IT FAQ と総務規程の</a:t>
            </a:r>
            <a:br/>
            <a:r>
              <a:rPr>
                <a:latin typeface="Segoe UI"/>
                <a:ea typeface="Meiryo UI"/>
              </a:rPr>
              <a:t>2つのKBを用途別に活用。</a:t>
            </a:r>
            <a:br/>
            <a:r>
              <a:rPr>
                <a:latin typeface="Segoe UI"/>
                <a:ea typeface="Meiryo UI"/>
              </a:rPr>
              <a:t>人事は一般知識ベースの</a:t>
            </a:r>
            <a:br/>
            <a:r>
              <a:rPr>
                <a:latin typeface="Segoe UI"/>
                <a:ea typeface="Meiryo UI"/>
              </a:rPr>
              <a:t>LLM直接回答で対応。</a:t>
            </a:r>
          </a:p>
        </p:txBody>
      </p:sp>
      <p:sp>
        <p:nvSpPr>
          <p:cNvPr id="17" name="Rounded Rectangle 16"/>
          <p:cNvSpPr/>
          <p:nvPr/>
        </p:nvSpPr>
        <p:spPr>
          <a:xfrm>
            <a:off x="8138160" y="3840480"/>
            <a:ext cx="3474720" cy="2560320"/>
          </a:xfrm>
          <a:prstGeom prst="roundRect">
            <a:avLst/>
          </a:prstGeom>
          <a:solidFill>
            <a:srgbClr val="F3F0FA"/>
          </a:solidFill>
          <a:ln w="1270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326880" y="3977640"/>
            <a:ext cx="1097280" cy="457200"/>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4480560"/>
            <a:ext cx="3291840" cy="548640"/>
          </a:xfrm>
          <a:prstGeom prst="rect">
            <a:avLst/>
          </a:prstGeom>
          <a:noFill/>
        </p:spPr>
        <p:txBody>
          <a:bodyPr wrap="square">
            <a:spAutoFit/>
          </a:bodyPr>
          <a:lstStyle/>
          <a:p>
            <a:pPr algn="ctr">
              <a:defRPr sz="1300" b="1">
                <a:solidFill>
                  <a:srgbClr val="5C6BC0"/>
                </a:solidFill>
                <a:latin typeface="Segoe UI"/>
              </a:defRPr>
            </a:pPr>
            <a:r>
              <a:rPr>
                <a:latin typeface="Segoe UI"/>
                <a:ea typeface="Meiryo UI"/>
              </a:rPr>
              <a:t>Memory 有効</a:t>
            </a:r>
            <a:br/>
            <a:r>
              <a:rPr>
                <a:latin typeface="Segoe UI"/>
                <a:ea typeface="Meiryo UI"/>
              </a:rPr>
              <a:t>マルチターン会話</a:t>
            </a:r>
          </a:p>
        </p:txBody>
      </p:sp>
      <p:sp>
        <p:nvSpPr>
          <p:cNvPr id="20" name="TextBox 19"/>
          <p:cNvSpPr txBox="1"/>
          <p:nvPr/>
        </p:nvSpPr>
        <p:spPr>
          <a:xfrm>
            <a:off x="8321040" y="5120640"/>
            <a:ext cx="3108960" cy="1097280"/>
          </a:xfrm>
          <a:prstGeom prst="rect">
            <a:avLst/>
          </a:prstGeom>
          <a:noFill/>
        </p:spPr>
        <p:txBody>
          <a:bodyPr wrap="square">
            <a:spAutoFit/>
          </a:bodyPr>
          <a:lstStyle/>
          <a:p>
            <a:pPr algn="ctr">
              <a:defRPr sz="1100" b="0">
                <a:solidFill>
                  <a:srgbClr val="4A5A6A"/>
                </a:solidFill>
                <a:latin typeface="Segoe UI"/>
              </a:defRPr>
            </a:pPr>
            <a:r>
              <a:rPr>
                <a:latin typeface="Segoe UI"/>
                <a:ea typeface="Meiryo UI"/>
              </a:rPr>
              <a:t>全LLMで会話履歴を保持。</a:t>
            </a:r>
            <a:br/>
            <a:r>
              <a:rPr>
                <a:latin typeface="Segoe UI"/>
                <a:ea typeface="Meiryo UI"/>
              </a:rPr>
              <a:t>直近10ターンを参照し</a:t>
            </a:r>
            <a:br/>
            <a:r>
              <a:rPr>
                <a:latin typeface="Segoe UI"/>
                <a:ea typeface="Meiryo UI"/>
              </a:rPr>
              <a:t>文脈を踏まえた自然な</a:t>
            </a:r>
            <a:br/>
            <a:r>
              <a:rPr>
                <a:latin typeface="Segoe UI"/>
                <a:ea typeface="Meiryo UI"/>
              </a:rPr>
              <a:t>対話を実現。</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1A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600" b="1">
                <a:solidFill>
                  <a:srgbClr val="FFFFFF"/>
                </a:solidFill>
                <a:latin typeface="Segoe UI"/>
              </a:defRPr>
            </a:pPr>
            <a:r>
              <a:rPr>
                <a:latin typeface="Segoe UI"/>
                <a:ea typeface="Meiryo UI"/>
              </a:rPr>
              <a:t>使用技術  ─  Dify ノードタイプと適用パターン</a:t>
            </a:r>
          </a:p>
        </p:txBody>
      </p:sp>
      <p:sp>
        <p:nvSpPr>
          <p:cNvPr id="4" name="Rounded Rectangle 3"/>
          <p:cNvSpPr/>
          <p:nvPr/>
        </p:nvSpPr>
        <p:spPr>
          <a:xfrm>
            <a:off x="365760" y="1188720"/>
            <a:ext cx="2103120" cy="2377440"/>
          </a:xfrm>
          <a:prstGeom prst="roundRect">
            <a:avLst/>
          </a:prstGeom>
          <a:solidFill>
            <a:srgbClr val="F3F0FA"/>
          </a:solidFill>
          <a:ln w="635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51560" y="1325880"/>
            <a:ext cx="731520" cy="731520"/>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LLM</a:t>
            </a:r>
          </a:p>
        </p:txBody>
      </p:sp>
      <p:sp>
        <p:nvSpPr>
          <p:cNvPr id="7" name="TextBox 6"/>
          <p:cNvSpPr txBox="1"/>
          <p:nvPr/>
        </p:nvSpPr>
        <p:spPr>
          <a:xfrm>
            <a:off x="457200" y="2194560"/>
            <a:ext cx="1920240" cy="640080"/>
          </a:xfrm>
          <a:prstGeom prst="rect">
            <a:avLst/>
          </a:prstGeom>
          <a:noFill/>
        </p:spPr>
        <p:txBody>
          <a:bodyPr wrap="square">
            <a:spAutoFit/>
          </a:bodyPr>
          <a:lstStyle/>
          <a:p>
            <a:pPr algn="ctr">
              <a:defRPr sz="1000" b="0">
                <a:solidFill>
                  <a:srgbClr val="1A1A2E"/>
                </a:solidFill>
                <a:latin typeface="Segoe UI"/>
              </a:defRPr>
            </a:pPr>
            <a:r>
              <a:rPr>
                <a:latin typeface="Segoe UI"/>
                <a:ea typeface="Meiryo UI"/>
              </a:rPr>
              <a:t>回答生成・分析</a:t>
            </a:r>
            <a:br/>
            <a:r>
              <a:rPr>
                <a:latin typeface="Segoe UI"/>
                <a:ea typeface="Meiryo UI"/>
              </a:rPr>
              <a:t>ドラフト作成・翻訳</a:t>
            </a:r>
          </a:p>
        </p:txBody>
      </p:sp>
      <p:sp>
        <p:nvSpPr>
          <p:cNvPr id="8" name="TextBox 7"/>
          <p:cNvSpPr txBox="1"/>
          <p:nvPr/>
        </p:nvSpPr>
        <p:spPr>
          <a:xfrm>
            <a:off x="457200" y="2926080"/>
            <a:ext cx="1920240" cy="457200"/>
          </a:xfrm>
          <a:prstGeom prst="rect">
            <a:avLst/>
          </a:prstGeom>
          <a:noFill/>
        </p:spPr>
        <p:txBody>
          <a:bodyPr wrap="square">
            <a:spAutoFit/>
          </a:bodyPr>
          <a:lstStyle/>
          <a:p>
            <a:pPr algn="ctr">
              <a:defRPr sz="900" b="0">
                <a:solidFill>
                  <a:srgbClr val="4A5A6A"/>
                </a:solidFill>
                <a:latin typeface="Segoe UI"/>
              </a:defRPr>
            </a:pPr>
            <a:r>
              <a:rPr>
                <a:latin typeface="Segoe UI"/>
                <a:ea typeface="Meiryo UI"/>
              </a:rPr>
              <a:t>全10ワークフロー</a:t>
            </a:r>
          </a:p>
        </p:txBody>
      </p:sp>
      <p:sp>
        <p:nvSpPr>
          <p:cNvPr id="9" name="Rounded Rectangle 8"/>
          <p:cNvSpPr/>
          <p:nvPr/>
        </p:nvSpPr>
        <p:spPr>
          <a:xfrm>
            <a:off x="2651760" y="1188720"/>
            <a:ext cx="2103120" cy="2377440"/>
          </a:xfrm>
          <a:prstGeom prst="roundRect">
            <a:avLst/>
          </a:prstGeom>
          <a:solidFill>
            <a:srgbClr val="F3F0FA"/>
          </a:solidFill>
          <a:ln w="635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337560" y="1325880"/>
            <a:ext cx="731520" cy="731520"/>
          </a:xfrm>
          <a:prstGeom prst="ellipse">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0" y="13716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Code</a:t>
            </a:r>
          </a:p>
        </p:txBody>
      </p:sp>
      <p:sp>
        <p:nvSpPr>
          <p:cNvPr id="12" name="TextBox 11"/>
          <p:cNvSpPr txBox="1"/>
          <p:nvPr/>
        </p:nvSpPr>
        <p:spPr>
          <a:xfrm>
            <a:off x="2743200" y="2194560"/>
            <a:ext cx="1920240" cy="640080"/>
          </a:xfrm>
          <a:prstGeom prst="rect">
            <a:avLst/>
          </a:prstGeom>
          <a:noFill/>
        </p:spPr>
        <p:txBody>
          <a:bodyPr wrap="square">
            <a:spAutoFit/>
          </a:bodyPr>
          <a:lstStyle/>
          <a:p>
            <a:pPr algn="ctr">
              <a:defRPr sz="1000" b="0">
                <a:solidFill>
                  <a:srgbClr val="1A1A2E"/>
                </a:solidFill>
                <a:latin typeface="Segoe UI"/>
              </a:defRPr>
            </a:pPr>
            <a:r>
              <a:rPr>
                <a:latin typeface="Segoe UI"/>
                <a:ea typeface="Meiryo UI"/>
              </a:rPr>
              <a:t>入力整形・検証</a:t>
            </a:r>
            <a:br/>
            <a:r>
              <a:rPr>
                <a:latin typeface="Segoe UI"/>
                <a:ea typeface="Meiryo UI"/>
              </a:rPr>
              <a:t>スコアリング・JSON構築</a:t>
            </a:r>
          </a:p>
        </p:txBody>
      </p:sp>
      <p:sp>
        <p:nvSpPr>
          <p:cNvPr id="13" name="TextBox 12"/>
          <p:cNvSpPr txBox="1"/>
          <p:nvPr/>
        </p:nvSpPr>
        <p:spPr>
          <a:xfrm>
            <a:off x="2743200" y="2926080"/>
            <a:ext cx="1920240" cy="457200"/>
          </a:xfrm>
          <a:prstGeom prst="rect">
            <a:avLst/>
          </a:prstGeom>
          <a:noFill/>
        </p:spPr>
        <p:txBody>
          <a:bodyPr wrap="square">
            <a:spAutoFit/>
          </a:bodyPr>
          <a:lstStyle/>
          <a:p>
            <a:pPr algn="ctr">
              <a:defRPr sz="900" b="0">
                <a:solidFill>
                  <a:srgbClr val="4A5A6A"/>
                </a:solidFill>
                <a:latin typeface="Segoe UI"/>
              </a:defRPr>
            </a:pPr>
            <a:r>
              <a:rPr>
                <a:latin typeface="Segoe UI"/>
                <a:ea typeface="Meiryo UI"/>
              </a:rPr>
              <a:t>CMN-02,04,06,</a:t>
            </a:r>
            <a:br/>
            <a:r>
              <a:rPr>
                <a:latin typeface="Segoe UI"/>
                <a:ea typeface="Meiryo UI"/>
              </a:rPr>
              <a:t>07,08,09,10</a:t>
            </a:r>
          </a:p>
        </p:txBody>
      </p:sp>
      <p:sp>
        <p:nvSpPr>
          <p:cNvPr id="14" name="Rounded Rectangle 13"/>
          <p:cNvSpPr/>
          <p:nvPr/>
        </p:nvSpPr>
        <p:spPr>
          <a:xfrm>
            <a:off x="4937760" y="1188720"/>
            <a:ext cx="2103120" cy="2377440"/>
          </a:xfrm>
          <a:prstGeom prst="roundRect">
            <a:avLst/>
          </a:prstGeom>
          <a:solidFill>
            <a:srgbClr val="F3F0FA"/>
          </a:solidFill>
          <a:ln w="635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623560" y="1325880"/>
            <a:ext cx="731520" cy="731520"/>
          </a:xfrm>
          <a:prstGeom prst="ellipse">
            <a:avLst/>
          </a:prstGeom>
          <a:solidFill>
            <a:srgbClr val="008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0" y="13716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Knowledge</a:t>
            </a:r>
            <a:br/>
            <a:r>
              <a:rPr>
                <a:latin typeface="Segoe UI"/>
                <a:ea typeface="Meiryo UI"/>
              </a:rPr>
              <a:t>Retrieval</a:t>
            </a:r>
          </a:p>
        </p:txBody>
      </p:sp>
      <p:sp>
        <p:nvSpPr>
          <p:cNvPr id="17" name="TextBox 16"/>
          <p:cNvSpPr txBox="1"/>
          <p:nvPr/>
        </p:nvSpPr>
        <p:spPr>
          <a:xfrm>
            <a:off x="5029200" y="2194560"/>
            <a:ext cx="1920240" cy="640080"/>
          </a:xfrm>
          <a:prstGeom prst="rect">
            <a:avLst/>
          </a:prstGeom>
          <a:noFill/>
        </p:spPr>
        <p:txBody>
          <a:bodyPr wrap="square">
            <a:spAutoFit/>
          </a:bodyPr>
          <a:lstStyle/>
          <a:p>
            <a:pPr algn="ctr">
              <a:defRPr sz="1000" b="0">
                <a:solidFill>
                  <a:srgbClr val="1A1A2E"/>
                </a:solidFill>
                <a:latin typeface="Segoe UI"/>
              </a:defRPr>
            </a:pPr>
            <a:r>
              <a:rPr>
                <a:latin typeface="Segoe UI"/>
                <a:ea typeface="Meiryo UI"/>
              </a:rPr>
              <a:t>社内規程・FAQ</a:t>
            </a:r>
            <a:br/>
            <a:r>
              <a:rPr>
                <a:latin typeface="Segoe UI"/>
                <a:ea typeface="Meiryo UI"/>
              </a:rPr>
              <a:t>ガイドラインの検索</a:t>
            </a:r>
          </a:p>
        </p:txBody>
      </p:sp>
      <p:sp>
        <p:nvSpPr>
          <p:cNvPr id="18" name="TextBox 17"/>
          <p:cNvSpPr txBox="1"/>
          <p:nvPr/>
        </p:nvSpPr>
        <p:spPr>
          <a:xfrm>
            <a:off x="5029200" y="2926080"/>
            <a:ext cx="1920240" cy="457200"/>
          </a:xfrm>
          <a:prstGeom prst="rect">
            <a:avLst/>
          </a:prstGeom>
          <a:noFill/>
        </p:spPr>
        <p:txBody>
          <a:bodyPr wrap="square">
            <a:spAutoFit/>
          </a:bodyPr>
          <a:lstStyle/>
          <a:p>
            <a:pPr algn="ctr">
              <a:defRPr sz="900" b="0">
                <a:solidFill>
                  <a:srgbClr val="4A5A6A"/>
                </a:solidFill>
                <a:latin typeface="Segoe UI"/>
              </a:defRPr>
            </a:pPr>
            <a:r>
              <a:rPr>
                <a:latin typeface="Segoe UI"/>
                <a:ea typeface="Meiryo UI"/>
              </a:rPr>
              <a:t>CMN-01, 05, 06</a:t>
            </a:r>
          </a:p>
        </p:txBody>
      </p:sp>
      <p:sp>
        <p:nvSpPr>
          <p:cNvPr id="19" name="Rounded Rectangle 18"/>
          <p:cNvSpPr/>
          <p:nvPr/>
        </p:nvSpPr>
        <p:spPr>
          <a:xfrm>
            <a:off x="7223760" y="1188720"/>
            <a:ext cx="2103120" cy="2377440"/>
          </a:xfrm>
          <a:prstGeom prst="roundRect">
            <a:avLst/>
          </a:prstGeom>
          <a:solidFill>
            <a:srgbClr val="F3F0FA"/>
          </a:solidFill>
          <a:ln w="635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909560" y="1325880"/>
            <a:ext cx="731520" cy="731520"/>
          </a:xfrm>
          <a:prstGeom prst="ellipse">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13716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Question</a:t>
            </a:r>
            <a:br/>
            <a:r>
              <a:rPr>
                <a:latin typeface="Segoe UI"/>
                <a:ea typeface="Meiryo UI"/>
              </a:rPr>
              <a:t>Classifier</a:t>
            </a:r>
          </a:p>
        </p:txBody>
      </p:sp>
      <p:sp>
        <p:nvSpPr>
          <p:cNvPr id="22" name="TextBox 21"/>
          <p:cNvSpPr txBox="1"/>
          <p:nvPr/>
        </p:nvSpPr>
        <p:spPr>
          <a:xfrm>
            <a:off x="7315200" y="2194560"/>
            <a:ext cx="1920240" cy="640080"/>
          </a:xfrm>
          <a:prstGeom prst="rect">
            <a:avLst/>
          </a:prstGeom>
          <a:noFill/>
        </p:spPr>
        <p:txBody>
          <a:bodyPr wrap="square">
            <a:spAutoFit/>
          </a:bodyPr>
          <a:lstStyle/>
          <a:p>
            <a:pPr algn="ctr">
              <a:defRPr sz="1000" b="0">
                <a:solidFill>
                  <a:srgbClr val="1A1A2E"/>
                </a:solidFill>
                <a:latin typeface="Segoe UI"/>
              </a:defRPr>
            </a:pPr>
            <a:r>
              <a:rPr>
                <a:latin typeface="Segoe UI"/>
                <a:ea typeface="Meiryo UI"/>
              </a:rPr>
              <a:t>問い合わせ分類</a:t>
            </a:r>
            <a:br/>
            <a:r>
              <a:rPr>
                <a:latin typeface="Segoe UI"/>
                <a:ea typeface="Meiryo UI"/>
              </a:rPr>
              <a:t>メール種別判定</a:t>
            </a:r>
          </a:p>
        </p:txBody>
      </p:sp>
      <p:sp>
        <p:nvSpPr>
          <p:cNvPr id="23" name="TextBox 22"/>
          <p:cNvSpPr txBox="1"/>
          <p:nvPr/>
        </p:nvSpPr>
        <p:spPr>
          <a:xfrm>
            <a:off x="7315200" y="2926080"/>
            <a:ext cx="1920240" cy="457200"/>
          </a:xfrm>
          <a:prstGeom prst="rect">
            <a:avLst/>
          </a:prstGeom>
          <a:noFill/>
        </p:spPr>
        <p:txBody>
          <a:bodyPr wrap="square">
            <a:spAutoFit/>
          </a:bodyPr>
          <a:lstStyle/>
          <a:p>
            <a:pPr algn="ctr">
              <a:defRPr sz="900" b="0">
                <a:solidFill>
                  <a:srgbClr val="4A5A6A"/>
                </a:solidFill>
                <a:latin typeface="Segoe UI"/>
              </a:defRPr>
            </a:pPr>
            <a:r>
              <a:rPr>
                <a:latin typeface="Segoe UI"/>
                <a:ea typeface="Meiryo UI"/>
              </a:rPr>
              <a:t>CMN-05, 10</a:t>
            </a:r>
          </a:p>
        </p:txBody>
      </p:sp>
      <p:sp>
        <p:nvSpPr>
          <p:cNvPr id="24" name="Rounded Rectangle 23"/>
          <p:cNvSpPr/>
          <p:nvPr/>
        </p:nvSpPr>
        <p:spPr>
          <a:xfrm>
            <a:off x="9509760" y="1188720"/>
            <a:ext cx="2103120" cy="2377440"/>
          </a:xfrm>
          <a:prstGeom prst="roundRect">
            <a:avLst/>
          </a:prstGeom>
          <a:solidFill>
            <a:srgbClr val="F3F0FA"/>
          </a:solidFill>
          <a:ln w="635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195560" y="1325880"/>
            <a:ext cx="731520" cy="731520"/>
          </a:xfrm>
          <a:prstGeom prst="ellipse">
            <a:avLst/>
          </a:prstGeom>
          <a:solidFill>
            <a:srgbClr val="006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0" y="13716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Parameter</a:t>
            </a:r>
            <a:br/>
            <a:r>
              <a:rPr>
                <a:latin typeface="Segoe UI"/>
                <a:ea typeface="Meiryo UI"/>
              </a:rPr>
              <a:t>Extractor</a:t>
            </a:r>
          </a:p>
        </p:txBody>
      </p:sp>
      <p:sp>
        <p:nvSpPr>
          <p:cNvPr id="27" name="TextBox 26"/>
          <p:cNvSpPr txBox="1"/>
          <p:nvPr/>
        </p:nvSpPr>
        <p:spPr>
          <a:xfrm>
            <a:off x="9601200" y="2194560"/>
            <a:ext cx="1920240" cy="640080"/>
          </a:xfrm>
          <a:prstGeom prst="rect">
            <a:avLst/>
          </a:prstGeom>
          <a:noFill/>
        </p:spPr>
        <p:txBody>
          <a:bodyPr wrap="square">
            <a:spAutoFit/>
          </a:bodyPr>
          <a:lstStyle/>
          <a:p>
            <a:pPr algn="ctr">
              <a:defRPr sz="1000" b="0">
                <a:solidFill>
                  <a:srgbClr val="1A1A2E"/>
                </a:solidFill>
                <a:latin typeface="Segoe UI"/>
              </a:defRPr>
            </a:pPr>
            <a:r>
              <a:rPr>
                <a:latin typeface="Segoe UI"/>
                <a:ea typeface="Meiryo UI"/>
              </a:rPr>
              <a:t>経費・議事録・経歴</a:t>
            </a:r>
            <a:br/>
            <a:r>
              <a:rPr>
                <a:latin typeface="Segoe UI"/>
                <a:ea typeface="Meiryo UI"/>
              </a:rPr>
              <a:t>の構造化抽出</a:t>
            </a:r>
          </a:p>
        </p:txBody>
      </p:sp>
      <p:sp>
        <p:nvSpPr>
          <p:cNvPr id="28" name="TextBox 27"/>
          <p:cNvSpPr txBox="1"/>
          <p:nvPr/>
        </p:nvSpPr>
        <p:spPr>
          <a:xfrm>
            <a:off x="9601200" y="2926080"/>
            <a:ext cx="1920240" cy="457200"/>
          </a:xfrm>
          <a:prstGeom prst="rect">
            <a:avLst/>
          </a:prstGeom>
          <a:noFill/>
        </p:spPr>
        <p:txBody>
          <a:bodyPr wrap="square">
            <a:spAutoFit/>
          </a:bodyPr>
          <a:lstStyle/>
          <a:p>
            <a:pPr algn="ctr">
              <a:defRPr sz="900" b="0">
                <a:solidFill>
                  <a:srgbClr val="4A5A6A"/>
                </a:solidFill>
                <a:latin typeface="Segoe UI"/>
              </a:defRPr>
            </a:pPr>
            <a:r>
              <a:rPr>
                <a:latin typeface="Segoe UI"/>
                <a:ea typeface="Meiryo UI"/>
              </a:rPr>
              <a:t>CMN-03, 04, 08</a:t>
            </a:r>
          </a:p>
        </p:txBody>
      </p:sp>
      <p:sp>
        <p:nvSpPr>
          <p:cNvPr id="29" name="Rounded Rectangle 28"/>
          <p:cNvSpPr/>
          <p:nvPr/>
        </p:nvSpPr>
        <p:spPr>
          <a:xfrm>
            <a:off x="365760" y="3931920"/>
            <a:ext cx="2103120" cy="2377440"/>
          </a:xfrm>
          <a:prstGeom prst="roundRect">
            <a:avLst/>
          </a:prstGeom>
          <a:solidFill>
            <a:srgbClr val="F3F0FA"/>
          </a:solidFill>
          <a:ln w="635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51560" y="4069080"/>
            <a:ext cx="731520" cy="731520"/>
          </a:xfrm>
          <a:prstGeom prst="ellipse">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41148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IF/ELSE</a:t>
            </a:r>
          </a:p>
        </p:txBody>
      </p:sp>
      <p:sp>
        <p:nvSpPr>
          <p:cNvPr id="32" name="TextBox 31"/>
          <p:cNvSpPr txBox="1"/>
          <p:nvPr/>
        </p:nvSpPr>
        <p:spPr>
          <a:xfrm>
            <a:off x="457200" y="4937760"/>
            <a:ext cx="1920240" cy="640080"/>
          </a:xfrm>
          <a:prstGeom prst="rect">
            <a:avLst/>
          </a:prstGeom>
          <a:noFill/>
        </p:spPr>
        <p:txBody>
          <a:bodyPr wrap="square">
            <a:spAutoFit/>
          </a:bodyPr>
          <a:lstStyle/>
          <a:p>
            <a:pPr algn="ctr">
              <a:defRPr sz="1000" b="0">
                <a:solidFill>
                  <a:srgbClr val="1A1A2E"/>
                </a:solidFill>
                <a:latin typeface="Segoe UI"/>
              </a:defRPr>
            </a:pPr>
            <a:r>
              <a:rPr>
                <a:latin typeface="Segoe UI"/>
                <a:ea typeface="Meiryo UI"/>
              </a:rPr>
              <a:t>適合判定・スコア判定</a:t>
            </a:r>
            <a:br/>
            <a:r>
              <a:rPr>
                <a:latin typeface="Segoe UI"/>
                <a:ea typeface="Meiryo UI"/>
              </a:rPr>
              <a:t>入出力ガード</a:t>
            </a:r>
          </a:p>
        </p:txBody>
      </p:sp>
      <p:sp>
        <p:nvSpPr>
          <p:cNvPr id="33" name="TextBox 32"/>
          <p:cNvSpPr txBox="1"/>
          <p:nvPr/>
        </p:nvSpPr>
        <p:spPr>
          <a:xfrm>
            <a:off x="457200" y="5669280"/>
            <a:ext cx="1920240" cy="457200"/>
          </a:xfrm>
          <a:prstGeom prst="rect">
            <a:avLst/>
          </a:prstGeom>
          <a:noFill/>
        </p:spPr>
        <p:txBody>
          <a:bodyPr wrap="square">
            <a:spAutoFit/>
          </a:bodyPr>
          <a:lstStyle/>
          <a:p>
            <a:pPr algn="ctr">
              <a:defRPr sz="900" b="0">
                <a:solidFill>
                  <a:srgbClr val="4A5A6A"/>
                </a:solidFill>
                <a:latin typeface="Segoe UI"/>
              </a:defRPr>
            </a:pPr>
            <a:r>
              <a:rPr>
                <a:latin typeface="Segoe UI"/>
                <a:ea typeface="Meiryo UI"/>
              </a:rPr>
              <a:t>CMN-04,06,08,10</a:t>
            </a:r>
          </a:p>
        </p:txBody>
      </p:sp>
      <p:sp>
        <p:nvSpPr>
          <p:cNvPr id="34" name="Rounded Rectangle 33"/>
          <p:cNvSpPr/>
          <p:nvPr/>
        </p:nvSpPr>
        <p:spPr>
          <a:xfrm>
            <a:off x="2651760" y="3931920"/>
            <a:ext cx="2103120" cy="2377440"/>
          </a:xfrm>
          <a:prstGeom prst="roundRect">
            <a:avLst/>
          </a:prstGeom>
          <a:solidFill>
            <a:srgbClr val="F3F0FA"/>
          </a:solidFill>
          <a:ln w="635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337560" y="4069080"/>
            <a:ext cx="731520" cy="731520"/>
          </a:xfrm>
          <a:prstGeom prst="ellipse">
            <a:avLst/>
          </a:prstGeom>
          <a:solidFill>
            <a:srgbClr val="006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43200" y="41148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Iteration</a:t>
            </a:r>
          </a:p>
        </p:txBody>
      </p:sp>
      <p:sp>
        <p:nvSpPr>
          <p:cNvPr id="37" name="TextBox 36"/>
          <p:cNvSpPr txBox="1"/>
          <p:nvPr/>
        </p:nvSpPr>
        <p:spPr>
          <a:xfrm>
            <a:off x="2743200" y="4937760"/>
            <a:ext cx="1920240" cy="640080"/>
          </a:xfrm>
          <a:prstGeom prst="rect">
            <a:avLst/>
          </a:prstGeom>
          <a:noFill/>
        </p:spPr>
        <p:txBody>
          <a:bodyPr wrap="square">
            <a:spAutoFit/>
          </a:bodyPr>
          <a:lstStyle/>
          <a:p>
            <a:pPr algn="ctr">
              <a:defRPr sz="1000" b="0">
                <a:solidFill>
                  <a:srgbClr val="1A1A2E"/>
                </a:solidFill>
                <a:latin typeface="Segoe UI"/>
              </a:defRPr>
            </a:pPr>
            <a:r>
              <a:rPr>
                <a:latin typeface="Segoe UI"/>
                <a:ea typeface="Meiryo UI"/>
              </a:rPr>
              <a:t>部門KPIの</a:t>
            </a:r>
            <a:br/>
            <a:r>
              <a:rPr>
                <a:latin typeface="Segoe UI"/>
                <a:ea typeface="Meiryo UI"/>
              </a:rPr>
              <a:t>バッチAPI取得</a:t>
            </a:r>
          </a:p>
        </p:txBody>
      </p:sp>
      <p:sp>
        <p:nvSpPr>
          <p:cNvPr id="38" name="TextBox 37"/>
          <p:cNvSpPr txBox="1"/>
          <p:nvPr/>
        </p:nvSpPr>
        <p:spPr>
          <a:xfrm>
            <a:off x="2743200" y="5669280"/>
            <a:ext cx="1920240" cy="457200"/>
          </a:xfrm>
          <a:prstGeom prst="rect">
            <a:avLst/>
          </a:prstGeom>
          <a:noFill/>
        </p:spPr>
        <p:txBody>
          <a:bodyPr wrap="square">
            <a:spAutoFit/>
          </a:bodyPr>
          <a:lstStyle/>
          <a:p>
            <a:pPr algn="ctr">
              <a:defRPr sz="900" b="0">
                <a:solidFill>
                  <a:srgbClr val="4A5A6A"/>
                </a:solidFill>
                <a:latin typeface="Segoe UI"/>
              </a:defRPr>
            </a:pPr>
            <a:r>
              <a:rPr>
                <a:latin typeface="Segoe UI"/>
                <a:ea typeface="Meiryo UI"/>
              </a:rPr>
              <a:t>CMN-09</a:t>
            </a:r>
          </a:p>
        </p:txBody>
      </p:sp>
      <p:sp>
        <p:nvSpPr>
          <p:cNvPr id="39" name="Rounded Rectangle 38"/>
          <p:cNvSpPr/>
          <p:nvPr/>
        </p:nvSpPr>
        <p:spPr>
          <a:xfrm>
            <a:off x="4937760" y="3931920"/>
            <a:ext cx="2103120" cy="2377440"/>
          </a:xfrm>
          <a:prstGeom prst="roundRect">
            <a:avLst/>
          </a:prstGeom>
          <a:solidFill>
            <a:srgbClr val="F3F0FA"/>
          </a:solidFill>
          <a:ln w="635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623560" y="4069080"/>
            <a:ext cx="731520" cy="731520"/>
          </a:xfrm>
          <a:prstGeom prst="ellipse">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0" y="41148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Template</a:t>
            </a:r>
            <a:br/>
            <a:r>
              <a:rPr>
                <a:latin typeface="Segoe UI"/>
                <a:ea typeface="Meiryo UI"/>
              </a:rPr>
              <a:t>Transform</a:t>
            </a:r>
          </a:p>
        </p:txBody>
      </p:sp>
      <p:sp>
        <p:nvSpPr>
          <p:cNvPr id="42" name="TextBox 41"/>
          <p:cNvSpPr txBox="1"/>
          <p:nvPr/>
        </p:nvSpPr>
        <p:spPr>
          <a:xfrm>
            <a:off x="5029200" y="4937760"/>
            <a:ext cx="1920240" cy="640080"/>
          </a:xfrm>
          <a:prstGeom prst="rect">
            <a:avLst/>
          </a:prstGeom>
          <a:noFill/>
        </p:spPr>
        <p:txBody>
          <a:bodyPr wrap="square">
            <a:spAutoFit/>
          </a:bodyPr>
          <a:lstStyle/>
          <a:p>
            <a:pPr algn="ctr">
              <a:defRPr sz="1000" b="0">
                <a:solidFill>
                  <a:srgbClr val="1A1A2E"/>
                </a:solidFill>
                <a:latin typeface="Segoe UI"/>
              </a:defRPr>
            </a:pPr>
            <a:r>
              <a:rPr>
                <a:latin typeface="Segoe UI"/>
                <a:ea typeface="Meiryo UI"/>
              </a:rPr>
              <a:t>日報・議事録・稟議</a:t>
            </a:r>
            <a:br/>
            <a:r>
              <a:rPr>
                <a:latin typeface="Segoe UI"/>
                <a:ea typeface="Meiryo UI"/>
              </a:rPr>
              <a:t>のフォーマット整形</a:t>
            </a:r>
          </a:p>
        </p:txBody>
      </p:sp>
      <p:sp>
        <p:nvSpPr>
          <p:cNvPr id="43" name="TextBox 42"/>
          <p:cNvSpPr txBox="1"/>
          <p:nvPr/>
        </p:nvSpPr>
        <p:spPr>
          <a:xfrm>
            <a:off x="5029200" y="5669280"/>
            <a:ext cx="1920240" cy="457200"/>
          </a:xfrm>
          <a:prstGeom prst="rect">
            <a:avLst/>
          </a:prstGeom>
          <a:noFill/>
        </p:spPr>
        <p:txBody>
          <a:bodyPr wrap="square">
            <a:spAutoFit/>
          </a:bodyPr>
          <a:lstStyle/>
          <a:p>
            <a:pPr algn="ctr">
              <a:defRPr sz="900" b="0">
                <a:solidFill>
                  <a:srgbClr val="4A5A6A"/>
                </a:solidFill>
                <a:latin typeface="Segoe UI"/>
              </a:defRPr>
            </a:pPr>
            <a:r>
              <a:rPr>
                <a:latin typeface="Segoe UI"/>
                <a:ea typeface="Meiryo UI"/>
              </a:rPr>
              <a:t>CMN-02,03,04,</a:t>
            </a:r>
            <a:br/>
            <a:r>
              <a:rPr>
                <a:latin typeface="Segoe UI"/>
                <a:ea typeface="Meiryo UI"/>
              </a:rPr>
              <a:t>06,07,08,10</a:t>
            </a:r>
          </a:p>
        </p:txBody>
      </p:sp>
      <p:sp>
        <p:nvSpPr>
          <p:cNvPr id="44" name="Rounded Rectangle 43"/>
          <p:cNvSpPr/>
          <p:nvPr/>
        </p:nvSpPr>
        <p:spPr>
          <a:xfrm>
            <a:off x="7223760" y="3931920"/>
            <a:ext cx="2103120" cy="2377440"/>
          </a:xfrm>
          <a:prstGeom prst="roundRect">
            <a:avLst/>
          </a:prstGeom>
          <a:solidFill>
            <a:srgbClr val="F3F0FA"/>
          </a:solidFill>
          <a:ln w="635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909560" y="4069080"/>
            <a:ext cx="731520" cy="731520"/>
          </a:xfrm>
          <a:prstGeom prst="ellipse">
            <a:avLst/>
          </a:prstGeom>
          <a:solidFill>
            <a:srgbClr val="555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0" y="41148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Variable</a:t>
            </a:r>
            <a:br/>
            <a:r>
              <a:rPr>
                <a:latin typeface="Segoe UI"/>
                <a:ea typeface="Meiryo UI"/>
              </a:rPr>
              <a:t>Aggregator</a:t>
            </a:r>
          </a:p>
        </p:txBody>
      </p:sp>
      <p:sp>
        <p:nvSpPr>
          <p:cNvPr id="47" name="TextBox 46"/>
          <p:cNvSpPr txBox="1"/>
          <p:nvPr/>
        </p:nvSpPr>
        <p:spPr>
          <a:xfrm>
            <a:off x="7315200" y="4937760"/>
            <a:ext cx="1920240" cy="640080"/>
          </a:xfrm>
          <a:prstGeom prst="rect">
            <a:avLst/>
          </a:prstGeom>
          <a:noFill/>
        </p:spPr>
        <p:txBody>
          <a:bodyPr wrap="square">
            <a:spAutoFit/>
          </a:bodyPr>
          <a:lstStyle/>
          <a:p>
            <a:pPr algn="ctr">
              <a:defRPr sz="1000" b="0">
                <a:solidFill>
                  <a:srgbClr val="1A1A2E"/>
                </a:solidFill>
                <a:latin typeface="Segoe UI"/>
              </a:defRPr>
            </a:pPr>
            <a:r>
              <a:rPr>
                <a:latin typeface="Segoe UI"/>
                <a:ea typeface="Meiryo UI"/>
              </a:rPr>
              <a:t>分岐結果の</a:t>
            </a:r>
            <a:br/>
            <a:r>
              <a:rPr>
                <a:latin typeface="Segoe UI"/>
                <a:ea typeface="Meiryo UI"/>
              </a:rPr>
              <a:t>統合・集約</a:t>
            </a:r>
          </a:p>
        </p:txBody>
      </p:sp>
      <p:sp>
        <p:nvSpPr>
          <p:cNvPr id="48" name="TextBox 47"/>
          <p:cNvSpPr txBox="1"/>
          <p:nvPr/>
        </p:nvSpPr>
        <p:spPr>
          <a:xfrm>
            <a:off x="7315200" y="5669280"/>
            <a:ext cx="1920240" cy="457200"/>
          </a:xfrm>
          <a:prstGeom prst="rect">
            <a:avLst/>
          </a:prstGeom>
          <a:noFill/>
        </p:spPr>
        <p:txBody>
          <a:bodyPr wrap="square">
            <a:spAutoFit/>
          </a:bodyPr>
          <a:lstStyle/>
          <a:p>
            <a:pPr algn="ctr">
              <a:defRPr sz="900" b="0">
                <a:solidFill>
                  <a:srgbClr val="4A5A6A"/>
                </a:solidFill>
                <a:latin typeface="Segoe UI"/>
              </a:defRPr>
            </a:pPr>
            <a:r>
              <a:rPr>
                <a:latin typeface="Segoe UI"/>
                <a:ea typeface="Meiryo UI"/>
              </a:rPr>
              <a:t>CMN-03,04,</a:t>
            </a:r>
            <a:br/>
            <a:r>
              <a:rPr>
                <a:latin typeface="Segoe UI"/>
                <a:ea typeface="Meiryo UI"/>
              </a:rPr>
              <a:t>08,10</a:t>
            </a:r>
          </a:p>
        </p:txBody>
      </p:sp>
      <p:sp>
        <p:nvSpPr>
          <p:cNvPr id="49" name="Rounded Rectangle 48"/>
          <p:cNvSpPr/>
          <p:nvPr/>
        </p:nvSpPr>
        <p:spPr>
          <a:xfrm>
            <a:off x="9509760" y="3931920"/>
            <a:ext cx="2103120" cy="2377440"/>
          </a:xfrm>
          <a:prstGeom prst="roundRect">
            <a:avLst/>
          </a:prstGeom>
          <a:solidFill>
            <a:srgbClr val="F3F0FA"/>
          </a:solidFill>
          <a:ln w="635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195560" y="4069080"/>
            <a:ext cx="731520" cy="731520"/>
          </a:xfrm>
          <a:prstGeom prst="ellipse">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601200" y="41148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HTTP</a:t>
            </a:r>
            <a:br/>
            <a:r>
              <a:rPr>
                <a:latin typeface="Segoe UI"/>
                <a:ea typeface="Meiryo UI"/>
              </a:rPr>
              <a:t>Request</a:t>
            </a:r>
          </a:p>
        </p:txBody>
      </p:sp>
      <p:sp>
        <p:nvSpPr>
          <p:cNvPr id="52" name="TextBox 51"/>
          <p:cNvSpPr txBox="1"/>
          <p:nvPr/>
        </p:nvSpPr>
        <p:spPr>
          <a:xfrm>
            <a:off x="9601200" y="4937760"/>
            <a:ext cx="1920240" cy="640080"/>
          </a:xfrm>
          <a:prstGeom prst="rect">
            <a:avLst/>
          </a:prstGeom>
          <a:noFill/>
        </p:spPr>
        <p:txBody>
          <a:bodyPr wrap="square">
            <a:spAutoFit/>
          </a:bodyPr>
          <a:lstStyle/>
          <a:p>
            <a:pPr algn="ctr">
              <a:defRPr sz="1000" b="0">
                <a:solidFill>
                  <a:srgbClr val="1A1A2E"/>
                </a:solidFill>
                <a:latin typeface="Segoe UI"/>
              </a:defRPr>
            </a:pPr>
            <a:r>
              <a:rPr>
                <a:latin typeface="Segoe UI"/>
                <a:ea typeface="Meiryo UI"/>
              </a:rPr>
              <a:t>外部API連携</a:t>
            </a:r>
            <a:br/>
            <a:r>
              <a:rPr>
                <a:latin typeface="Segoe UI"/>
                <a:ea typeface="Meiryo UI"/>
              </a:rPr>
              <a:t>（KPIデータ取得）</a:t>
            </a:r>
          </a:p>
        </p:txBody>
      </p:sp>
      <p:sp>
        <p:nvSpPr>
          <p:cNvPr id="53" name="TextBox 52"/>
          <p:cNvSpPr txBox="1"/>
          <p:nvPr/>
        </p:nvSpPr>
        <p:spPr>
          <a:xfrm>
            <a:off x="9601200" y="5669280"/>
            <a:ext cx="1920240" cy="457200"/>
          </a:xfrm>
          <a:prstGeom prst="rect">
            <a:avLst/>
          </a:prstGeom>
          <a:noFill/>
        </p:spPr>
        <p:txBody>
          <a:bodyPr wrap="square">
            <a:spAutoFit/>
          </a:bodyPr>
          <a:lstStyle/>
          <a:p>
            <a:pPr algn="ctr">
              <a:defRPr sz="900" b="0">
                <a:solidFill>
                  <a:srgbClr val="4A5A6A"/>
                </a:solidFill>
                <a:latin typeface="Segoe UI"/>
              </a:defRPr>
            </a:pPr>
            <a:r>
              <a:rPr>
                <a:latin typeface="Segoe UI"/>
                <a:ea typeface="Meiryo UI"/>
              </a:rPr>
              <a:t>CMN-09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1A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600" b="1">
                <a:solidFill>
                  <a:srgbClr val="FFFFFF"/>
                </a:solidFill>
                <a:latin typeface="Segoe UI"/>
              </a:defRPr>
            </a:pPr>
            <a:r>
              <a:rPr>
                <a:latin typeface="Segoe UI"/>
                <a:ea typeface="Meiryo UI"/>
              </a:rPr>
              <a:t>導入ステップ</a:t>
            </a:r>
          </a:p>
        </p:txBody>
      </p:sp>
      <p:sp>
        <p:nvSpPr>
          <p:cNvPr id="4" name="Oval 3"/>
          <p:cNvSpPr/>
          <p:nvPr/>
        </p:nvSpPr>
        <p:spPr>
          <a:xfrm>
            <a:off x="960120" y="1371600"/>
            <a:ext cx="914400" cy="914400"/>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63040"/>
            <a:ext cx="914400" cy="731520"/>
          </a:xfrm>
          <a:prstGeom prst="rect">
            <a:avLst/>
          </a:prstGeom>
          <a:noFill/>
        </p:spPr>
        <p:txBody>
          <a:bodyPr wrap="square">
            <a:spAutoFit/>
          </a:bodyPr>
          <a:lstStyle/>
          <a:p>
            <a:pPr algn="ctr">
              <a:defRPr sz="1300" b="1">
                <a:solidFill>
                  <a:srgbClr val="FFFFFF"/>
                </a:solidFill>
                <a:latin typeface="Segoe UI"/>
              </a:defRPr>
            </a:pPr>
            <a:r>
              <a:rPr>
                <a:latin typeface="Segoe UI"/>
                <a:ea typeface="Meiryo UI"/>
              </a:rPr>
              <a:t>STEP 1</a:t>
            </a:r>
          </a:p>
        </p:txBody>
      </p:sp>
      <p:sp>
        <p:nvSpPr>
          <p:cNvPr id="6" name="Right Arrow 5"/>
          <p:cNvSpPr/>
          <p:nvPr/>
        </p:nvSpPr>
        <p:spPr>
          <a:xfrm>
            <a:off x="2011680" y="1645920"/>
            <a:ext cx="457200" cy="365760"/>
          </a:xfrm>
          <a:prstGeom prst="rightArrow">
            <a:avLst/>
          </a:prstGeom>
          <a:solidFill>
            <a:srgbClr val="D0D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2468880"/>
            <a:ext cx="2103120" cy="365760"/>
          </a:xfrm>
          <a:prstGeom prst="rect">
            <a:avLst/>
          </a:prstGeom>
          <a:noFill/>
        </p:spPr>
        <p:txBody>
          <a:bodyPr wrap="square">
            <a:spAutoFit/>
          </a:bodyPr>
          <a:lstStyle/>
          <a:p>
            <a:pPr algn="ctr">
              <a:defRPr sz="1600" b="1">
                <a:solidFill>
                  <a:srgbClr val="1A1A2E"/>
                </a:solidFill>
                <a:latin typeface="Segoe UI"/>
              </a:defRPr>
            </a:pPr>
            <a:r>
              <a:rPr>
                <a:latin typeface="Segoe UI"/>
                <a:ea typeface="Meiryo UI"/>
              </a:rPr>
              <a:t>インポート</a:t>
            </a:r>
          </a:p>
        </p:txBody>
      </p:sp>
      <p:sp>
        <p:nvSpPr>
          <p:cNvPr id="8" name="Rounded Rectangle 7"/>
          <p:cNvSpPr/>
          <p:nvPr/>
        </p:nvSpPr>
        <p:spPr>
          <a:xfrm>
            <a:off x="365760" y="3017520"/>
            <a:ext cx="2103120" cy="2011680"/>
          </a:xfrm>
          <a:prstGeom prst="roundRect">
            <a:avLst/>
          </a:prstGeom>
          <a:solidFill>
            <a:srgbClr val="F3F0FA"/>
          </a:solidFill>
          <a:ln w="635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154680"/>
            <a:ext cx="1828800" cy="1280160"/>
          </a:xfrm>
          <a:prstGeom prst="rect">
            <a:avLst/>
          </a:prstGeom>
          <a:noFill/>
        </p:spPr>
        <p:txBody>
          <a:bodyPr wrap="square">
            <a:spAutoFit/>
          </a:bodyPr>
          <a:lstStyle/>
          <a:p>
            <a:pPr algn="ctr">
              <a:defRPr sz="1100" b="0">
                <a:solidFill>
                  <a:srgbClr val="1A1A2E"/>
                </a:solidFill>
                <a:latin typeface="Segoe UI"/>
              </a:defRPr>
            </a:pPr>
            <a:r>
              <a:rPr>
                <a:latin typeface="Segoe UI"/>
                <a:ea typeface="Meiryo UI"/>
              </a:rPr>
              <a:t>DSL ファイルを Dify の</a:t>
            </a:r>
            <a:br/>
            <a:r>
              <a:rPr>
                <a:latin typeface="Segoe UI"/>
                <a:ea typeface="Meiryo UI"/>
              </a:rPr>
              <a:t>「スタジオ」画面から</a:t>
            </a:r>
            <a:br/>
            <a:r>
              <a:rPr>
                <a:latin typeface="Segoe UI"/>
                <a:ea typeface="Meiryo UI"/>
              </a:rPr>
              <a:t>インポート</a:t>
            </a:r>
          </a:p>
        </p:txBody>
      </p:sp>
      <p:sp>
        <p:nvSpPr>
          <p:cNvPr id="10" name="TextBox 9"/>
          <p:cNvSpPr txBox="1"/>
          <p:nvPr/>
        </p:nvSpPr>
        <p:spPr>
          <a:xfrm>
            <a:off x="502920" y="4480560"/>
            <a:ext cx="1828800" cy="274320"/>
          </a:xfrm>
          <a:prstGeom prst="rect">
            <a:avLst/>
          </a:prstGeom>
          <a:noFill/>
        </p:spPr>
        <p:txBody>
          <a:bodyPr wrap="square">
            <a:spAutoFit/>
          </a:bodyPr>
          <a:lstStyle/>
          <a:p>
            <a:pPr algn="ctr">
              <a:defRPr sz="1000" b="1">
                <a:solidFill>
                  <a:srgbClr val="5C6BC0"/>
                </a:solidFill>
                <a:latin typeface="Segoe UI"/>
              </a:defRPr>
            </a:pPr>
            <a:r>
              <a:rPr>
                <a:latin typeface="Segoe UI"/>
                <a:ea typeface="Meiryo UI"/>
              </a:rPr>
              <a:t>所要: 数分</a:t>
            </a:r>
          </a:p>
        </p:txBody>
      </p:sp>
      <p:sp>
        <p:nvSpPr>
          <p:cNvPr id="11" name="Oval 10"/>
          <p:cNvSpPr/>
          <p:nvPr/>
        </p:nvSpPr>
        <p:spPr>
          <a:xfrm>
            <a:off x="3246120" y="1371600"/>
            <a:ext cx="914400" cy="914400"/>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46120" y="1463040"/>
            <a:ext cx="914400" cy="731520"/>
          </a:xfrm>
          <a:prstGeom prst="rect">
            <a:avLst/>
          </a:prstGeom>
          <a:noFill/>
        </p:spPr>
        <p:txBody>
          <a:bodyPr wrap="square">
            <a:spAutoFit/>
          </a:bodyPr>
          <a:lstStyle/>
          <a:p>
            <a:pPr algn="ctr">
              <a:defRPr sz="1300" b="1">
                <a:solidFill>
                  <a:srgbClr val="FFFFFF"/>
                </a:solidFill>
                <a:latin typeface="Segoe UI"/>
              </a:defRPr>
            </a:pPr>
            <a:r>
              <a:rPr>
                <a:latin typeface="Segoe UI"/>
                <a:ea typeface="Meiryo UI"/>
              </a:rPr>
              <a:t>STEP 2</a:t>
            </a:r>
          </a:p>
        </p:txBody>
      </p:sp>
      <p:sp>
        <p:nvSpPr>
          <p:cNvPr id="13" name="Right Arrow 12"/>
          <p:cNvSpPr/>
          <p:nvPr/>
        </p:nvSpPr>
        <p:spPr>
          <a:xfrm>
            <a:off x="4297680" y="1645920"/>
            <a:ext cx="457200" cy="365760"/>
          </a:xfrm>
          <a:prstGeom prst="rightArrow">
            <a:avLst/>
          </a:prstGeom>
          <a:solidFill>
            <a:srgbClr val="D0D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51760" y="2468880"/>
            <a:ext cx="2103120" cy="365760"/>
          </a:xfrm>
          <a:prstGeom prst="rect">
            <a:avLst/>
          </a:prstGeom>
          <a:noFill/>
        </p:spPr>
        <p:txBody>
          <a:bodyPr wrap="square">
            <a:spAutoFit/>
          </a:bodyPr>
          <a:lstStyle/>
          <a:p>
            <a:pPr algn="ctr">
              <a:defRPr sz="1600" b="1">
                <a:solidFill>
                  <a:srgbClr val="1A1A2E"/>
                </a:solidFill>
                <a:latin typeface="Segoe UI"/>
              </a:defRPr>
            </a:pPr>
            <a:r>
              <a:rPr>
                <a:latin typeface="Segoe UI"/>
                <a:ea typeface="Meiryo UI"/>
              </a:rPr>
              <a:t>モデル設定</a:t>
            </a:r>
          </a:p>
        </p:txBody>
      </p:sp>
      <p:sp>
        <p:nvSpPr>
          <p:cNvPr id="15" name="Rounded Rectangle 14"/>
          <p:cNvSpPr/>
          <p:nvPr/>
        </p:nvSpPr>
        <p:spPr>
          <a:xfrm>
            <a:off x="2651760" y="3017520"/>
            <a:ext cx="2103120" cy="2011680"/>
          </a:xfrm>
          <a:prstGeom prst="roundRect">
            <a:avLst/>
          </a:prstGeom>
          <a:solidFill>
            <a:srgbClr val="F3F0FA"/>
          </a:solidFill>
          <a:ln w="635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88920" y="3154680"/>
            <a:ext cx="1828800" cy="1280160"/>
          </a:xfrm>
          <a:prstGeom prst="rect">
            <a:avLst/>
          </a:prstGeom>
          <a:noFill/>
        </p:spPr>
        <p:txBody>
          <a:bodyPr wrap="square">
            <a:spAutoFit/>
          </a:bodyPr>
          <a:lstStyle/>
          <a:p>
            <a:pPr algn="ctr">
              <a:defRPr sz="1100" b="0">
                <a:solidFill>
                  <a:srgbClr val="1A1A2E"/>
                </a:solidFill>
                <a:latin typeface="Segoe UI"/>
              </a:defRPr>
            </a:pPr>
            <a:r>
              <a:rPr>
                <a:latin typeface="Segoe UI"/>
                <a:ea typeface="Meiryo UI"/>
              </a:rPr>
              <a:t>openai / gpt-4o-mini を</a:t>
            </a:r>
            <a:br/>
            <a:r>
              <a:rPr>
                <a:latin typeface="Segoe UI"/>
                <a:ea typeface="Meiryo UI"/>
              </a:rPr>
              <a:t>利用可能な LLM</a:t>
            </a:r>
            <a:br/>
            <a:r>
              <a:rPr>
                <a:latin typeface="Segoe UI"/>
                <a:ea typeface="Meiryo UI"/>
              </a:rPr>
              <a:t>プロバイダーに変更</a:t>
            </a:r>
          </a:p>
        </p:txBody>
      </p:sp>
      <p:sp>
        <p:nvSpPr>
          <p:cNvPr id="17" name="TextBox 16"/>
          <p:cNvSpPr txBox="1"/>
          <p:nvPr/>
        </p:nvSpPr>
        <p:spPr>
          <a:xfrm>
            <a:off x="2788920" y="4480560"/>
            <a:ext cx="1828800" cy="274320"/>
          </a:xfrm>
          <a:prstGeom prst="rect">
            <a:avLst/>
          </a:prstGeom>
          <a:noFill/>
        </p:spPr>
        <p:txBody>
          <a:bodyPr wrap="square">
            <a:spAutoFit/>
          </a:bodyPr>
          <a:lstStyle/>
          <a:p>
            <a:pPr algn="ctr">
              <a:defRPr sz="1000" b="1">
                <a:solidFill>
                  <a:srgbClr val="5C6BC0"/>
                </a:solidFill>
                <a:latin typeface="Segoe UI"/>
              </a:defRPr>
            </a:pPr>
            <a:r>
              <a:rPr>
                <a:latin typeface="Segoe UI"/>
                <a:ea typeface="Meiryo UI"/>
              </a:rPr>
              <a:t>所要: 数分</a:t>
            </a:r>
          </a:p>
        </p:txBody>
      </p:sp>
      <p:sp>
        <p:nvSpPr>
          <p:cNvPr id="18" name="Oval 17"/>
          <p:cNvSpPr/>
          <p:nvPr/>
        </p:nvSpPr>
        <p:spPr>
          <a:xfrm>
            <a:off x="5532120" y="1371600"/>
            <a:ext cx="914400" cy="914400"/>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32120" y="1463040"/>
            <a:ext cx="914400" cy="731520"/>
          </a:xfrm>
          <a:prstGeom prst="rect">
            <a:avLst/>
          </a:prstGeom>
          <a:noFill/>
        </p:spPr>
        <p:txBody>
          <a:bodyPr wrap="square">
            <a:spAutoFit/>
          </a:bodyPr>
          <a:lstStyle/>
          <a:p>
            <a:pPr algn="ctr">
              <a:defRPr sz="1300" b="1">
                <a:solidFill>
                  <a:srgbClr val="FFFFFF"/>
                </a:solidFill>
                <a:latin typeface="Segoe UI"/>
              </a:defRPr>
            </a:pPr>
            <a:r>
              <a:rPr>
                <a:latin typeface="Segoe UI"/>
                <a:ea typeface="Meiryo UI"/>
              </a:rPr>
              <a:t>STEP 3</a:t>
            </a:r>
          </a:p>
        </p:txBody>
      </p:sp>
      <p:sp>
        <p:nvSpPr>
          <p:cNvPr id="20" name="Right Arrow 19"/>
          <p:cNvSpPr/>
          <p:nvPr/>
        </p:nvSpPr>
        <p:spPr>
          <a:xfrm>
            <a:off x="6583680" y="1645920"/>
            <a:ext cx="457200" cy="365760"/>
          </a:xfrm>
          <a:prstGeom prst="rightArrow">
            <a:avLst/>
          </a:prstGeom>
          <a:solidFill>
            <a:srgbClr val="D0D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37760" y="2468880"/>
            <a:ext cx="2103120" cy="365760"/>
          </a:xfrm>
          <a:prstGeom prst="rect">
            <a:avLst/>
          </a:prstGeom>
          <a:noFill/>
        </p:spPr>
        <p:txBody>
          <a:bodyPr wrap="square">
            <a:spAutoFit/>
          </a:bodyPr>
          <a:lstStyle/>
          <a:p>
            <a:pPr algn="ctr">
              <a:defRPr sz="1600" b="1">
                <a:solidFill>
                  <a:srgbClr val="1A1A2E"/>
                </a:solidFill>
                <a:latin typeface="Segoe UI"/>
              </a:defRPr>
            </a:pPr>
            <a:r>
              <a:rPr>
                <a:latin typeface="Segoe UI"/>
                <a:ea typeface="Meiryo UI"/>
              </a:rPr>
              <a:t>KB 構築</a:t>
            </a:r>
          </a:p>
        </p:txBody>
      </p:sp>
      <p:sp>
        <p:nvSpPr>
          <p:cNvPr id="22" name="Rounded Rectangle 21"/>
          <p:cNvSpPr/>
          <p:nvPr/>
        </p:nvSpPr>
        <p:spPr>
          <a:xfrm>
            <a:off x="4937760" y="3017520"/>
            <a:ext cx="2103120" cy="2011680"/>
          </a:xfrm>
          <a:prstGeom prst="roundRect">
            <a:avLst/>
          </a:prstGeom>
          <a:solidFill>
            <a:srgbClr val="F3F0FA"/>
          </a:solidFill>
          <a:ln w="635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74920" y="3154680"/>
            <a:ext cx="1828800" cy="1280160"/>
          </a:xfrm>
          <a:prstGeom prst="rect">
            <a:avLst/>
          </a:prstGeom>
          <a:noFill/>
        </p:spPr>
        <p:txBody>
          <a:bodyPr wrap="square">
            <a:spAutoFit/>
          </a:bodyPr>
          <a:lstStyle/>
          <a:p>
            <a:pPr algn="ctr">
              <a:defRPr sz="1100" b="0">
                <a:solidFill>
                  <a:srgbClr val="1A1A2E"/>
                </a:solidFill>
                <a:latin typeface="Segoe UI"/>
              </a:defRPr>
            </a:pPr>
            <a:r>
              <a:rPr>
                <a:latin typeface="Segoe UI"/>
                <a:ea typeface="Meiryo UI"/>
              </a:rPr>
              <a:t>社内規程・FAQ・</a:t>
            </a:r>
            <a:br/>
            <a:r>
              <a:rPr>
                <a:latin typeface="Segoe UI"/>
                <a:ea typeface="Meiryo UI"/>
              </a:rPr>
              <a:t>契約ガイドライン等を</a:t>
            </a:r>
            <a:br/>
            <a:r>
              <a:rPr>
                <a:latin typeface="Segoe UI"/>
                <a:ea typeface="Meiryo UI"/>
              </a:rPr>
              <a:t>ナレッジベースに登録</a:t>
            </a:r>
          </a:p>
        </p:txBody>
      </p:sp>
      <p:sp>
        <p:nvSpPr>
          <p:cNvPr id="24" name="TextBox 23"/>
          <p:cNvSpPr txBox="1"/>
          <p:nvPr/>
        </p:nvSpPr>
        <p:spPr>
          <a:xfrm>
            <a:off x="5074920" y="4480560"/>
            <a:ext cx="1828800" cy="274320"/>
          </a:xfrm>
          <a:prstGeom prst="rect">
            <a:avLst/>
          </a:prstGeom>
          <a:noFill/>
        </p:spPr>
        <p:txBody>
          <a:bodyPr wrap="square">
            <a:spAutoFit/>
          </a:bodyPr>
          <a:lstStyle/>
          <a:p>
            <a:pPr algn="ctr">
              <a:defRPr sz="1000" b="1">
                <a:solidFill>
                  <a:srgbClr val="5C6BC0"/>
                </a:solidFill>
                <a:latin typeface="Segoe UI"/>
              </a:defRPr>
            </a:pPr>
            <a:r>
              <a:rPr>
                <a:latin typeface="Segoe UI"/>
                <a:ea typeface="Meiryo UI"/>
              </a:rPr>
              <a:t>所要: 数時間</a:t>
            </a:r>
          </a:p>
        </p:txBody>
      </p:sp>
      <p:sp>
        <p:nvSpPr>
          <p:cNvPr id="25" name="Oval 24"/>
          <p:cNvSpPr/>
          <p:nvPr/>
        </p:nvSpPr>
        <p:spPr>
          <a:xfrm>
            <a:off x="7818120" y="1371600"/>
            <a:ext cx="914400" cy="914400"/>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18120" y="1463040"/>
            <a:ext cx="914400" cy="731520"/>
          </a:xfrm>
          <a:prstGeom prst="rect">
            <a:avLst/>
          </a:prstGeom>
          <a:noFill/>
        </p:spPr>
        <p:txBody>
          <a:bodyPr wrap="square">
            <a:spAutoFit/>
          </a:bodyPr>
          <a:lstStyle/>
          <a:p>
            <a:pPr algn="ctr">
              <a:defRPr sz="1300" b="1">
                <a:solidFill>
                  <a:srgbClr val="FFFFFF"/>
                </a:solidFill>
                <a:latin typeface="Segoe UI"/>
              </a:defRPr>
            </a:pPr>
            <a:r>
              <a:rPr>
                <a:latin typeface="Segoe UI"/>
                <a:ea typeface="Meiryo UI"/>
              </a:rPr>
              <a:t>STEP 4</a:t>
            </a:r>
          </a:p>
        </p:txBody>
      </p:sp>
      <p:sp>
        <p:nvSpPr>
          <p:cNvPr id="27" name="Right Arrow 26"/>
          <p:cNvSpPr/>
          <p:nvPr/>
        </p:nvSpPr>
        <p:spPr>
          <a:xfrm>
            <a:off x="8869680" y="1645920"/>
            <a:ext cx="457200" cy="365760"/>
          </a:xfrm>
          <a:prstGeom prst="rightArrow">
            <a:avLst/>
          </a:prstGeom>
          <a:solidFill>
            <a:srgbClr val="D0D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23760" y="2468880"/>
            <a:ext cx="2103120" cy="365760"/>
          </a:xfrm>
          <a:prstGeom prst="rect">
            <a:avLst/>
          </a:prstGeom>
          <a:noFill/>
        </p:spPr>
        <p:txBody>
          <a:bodyPr wrap="square">
            <a:spAutoFit/>
          </a:bodyPr>
          <a:lstStyle/>
          <a:p>
            <a:pPr algn="ctr">
              <a:defRPr sz="1600" b="1">
                <a:solidFill>
                  <a:srgbClr val="1A1A2E"/>
                </a:solidFill>
                <a:latin typeface="Segoe UI"/>
              </a:defRPr>
            </a:pPr>
            <a:r>
              <a:rPr>
                <a:latin typeface="Segoe UI"/>
                <a:ea typeface="Meiryo UI"/>
              </a:rPr>
              <a:t>閾値・書式調整</a:t>
            </a:r>
          </a:p>
        </p:txBody>
      </p:sp>
      <p:sp>
        <p:nvSpPr>
          <p:cNvPr id="29" name="Rounded Rectangle 28"/>
          <p:cNvSpPr/>
          <p:nvPr/>
        </p:nvSpPr>
        <p:spPr>
          <a:xfrm>
            <a:off x="7223760" y="3017520"/>
            <a:ext cx="2103120" cy="2011680"/>
          </a:xfrm>
          <a:prstGeom prst="roundRect">
            <a:avLst/>
          </a:prstGeom>
          <a:solidFill>
            <a:srgbClr val="F3F0FA"/>
          </a:solidFill>
          <a:ln w="635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60920" y="3154680"/>
            <a:ext cx="1828800" cy="1280160"/>
          </a:xfrm>
          <a:prstGeom prst="rect">
            <a:avLst/>
          </a:prstGeom>
          <a:noFill/>
        </p:spPr>
        <p:txBody>
          <a:bodyPr wrap="square">
            <a:spAutoFit/>
          </a:bodyPr>
          <a:lstStyle/>
          <a:p>
            <a:pPr algn="ctr">
              <a:defRPr sz="1100" b="0">
                <a:solidFill>
                  <a:srgbClr val="1A1A2E"/>
                </a:solidFill>
                <a:latin typeface="Segoe UI"/>
              </a:defRPr>
            </a:pPr>
            <a:r>
              <a:rPr>
                <a:latin typeface="Segoe UI"/>
                <a:ea typeface="Meiryo UI"/>
              </a:rPr>
              <a:t>経費上限額、</a:t>
            </a:r>
            <a:br/>
            <a:r>
              <a:rPr>
                <a:latin typeface="Segoe UI"/>
                <a:ea typeface="Meiryo UI"/>
              </a:rPr>
              <a:t>稟議書フォーマット、</a:t>
            </a:r>
            <a:br/>
            <a:r>
              <a:rPr>
                <a:latin typeface="Segoe UI"/>
                <a:ea typeface="Meiryo UI"/>
              </a:rPr>
              <a:t>スキル要件を自社仕様に</a:t>
            </a:r>
          </a:p>
        </p:txBody>
      </p:sp>
      <p:sp>
        <p:nvSpPr>
          <p:cNvPr id="31" name="TextBox 30"/>
          <p:cNvSpPr txBox="1"/>
          <p:nvPr/>
        </p:nvSpPr>
        <p:spPr>
          <a:xfrm>
            <a:off x="7360920" y="4480560"/>
            <a:ext cx="1828800" cy="274320"/>
          </a:xfrm>
          <a:prstGeom prst="rect">
            <a:avLst/>
          </a:prstGeom>
          <a:noFill/>
        </p:spPr>
        <p:txBody>
          <a:bodyPr wrap="square">
            <a:spAutoFit/>
          </a:bodyPr>
          <a:lstStyle/>
          <a:p>
            <a:pPr algn="ctr">
              <a:defRPr sz="1000" b="1">
                <a:solidFill>
                  <a:srgbClr val="5C6BC0"/>
                </a:solidFill>
                <a:latin typeface="Segoe UI"/>
              </a:defRPr>
            </a:pPr>
            <a:r>
              <a:rPr>
                <a:latin typeface="Segoe UI"/>
                <a:ea typeface="Meiryo UI"/>
              </a:rPr>
              <a:t>所要: 1〜2日</a:t>
            </a:r>
          </a:p>
        </p:txBody>
      </p:sp>
      <p:sp>
        <p:nvSpPr>
          <p:cNvPr id="32" name="Oval 31"/>
          <p:cNvSpPr/>
          <p:nvPr/>
        </p:nvSpPr>
        <p:spPr>
          <a:xfrm>
            <a:off x="10104120" y="1371600"/>
            <a:ext cx="914400" cy="914400"/>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04120" y="1463040"/>
            <a:ext cx="914400" cy="731520"/>
          </a:xfrm>
          <a:prstGeom prst="rect">
            <a:avLst/>
          </a:prstGeom>
          <a:noFill/>
        </p:spPr>
        <p:txBody>
          <a:bodyPr wrap="square">
            <a:spAutoFit/>
          </a:bodyPr>
          <a:lstStyle/>
          <a:p>
            <a:pPr algn="ctr">
              <a:defRPr sz="1300" b="1">
                <a:solidFill>
                  <a:srgbClr val="FFFFFF"/>
                </a:solidFill>
                <a:latin typeface="Segoe UI"/>
              </a:defRPr>
            </a:pPr>
            <a:r>
              <a:rPr>
                <a:latin typeface="Segoe UI"/>
                <a:ea typeface="Meiryo UI"/>
              </a:rPr>
              <a:t>STEP 5</a:t>
            </a:r>
          </a:p>
        </p:txBody>
      </p:sp>
      <p:sp>
        <p:nvSpPr>
          <p:cNvPr id="34" name="TextBox 33"/>
          <p:cNvSpPr txBox="1"/>
          <p:nvPr/>
        </p:nvSpPr>
        <p:spPr>
          <a:xfrm>
            <a:off x="9509760" y="2468880"/>
            <a:ext cx="2103120" cy="365760"/>
          </a:xfrm>
          <a:prstGeom prst="rect">
            <a:avLst/>
          </a:prstGeom>
          <a:noFill/>
        </p:spPr>
        <p:txBody>
          <a:bodyPr wrap="square">
            <a:spAutoFit/>
          </a:bodyPr>
          <a:lstStyle/>
          <a:p>
            <a:pPr algn="ctr">
              <a:defRPr sz="1600" b="1">
                <a:solidFill>
                  <a:srgbClr val="1A1A2E"/>
                </a:solidFill>
                <a:latin typeface="Segoe UI"/>
              </a:defRPr>
            </a:pPr>
            <a:r>
              <a:rPr>
                <a:latin typeface="Segoe UI"/>
                <a:ea typeface="Meiryo UI"/>
              </a:rPr>
              <a:t>テスト・運用開始</a:t>
            </a:r>
          </a:p>
        </p:txBody>
      </p:sp>
      <p:sp>
        <p:nvSpPr>
          <p:cNvPr id="35" name="Rounded Rectangle 34"/>
          <p:cNvSpPr/>
          <p:nvPr/>
        </p:nvSpPr>
        <p:spPr>
          <a:xfrm>
            <a:off x="9509760" y="3017520"/>
            <a:ext cx="2103120" cy="2011680"/>
          </a:xfrm>
          <a:prstGeom prst="roundRect">
            <a:avLst/>
          </a:prstGeom>
          <a:solidFill>
            <a:srgbClr val="F3F0FA"/>
          </a:solidFill>
          <a:ln w="6350">
            <a:solidFill>
              <a:srgbClr val="D0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46920" y="3154680"/>
            <a:ext cx="1828800" cy="1280160"/>
          </a:xfrm>
          <a:prstGeom prst="rect">
            <a:avLst/>
          </a:prstGeom>
          <a:noFill/>
        </p:spPr>
        <p:txBody>
          <a:bodyPr wrap="square">
            <a:spAutoFit/>
          </a:bodyPr>
          <a:lstStyle/>
          <a:p>
            <a:pPr algn="ctr">
              <a:defRPr sz="1100" b="0">
                <a:solidFill>
                  <a:srgbClr val="1A1A2E"/>
                </a:solidFill>
                <a:latin typeface="Segoe UI"/>
              </a:defRPr>
            </a:pPr>
            <a:r>
              <a:rPr>
                <a:latin typeface="Segoe UI"/>
                <a:ea typeface="Meiryo UI"/>
              </a:rPr>
              <a:t>評価データで検証</a:t>
            </a:r>
            <a:br/>
            <a:r>
              <a:rPr>
                <a:latin typeface="Segoe UI"/>
                <a:ea typeface="Meiryo UI"/>
              </a:rPr>
              <a:t>段階的に本番展開</a:t>
            </a:r>
            <a:br/>
            <a:r>
              <a:rPr>
                <a:latin typeface="Segoe UI"/>
                <a:ea typeface="Meiryo UI"/>
              </a:rPr>
              <a:t>モニタリング体制構築</a:t>
            </a:r>
          </a:p>
        </p:txBody>
      </p:sp>
      <p:sp>
        <p:nvSpPr>
          <p:cNvPr id="37" name="TextBox 36"/>
          <p:cNvSpPr txBox="1"/>
          <p:nvPr/>
        </p:nvSpPr>
        <p:spPr>
          <a:xfrm>
            <a:off x="9646920" y="4480560"/>
            <a:ext cx="1828800" cy="274320"/>
          </a:xfrm>
          <a:prstGeom prst="rect">
            <a:avLst/>
          </a:prstGeom>
          <a:noFill/>
        </p:spPr>
        <p:txBody>
          <a:bodyPr wrap="square">
            <a:spAutoFit/>
          </a:bodyPr>
          <a:lstStyle/>
          <a:p>
            <a:pPr algn="ctr">
              <a:defRPr sz="1000" b="1">
                <a:solidFill>
                  <a:srgbClr val="5C6BC0"/>
                </a:solidFill>
                <a:latin typeface="Segoe UI"/>
              </a:defRPr>
            </a:pPr>
            <a:r>
              <a:rPr>
                <a:latin typeface="Segoe UI"/>
                <a:ea typeface="Meiryo UI"/>
              </a:rPr>
              <a:t>所要: 1〜2週間</a:t>
            </a:r>
          </a:p>
        </p:txBody>
      </p:sp>
      <p:sp>
        <p:nvSpPr>
          <p:cNvPr id="38" name="TextBox 37"/>
          <p:cNvSpPr txBox="1"/>
          <p:nvPr/>
        </p:nvSpPr>
        <p:spPr>
          <a:xfrm>
            <a:off x="731520" y="5486400"/>
            <a:ext cx="10515600" cy="731520"/>
          </a:xfrm>
          <a:prstGeom prst="rect">
            <a:avLst/>
          </a:prstGeom>
          <a:noFill/>
        </p:spPr>
        <p:txBody>
          <a:bodyPr wrap="square">
            <a:spAutoFit/>
          </a:bodyPr>
          <a:lstStyle/>
          <a:p>
            <a:pPr algn="l">
              <a:defRPr sz="1100" b="0">
                <a:solidFill>
                  <a:srgbClr val="4A5A6A"/>
                </a:solidFill>
                <a:latin typeface="Segoe UI"/>
              </a:defRPr>
            </a:pPr>
            <a:r>
              <a:rPr>
                <a:latin typeface="Segoe UI"/>
                <a:ea typeface="Meiryo UI"/>
              </a:rPr>
              <a:t>※ 上記は目安です。既存システムとの連携範囲や自社固有のカスタマイズ内容により変動します。</a:t>
            </a:r>
            <a:br/>
            <a:r>
              <a:rPr>
                <a:latin typeface="Segoe UI"/>
                <a:ea typeface="Meiryo UI"/>
              </a:rPr>
              <a:t>※ STEP 1〜2 はテンプレートの即時利用（PoC）として実施可能です。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6200"/>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144000" cy="914400"/>
          </a:xfrm>
          <a:prstGeom prst="rect">
            <a:avLst/>
          </a:prstGeom>
          <a:noFill/>
        </p:spPr>
        <p:txBody>
          <a:bodyPr wrap="square">
            <a:spAutoFit/>
          </a:bodyPr>
          <a:lstStyle/>
          <a:p>
            <a:pPr algn="ctr">
              <a:defRPr sz="3600" b="1">
                <a:solidFill>
                  <a:srgbClr val="FFFFFF"/>
                </a:solidFill>
                <a:latin typeface="Segoe UI"/>
              </a:defRPr>
            </a:pPr>
            <a:r>
              <a:rPr>
                <a:latin typeface="Segoe UI"/>
                <a:ea typeface="Meiryo UI"/>
              </a:rPr>
              <a:t>AI ワークフローで全社の間接業務を変革する</a:t>
            </a:r>
          </a:p>
        </p:txBody>
      </p:sp>
      <p:sp>
        <p:nvSpPr>
          <p:cNvPr id="5" name="Rectangle 4"/>
          <p:cNvSpPr/>
          <p:nvPr/>
        </p:nvSpPr>
        <p:spPr>
          <a:xfrm>
            <a:off x="4572000" y="3017520"/>
            <a:ext cx="3017520" cy="50800"/>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3474720"/>
            <a:ext cx="8229600" cy="457200"/>
          </a:xfrm>
          <a:prstGeom prst="rect">
            <a:avLst/>
          </a:prstGeom>
          <a:noFill/>
        </p:spPr>
        <p:txBody>
          <a:bodyPr wrap="square">
            <a:spAutoFit/>
          </a:bodyPr>
          <a:lstStyle/>
          <a:p>
            <a:pPr algn="ctr">
              <a:defRPr sz="1800" b="0">
                <a:solidFill>
                  <a:srgbClr val="A0A0D0"/>
                </a:solidFill>
                <a:latin typeface="Segoe UI"/>
              </a:defRPr>
            </a:pPr>
            <a:r>
              <a:rPr>
                <a:latin typeface="Segoe UI"/>
                <a:ea typeface="Meiryo UI"/>
              </a:rPr>
              <a:t>10 の実践的テンプレートで、導入初日から業務効率化を実現</a:t>
            </a:r>
          </a:p>
        </p:txBody>
      </p:sp>
      <p:sp>
        <p:nvSpPr>
          <p:cNvPr id="7" name="Rounded Rectangle 6"/>
          <p:cNvSpPr/>
          <p:nvPr/>
        </p:nvSpPr>
        <p:spPr>
          <a:xfrm>
            <a:off x="1645920" y="4206240"/>
            <a:ext cx="2743200" cy="731520"/>
          </a:xfrm>
          <a:prstGeom prst="roundRect">
            <a:avLst/>
          </a:prstGeom>
          <a:solidFill>
            <a:srgbClr val="2A1F55"/>
          </a:solidFill>
          <a:ln w="12700">
            <a:solidFill>
              <a:srgbClr val="403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37360" y="4343400"/>
            <a:ext cx="2560320" cy="457200"/>
          </a:xfrm>
          <a:prstGeom prst="rect">
            <a:avLst/>
          </a:prstGeom>
          <a:noFill/>
        </p:spPr>
        <p:txBody>
          <a:bodyPr wrap="square">
            <a:spAutoFit/>
          </a:bodyPr>
          <a:lstStyle/>
          <a:p>
            <a:pPr algn="ctr">
              <a:defRPr sz="1600" b="1">
                <a:solidFill>
                  <a:srgbClr val="FFFFFF"/>
                </a:solidFill>
                <a:latin typeface="Segoe UI"/>
              </a:defRPr>
            </a:pPr>
            <a:r>
              <a:rPr>
                <a:latin typeface="Segoe UI"/>
                <a:ea typeface="Meiryo UI"/>
              </a:rPr>
              <a:t>即座にインポート可能</a:t>
            </a:r>
          </a:p>
        </p:txBody>
      </p:sp>
      <p:sp>
        <p:nvSpPr>
          <p:cNvPr id="9" name="Rounded Rectangle 8"/>
          <p:cNvSpPr/>
          <p:nvPr/>
        </p:nvSpPr>
        <p:spPr>
          <a:xfrm>
            <a:off x="4846320" y="4206240"/>
            <a:ext cx="2743200" cy="731520"/>
          </a:xfrm>
          <a:prstGeom prst="roundRect">
            <a:avLst/>
          </a:prstGeom>
          <a:solidFill>
            <a:srgbClr val="2A1F55"/>
          </a:solidFill>
          <a:ln w="12700">
            <a:solidFill>
              <a:srgbClr val="403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0" y="4343400"/>
            <a:ext cx="2560320" cy="457200"/>
          </a:xfrm>
          <a:prstGeom prst="rect">
            <a:avLst/>
          </a:prstGeom>
          <a:noFill/>
        </p:spPr>
        <p:txBody>
          <a:bodyPr wrap="square">
            <a:spAutoFit/>
          </a:bodyPr>
          <a:lstStyle/>
          <a:p>
            <a:pPr algn="ctr">
              <a:defRPr sz="1600" b="1">
                <a:solidFill>
                  <a:srgbClr val="FFFFFF"/>
                </a:solidFill>
                <a:latin typeface="Segoe UI"/>
              </a:defRPr>
            </a:pPr>
            <a:r>
              <a:rPr>
                <a:latin typeface="Segoe UI"/>
                <a:ea typeface="Meiryo UI"/>
              </a:rPr>
              <a:t>業種を問わない汎用設計</a:t>
            </a:r>
          </a:p>
        </p:txBody>
      </p:sp>
      <p:sp>
        <p:nvSpPr>
          <p:cNvPr id="11" name="Rounded Rectangle 10"/>
          <p:cNvSpPr/>
          <p:nvPr/>
        </p:nvSpPr>
        <p:spPr>
          <a:xfrm>
            <a:off x="8046720" y="4206240"/>
            <a:ext cx="2743200" cy="731520"/>
          </a:xfrm>
          <a:prstGeom prst="roundRect">
            <a:avLst/>
          </a:prstGeom>
          <a:solidFill>
            <a:srgbClr val="2A1F55"/>
          </a:solidFill>
          <a:ln w="12700">
            <a:solidFill>
              <a:srgbClr val="403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4343400"/>
            <a:ext cx="2560320" cy="457200"/>
          </a:xfrm>
          <a:prstGeom prst="rect">
            <a:avLst/>
          </a:prstGeom>
          <a:noFill/>
        </p:spPr>
        <p:txBody>
          <a:bodyPr wrap="square">
            <a:spAutoFit/>
          </a:bodyPr>
          <a:lstStyle/>
          <a:p>
            <a:pPr algn="ctr">
              <a:defRPr sz="1600" b="1">
                <a:solidFill>
                  <a:srgbClr val="FFFFFF"/>
                </a:solidFill>
                <a:latin typeface="Segoe UI"/>
              </a:defRPr>
            </a:pPr>
            <a:r>
              <a:rPr>
                <a:latin typeface="Segoe UI"/>
                <a:ea typeface="Meiryo UI"/>
              </a:rPr>
              <a:t>全主要ノードパターン網羅</a:t>
            </a:r>
          </a:p>
        </p:txBody>
      </p:sp>
      <p:sp>
        <p:nvSpPr>
          <p:cNvPr id="13" name="TextBox 12"/>
          <p:cNvSpPr txBox="1"/>
          <p:nvPr/>
        </p:nvSpPr>
        <p:spPr>
          <a:xfrm>
            <a:off x="1371600" y="5486400"/>
            <a:ext cx="9144000" cy="457200"/>
          </a:xfrm>
          <a:prstGeom prst="rect">
            <a:avLst/>
          </a:prstGeom>
          <a:noFill/>
        </p:spPr>
        <p:txBody>
          <a:bodyPr wrap="square">
            <a:spAutoFit/>
          </a:bodyPr>
          <a:lstStyle/>
          <a:p>
            <a:pPr algn="ctr">
              <a:defRPr sz="1400" b="0">
                <a:solidFill>
                  <a:srgbClr val="8080B0"/>
                </a:solidFill>
                <a:latin typeface="Segoe UI"/>
              </a:defRPr>
            </a:pPr>
            <a:r>
              <a:rPr>
                <a:latin typeface="Segoe UI"/>
                <a:ea typeface="Meiryo UI"/>
              </a:rPr>
              <a:t>ご質問・デモのご依頼はお気軽にお問い合わせください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