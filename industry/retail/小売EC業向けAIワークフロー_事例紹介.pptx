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1097280"/>
          </a:xfrm>
          <a:prstGeom prst="rect">
            <a:avLst/>
          </a:prstGeom>
          <a:noFill/>
        </p:spPr>
        <p:txBody>
          <a:bodyPr wrap="square">
            <a:spAutoFit/>
          </a:bodyPr>
          <a:lstStyle/>
          <a:p>
            <a:pPr algn="ctr">
              <a:defRPr sz="4000" b="1">
                <a:solidFill>
                  <a:srgbClr val="FFFFFF"/>
                </a:solidFill>
                <a:latin typeface="Segoe UI"/>
              </a:defRPr>
            </a:pPr>
            <a:r>
              <a:rPr>
                <a:latin typeface="Segoe UI"/>
                <a:ea typeface="Meiryo UI"/>
              </a:rPr>
              <a:t>小売・EC 業向け AI ワークフロー ソリューション</a:t>
            </a:r>
          </a:p>
        </p:txBody>
      </p:sp>
      <p:sp>
        <p:nvSpPr>
          <p:cNvPr id="5" name="TextBox 4"/>
          <p:cNvSpPr txBox="1"/>
          <p:nvPr/>
        </p:nvSpPr>
        <p:spPr>
          <a:xfrm>
            <a:off x="1371600" y="2926080"/>
            <a:ext cx="9144000" cy="731520"/>
          </a:xfrm>
          <a:prstGeom prst="rect">
            <a:avLst/>
          </a:prstGeom>
          <a:noFill/>
        </p:spPr>
        <p:txBody>
          <a:bodyPr wrap="square">
            <a:spAutoFit/>
          </a:bodyPr>
          <a:lstStyle/>
          <a:p>
            <a:pPr algn="ctr">
              <a:defRPr sz="2200" b="0">
                <a:solidFill>
                  <a:srgbClr val="D0A080"/>
                </a:solidFill>
                <a:latin typeface="Segoe UI"/>
              </a:defRPr>
            </a:pPr>
            <a:r>
              <a:rPr>
                <a:latin typeface="Segoe UI"/>
                <a:ea typeface="Meiryo UI"/>
              </a:rPr>
              <a:t>Dify プラットフォームによる EC 業務の自動化・顧客体験の向上</a:t>
            </a:r>
          </a:p>
        </p:txBody>
      </p:sp>
      <p:sp>
        <p:nvSpPr>
          <p:cNvPr id="6" name="Rectangle 5"/>
          <p:cNvSpPr/>
          <p:nvPr/>
        </p:nvSpPr>
        <p:spPr>
          <a:xfrm>
            <a:off x="4572000" y="3840480"/>
            <a:ext cx="3017520" cy="508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206240"/>
            <a:ext cx="9144000" cy="548640"/>
          </a:xfrm>
          <a:prstGeom prst="rect">
            <a:avLst/>
          </a:prstGeom>
          <a:noFill/>
        </p:spPr>
        <p:txBody>
          <a:bodyPr wrap="square">
            <a:spAutoFit/>
          </a:bodyPr>
          <a:lstStyle/>
          <a:p>
            <a:pPr algn="ctr">
              <a:defRPr sz="1600" b="0">
                <a:solidFill>
                  <a:srgbClr val="B09070"/>
                </a:solidFill>
                <a:latin typeface="Segoe UI"/>
              </a:defRPr>
            </a:pPr>
            <a:r>
              <a:rPr>
                <a:latin typeface="Segoe UI"/>
                <a:ea typeface="Meiryo UI"/>
              </a:rPr>
              <a:t>10 の業務シーン  |  73 ノード  |  即時インポート可能な DSL テンプレート</a:t>
            </a:r>
          </a:p>
        </p:txBody>
      </p:sp>
      <p:sp>
        <p:nvSpPr>
          <p:cNvPr id="8" name="TextBox 7"/>
          <p:cNvSpPr txBox="1"/>
          <p:nvPr/>
        </p:nvSpPr>
        <p:spPr>
          <a:xfrm>
            <a:off x="1371600" y="5669280"/>
            <a:ext cx="9144000" cy="457200"/>
          </a:xfrm>
          <a:prstGeom prst="rect">
            <a:avLst/>
          </a:prstGeom>
          <a:noFill/>
        </p:spPr>
        <p:txBody>
          <a:bodyPr wrap="square">
            <a:spAutoFit/>
          </a:bodyPr>
          <a:lstStyle/>
          <a:p>
            <a:pPr algn="ctr">
              <a:defRPr sz="1200" b="0">
                <a:solidFill>
                  <a:srgbClr val="907050"/>
                </a:solidFill>
                <a:latin typeface="Segoe UI"/>
              </a:defRPr>
            </a:pPr>
            <a:r>
              <a:rPr>
                <a:latin typeface="Segoe UI"/>
                <a:ea typeface="Meiryo UI"/>
              </a:rPr>
              <a:t>Confidential  |  事例紹介資料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エグゼクティブサマリー</a:t>
            </a:r>
          </a:p>
        </p:txBody>
      </p:sp>
      <p:sp>
        <p:nvSpPr>
          <p:cNvPr id="4" name="Rounded Rectangle 3"/>
          <p:cNvSpPr/>
          <p:nvPr/>
        </p:nvSpPr>
        <p:spPr>
          <a:xfrm>
            <a:off x="914400" y="1371600"/>
            <a:ext cx="3108960" cy="182880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1554480"/>
            <a:ext cx="2560320" cy="731520"/>
          </a:xfrm>
          <a:prstGeom prst="rect">
            <a:avLst/>
          </a:prstGeom>
          <a:noFill/>
        </p:spPr>
        <p:txBody>
          <a:bodyPr wrap="square">
            <a:spAutoFit/>
          </a:bodyPr>
          <a:lstStyle/>
          <a:p>
            <a:pPr algn="ctr">
              <a:defRPr sz="4800" b="1">
                <a:solidFill>
                  <a:srgbClr val="E65C00"/>
                </a:solidFill>
                <a:latin typeface="Segoe UI"/>
              </a:defRPr>
            </a:pPr>
            <a:r>
              <a:rPr>
                <a:latin typeface="Segoe UI"/>
                <a:ea typeface="Meiryo UI"/>
              </a:rPr>
              <a:t>10</a:t>
            </a:r>
          </a:p>
        </p:txBody>
      </p:sp>
      <p:sp>
        <p:nvSpPr>
          <p:cNvPr id="6" name="TextBox 5"/>
          <p:cNvSpPr txBox="1"/>
          <p:nvPr/>
        </p:nvSpPr>
        <p:spPr>
          <a:xfrm>
            <a:off x="1188720" y="2148840"/>
            <a:ext cx="2560320" cy="274320"/>
          </a:xfrm>
          <a:prstGeom prst="rect">
            <a:avLst/>
          </a:prstGeom>
          <a:noFill/>
        </p:spPr>
        <p:txBody>
          <a:bodyPr wrap="square">
            <a:spAutoFit/>
          </a:bodyPr>
          <a:lstStyle/>
          <a:p>
            <a:pPr algn="ctr">
              <a:defRPr sz="1800" b="1">
                <a:solidFill>
                  <a:srgbClr val="2A1A12"/>
                </a:solidFill>
                <a:latin typeface="Segoe UI"/>
              </a:defRPr>
            </a:pPr>
            <a:r>
              <a:rPr>
                <a:latin typeface="Segoe UI"/>
                <a:ea typeface="Meiryo UI"/>
              </a:rPr>
              <a:t>業務シーン</a:t>
            </a:r>
          </a:p>
        </p:txBody>
      </p:sp>
      <p:sp>
        <p:nvSpPr>
          <p:cNvPr id="7" name="TextBox 6"/>
          <p:cNvSpPr txBox="1"/>
          <p:nvPr/>
        </p:nvSpPr>
        <p:spPr>
          <a:xfrm>
            <a:off x="1188720" y="2468880"/>
            <a:ext cx="2560320" cy="640080"/>
          </a:xfrm>
          <a:prstGeom prst="rect">
            <a:avLst/>
          </a:prstGeom>
          <a:noFill/>
        </p:spPr>
        <p:txBody>
          <a:bodyPr wrap="square">
            <a:spAutoFit/>
          </a:bodyPr>
          <a:lstStyle/>
          <a:p>
            <a:pPr algn="ctr">
              <a:defRPr sz="1200" b="0">
                <a:solidFill>
                  <a:srgbClr val="5A4A3A"/>
                </a:solidFill>
                <a:latin typeface="Segoe UI"/>
              </a:defRPr>
            </a:pPr>
            <a:r>
              <a:rPr>
                <a:latin typeface="Segoe UI"/>
                <a:ea typeface="Meiryo UI"/>
              </a:rPr>
              <a:t>商品説明文・レビュー分析</a:t>
            </a:r>
            <a:br/>
            <a:r>
              <a:rPr>
                <a:latin typeface="Segoe UI"/>
                <a:ea typeface="Meiryo UI"/>
              </a:rPr>
              <a:t>チャットボット・在庫管理 等</a:t>
            </a:r>
          </a:p>
        </p:txBody>
      </p:sp>
      <p:sp>
        <p:nvSpPr>
          <p:cNvPr id="8" name="Rounded Rectangle 7"/>
          <p:cNvSpPr/>
          <p:nvPr/>
        </p:nvSpPr>
        <p:spPr>
          <a:xfrm>
            <a:off x="4480560" y="1371600"/>
            <a:ext cx="3108960" cy="182880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554480"/>
            <a:ext cx="2560320" cy="731520"/>
          </a:xfrm>
          <a:prstGeom prst="rect">
            <a:avLst/>
          </a:prstGeom>
          <a:noFill/>
        </p:spPr>
        <p:txBody>
          <a:bodyPr wrap="square">
            <a:spAutoFit/>
          </a:bodyPr>
          <a:lstStyle/>
          <a:p>
            <a:pPr algn="ctr">
              <a:defRPr sz="4800" b="1">
                <a:solidFill>
                  <a:srgbClr val="E65C00"/>
                </a:solidFill>
                <a:latin typeface="Segoe UI"/>
              </a:defRPr>
            </a:pPr>
            <a:r>
              <a:rPr>
                <a:latin typeface="Segoe UI"/>
                <a:ea typeface="Meiryo UI"/>
              </a:rPr>
              <a:t>73</a:t>
            </a:r>
          </a:p>
        </p:txBody>
      </p:sp>
      <p:sp>
        <p:nvSpPr>
          <p:cNvPr id="10" name="TextBox 9"/>
          <p:cNvSpPr txBox="1"/>
          <p:nvPr/>
        </p:nvSpPr>
        <p:spPr>
          <a:xfrm>
            <a:off x="4754880" y="2148840"/>
            <a:ext cx="2560320" cy="274320"/>
          </a:xfrm>
          <a:prstGeom prst="rect">
            <a:avLst/>
          </a:prstGeom>
          <a:noFill/>
        </p:spPr>
        <p:txBody>
          <a:bodyPr wrap="square">
            <a:spAutoFit/>
          </a:bodyPr>
          <a:lstStyle/>
          <a:p>
            <a:pPr algn="ctr">
              <a:defRPr sz="1800" b="1">
                <a:solidFill>
                  <a:srgbClr val="2A1A12"/>
                </a:solidFill>
                <a:latin typeface="Segoe UI"/>
              </a:defRPr>
            </a:pPr>
            <a:r>
              <a:rPr>
                <a:latin typeface="Segoe UI"/>
                <a:ea typeface="Meiryo UI"/>
              </a:rPr>
              <a:t>ノード</a:t>
            </a:r>
          </a:p>
        </p:txBody>
      </p:sp>
      <p:sp>
        <p:nvSpPr>
          <p:cNvPr id="11" name="TextBox 10"/>
          <p:cNvSpPr txBox="1"/>
          <p:nvPr/>
        </p:nvSpPr>
        <p:spPr>
          <a:xfrm>
            <a:off x="4754880" y="2468880"/>
            <a:ext cx="2560320" cy="640080"/>
          </a:xfrm>
          <a:prstGeom prst="rect">
            <a:avLst/>
          </a:prstGeom>
          <a:noFill/>
        </p:spPr>
        <p:txBody>
          <a:bodyPr wrap="square">
            <a:spAutoFit/>
          </a:bodyPr>
          <a:lstStyle/>
          <a:p>
            <a:pPr algn="ctr">
              <a:defRPr sz="1200" b="0">
                <a:solidFill>
                  <a:srgbClr val="5A4A3A"/>
                </a:solidFill>
                <a:latin typeface="Segoe UI"/>
              </a:defRPr>
            </a:pPr>
            <a:r>
              <a:rPr>
                <a:latin typeface="Segoe UI"/>
                <a:ea typeface="Meiryo UI"/>
              </a:rPr>
              <a:t>実用ワークフローを</a:t>
            </a:r>
            <a:br/>
            <a:r>
              <a:rPr>
                <a:latin typeface="Segoe UI"/>
                <a:ea typeface="Meiryo UI"/>
              </a:rPr>
              <a:t>即座にインポート可能</a:t>
            </a:r>
          </a:p>
        </p:txBody>
      </p:sp>
      <p:sp>
        <p:nvSpPr>
          <p:cNvPr id="12" name="Rounded Rectangle 11"/>
          <p:cNvSpPr/>
          <p:nvPr/>
        </p:nvSpPr>
        <p:spPr>
          <a:xfrm>
            <a:off x="8046720" y="1371600"/>
            <a:ext cx="3108960" cy="182880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0" y="1554480"/>
            <a:ext cx="2560320" cy="731520"/>
          </a:xfrm>
          <a:prstGeom prst="rect">
            <a:avLst/>
          </a:prstGeom>
          <a:noFill/>
        </p:spPr>
        <p:txBody>
          <a:bodyPr wrap="square">
            <a:spAutoFit/>
          </a:bodyPr>
          <a:lstStyle/>
          <a:p>
            <a:pPr algn="ctr">
              <a:defRPr sz="4800" b="1">
                <a:solidFill>
                  <a:srgbClr val="E65C00"/>
                </a:solidFill>
                <a:latin typeface="Segoe UI"/>
              </a:defRPr>
            </a:pPr>
            <a:r>
              <a:rPr>
                <a:latin typeface="Segoe UI"/>
                <a:ea typeface="Meiryo UI"/>
              </a:rPr>
              <a:t>6</a:t>
            </a:r>
          </a:p>
        </p:txBody>
      </p:sp>
      <p:sp>
        <p:nvSpPr>
          <p:cNvPr id="14" name="TextBox 13"/>
          <p:cNvSpPr txBox="1"/>
          <p:nvPr/>
        </p:nvSpPr>
        <p:spPr>
          <a:xfrm>
            <a:off x="8321040" y="2148840"/>
            <a:ext cx="2560320" cy="274320"/>
          </a:xfrm>
          <a:prstGeom prst="rect">
            <a:avLst/>
          </a:prstGeom>
          <a:noFill/>
        </p:spPr>
        <p:txBody>
          <a:bodyPr wrap="square">
            <a:spAutoFit/>
          </a:bodyPr>
          <a:lstStyle/>
          <a:p>
            <a:pPr algn="ctr">
              <a:defRPr sz="1800" b="1">
                <a:solidFill>
                  <a:srgbClr val="2A1A12"/>
                </a:solidFill>
                <a:latin typeface="Segoe UI"/>
              </a:defRPr>
            </a:pPr>
            <a:r>
              <a:rPr>
                <a:latin typeface="Segoe UI"/>
                <a:ea typeface="Meiryo UI"/>
              </a:rPr>
              <a:t>部門</a:t>
            </a:r>
          </a:p>
        </p:txBody>
      </p:sp>
      <p:sp>
        <p:nvSpPr>
          <p:cNvPr id="15" name="TextBox 14"/>
          <p:cNvSpPr txBox="1"/>
          <p:nvPr/>
        </p:nvSpPr>
        <p:spPr>
          <a:xfrm>
            <a:off x="8321040" y="2468880"/>
            <a:ext cx="2560320" cy="640080"/>
          </a:xfrm>
          <a:prstGeom prst="rect">
            <a:avLst/>
          </a:prstGeom>
          <a:noFill/>
        </p:spPr>
        <p:txBody>
          <a:bodyPr wrap="square">
            <a:spAutoFit/>
          </a:bodyPr>
          <a:lstStyle/>
          <a:p>
            <a:pPr algn="ctr">
              <a:defRPr sz="1200" b="0">
                <a:solidFill>
                  <a:srgbClr val="5A4A3A"/>
                </a:solidFill>
                <a:latin typeface="Segoe UI"/>
              </a:defRPr>
            </a:pPr>
            <a:r>
              <a:rPr>
                <a:latin typeface="Segoe UI"/>
                <a:ea typeface="Meiryo UI"/>
              </a:rPr>
              <a:t>EC運営・CS・マーケ</a:t>
            </a:r>
            <a:br/>
            <a:r>
              <a:rPr>
                <a:latin typeface="Segoe UI"/>
                <a:ea typeface="Meiryo UI"/>
              </a:rPr>
              <a:t>MD・購買・店舗運営</a:t>
            </a:r>
          </a:p>
        </p:txBody>
      </p:sp>
      <p:sp>
        <p:nvSpPr>
          <p:cNvPr id="16" name="TextBox 15"/>
          <p:cNvSpPr txBox="1"/>
          <p:nvPr/>
        </p:nvSpPr>
        <p:spPr>
          <a:xfrm>
            <a:off x="731520" y="3657600"/>
            <a:ext cx="10515600" cy="2743200"/>
          </a:xfrm>
          <a:prstGeom prst="rect">
            <a:avLst/>
          </a:prstGeom>
          <a:noFill/>
        </p:spPr>
        <p:txBody>
          <a:bodyPr wrap="square">
            <a:spAutoFit/>
          </a:bodyPr>
          <a:lstStyle/>
          <a:p>
            <a:pPr algn="l">
              <a:defRPr sz="2000" b="1">
                <a:solidFill>
                  <a:srgbClr val="2A1A12"/>
                </a:solidFill>
                <a:latin typeface="Segoe UI"/>
              </a:defRPr>
            </a:pPr>
            <a:r>
              <a:rPr>
                <a:latin typeface="Segoe UI"/>
                <a:ea typeface="Meiryo UI"/>
              </a:rPr>
              <a:t>本ソリューションの特長</a:t>
            </a:r>
          </a:p>
          <a:p>
            <a:pPr algn="l">
              <a:spcBef>
                <a:spcPts val="800"/>
              </a:spcBef>
              <a:spcAft>
                <a:spcPts val="200"/>
              </a:spcAft>
              <a:defRPr sz="1400" b="0">
                <a:solidFill>
                  <a:srgbClr val="5A4A3A"/>
                </a:solidFill>
                <a:latin typeface="Segoe UI"/>
              </a:defRPr>
            </a:pPr>
            <a:r>
              <a:rPr>
                <a:latin typeface="Segoe UI"/>
                <a:ea typeface="Meiryo UI"/>
              </a:rPr>
              <a:t>    Dify にインポートするだけで動作する「即戦力テンプレート」— ゼロからの構築不要</a:t>
            </a:r>
          </a:p>
          <a:p>
            <a:pPr algn="l">
              <a:spcBef>
                <a:spcPts val="800"/>
              </a:spcBef>
              <a:spcAft>
                <a:spcPts val="200"/>
              </a:spcAft>
              <a:defRPr sz="1400" b="0">
                <a:solidFill>
                  <a:srgbClr val="5A4A3A"/>
                </a:solidFill>
                <a:latin typeface="Segoe UI"/>
              </a:defRPr>
            </a:pPr>
            <a:r>
              <a:rPr>
                <a:latin typeface="Segoe UI"/>
                <a:ea typeface="Meiryo UI"/>
              </a:rPr>
              <a:t>    商品説明文から多店舗日報まで、小売・EC の主要業務フローを 10 シーンで網羅</a:t>
            </a:r>
          </a:p>
          <a:p>
            <a:pPr algn="l">
              <a:spcBef>
                <a:spcPts val="800"/>
              </a:spcBef>
              <a:spcAft>
                <a:spcPts val="200"/>
              </a:spcAft>
              <a:defRPr sz="1400" b="0">
                <a:solidFill>
                  <a:srgbClr val="5A4A3A"/>
                </a:solidFill>
                <a:latin typeface="Segoe UI"/>
              </a:defRPr>
            </a:pPr>
            <a:r>
              <a:rPr>
                <a:latin typeface="Segoe UI"/>
                <a:ea typeface="Meiryo UI"/>
              </a:rPr>
              <a:t>    チャットボット（Chatflow）・在庫API連携・競合分析等、EC固有のユースケースに特化</a:t>
            </a:r>
          </a:p>
          <a:p>
            <a:pPr algn="l">
              <a:spcBef>
                <a:spcPts val="800"/>
              </a:spcBef>
              <a:spcAft>
                <a:spcPts val="200"/>
              </a:spcAft>
              <a:defRPr sz="1400" b="0">
                <a:solidFill>
                  <a:srgbClr val="5A4A3A"/>
                </a:solidFill>
                <a:latin typeface="Segoe UI"/>
              </a:defRPr>
            </a:pPr>
            <a:r>
              <a:rPr>
                <a:latin typeface="Segoe UI"/>
                <a:ea typeface="Meiryo UI"/>
              </a:rPr>
              <a:t>    景品表示法・特商法・個人情報保護を考慮した安全設計のプロンプトテンプレート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ワークフロー一覧  ─  10 の業務シーン</a:t>
            </a:r>
          </a:p>
        </p:txBody>
      </p:sp>
      <p:graphicFrame>
        <p:nvGraphicFramePr>
          <p:cNvPr id="4" name="Table 3"/>
          <p:cNvGraphicFramePr>
            <a:graphicFrameLocks noGrp="1"/>
          </p:cNvGraphicFramePr>
          <p:nvPr/>
        </p:nvGraphicFramePr>
        <p:xfrm>
          <a:off x="457200" y="1188720"/>
          <a:ext cx="10972800" cy="5029200"/>
        </p:xfrm>
        <a:graphic>
          <a:graphicData uri="http://schemas.openxmlformats.org/drawingml/2006/table">
            <a:tbl>
              <a:tblPr firstRow="1" bandRow="1">
                <a:tableStyleId>{5C22544A-7EE6-4342-B048-85BDC9FD1C3A}</a:tableStyleId>
              </a:tblPr>
              <a:tblGrid>
                <a:gridCol w="457200"/>
                <a:gridCol w="2926080"/>
                <a:gridCol w="2286000"/>
                <a:gridCol w="4572000"/>
                <a:gridCol w="731520"/>
              </a:tblGrid>
              <a:tr h="457200">
                <a:tc>
                  <a:txBody>
                    <a:bodyPr/>
                    <a:lstStyle/>
                    <a:p>
                      <a:pPr algn="ctr">
                        <a:defRPr sz="1200" b="1">
                          <a:solidFill>
                            <a:srgbClr val="FFFFFF"/>
                          </a:solidFill>
                          <a:latin typeface="Segoe UI"/>
                        </a:defRPr>
                      </a:pPr>
                      <a:r>
                        <a:rPr>
                          <a:latin typeface="Segoe UI"/>
                          <a:ea typeface="Meiryo UI"/>
                        </a:rPr>
                        <a:t>#</a:t>
                      </a:r>
                    </a:p>
                  </a:txBody>
                  <a:tcPr anchor="ctr">
                    <a:solidFill>
                      <a:srgbClr val="4E342E"/>
                    </a:solidFill>
                  </a:tcPr>
                </a:tc>
                <a:tc>
                  <a:txBody>
                    <a:bodyPr/>
                    <a:lstStyle/>
                    <a:p>
                      <a:pPr algn="ctr">
                        <a:defRPr sz="1200" b="1">
                          <a:solidFill>
                            <a:srgbClr val="FFFFFF"/>
                          </a:solidFill>
                          <a:latin typeface="Segoe UI"/>
                        </a:defRPr>
                      </a:pPr>
                      <a:r>
                        <a:rPr>
                          <a:latin typeface="Segoe UI"/>
                          <a:ea typeface="Meiryo UI"/>
                        </a:rPr>
                        <a:t>ワークフロー名</a:t>
                      </a:r>
                    </a:p>
                  </a:txBody>
                  <a:tcPr anchor="ctr">
                    <a:solidFill>
                      <a:srgbClr val="4E342E"/>
                    </a:solidFill>
                  </a:tcPr>
                </a:tc>
                <a:tc>
                  <a:txBody>
                    <a:bodyPr/>
                    <a:lstStyle/>
                    <a:p>
                      <a:pPr algn="ctr">
                        <a:defRPr sz="1200" b="1">
                          <a:solidFill>
                            <a:srgbClr val="FFFFFF"/>
                          </a:solidFill>
                          <a:latin typeface="Segoe UI"/>
                        </a:defRPr>
                      </a:pPr>
                      <a:r>
                        <a:rPr>
                          <a:latin typeface="Segoe UI"/>
                          <a:ea typeface="Meiryo UI"/>
                        </a:rPr>
                        <a:t>対象部門</a:t>
                      </a:r>
                    </a:p>
                  </a:txBody>
                  <a:tcPr anchor="ctr">
                    <a:solidFill>
                      <a:srgbClr val="4E342E"/>
                    </a:solidFill>
                  </a:tcPr>
                </a:tc>
                <a:tc>
                  <a:txBody>
                    <a:bodyPr/>
                    <a:lstStyle/>
                    <a:p>
                      <a:pPr algn="ctr">
                        <a:defRPr sz="1200" b="1">
                          <a:solidFill>
                            <a:srgbClr val="FFFFFF"/>
                          </a:solidFill>
                          <a:latin typeface="Segoe UI"/>
                        </a:defRPr>
                      </a:pPr>
                      <a:r>
                        <a:rPr>
                          <a:latin typeface="Segoe UI"/>
                          <a:ea typeface="Meiryo UI"/>
                        </a:rPr>
                        <a:t>主要パターン</a:t>
                      </a:r>
                    </a:p>
                  </a:txBody>
                  <a:tcPr anchor="ctr">
                    <a:solidFill>
                      <a:srgbClr val="4E342E"/>
                    </a:solidFill>
                  </a:tcPr>
                </a:tc>
                <a:tc>
                  <a:txBody>
                    <a:bodyPr/>
                    <a:lstStyle/>
                    <a:p>
                      <a:pPr algn="ctr">
                        <a:defRPr sz="1200" b="1">
                          <a:solidFill>
                            <a:srgbClr val="FFFFFF"/>
                          </a:solidFill>
                          <a:latin typeface="Segoe UI"/>
                        </a:defRPr>
                      </a:pPr>
                      <a:r>
                        <a:rPr>
                          <a:latin typeface="Segoe UI"/>
                          <a:ea typeface="Meiryo UI"/>
                        </a:rPr>
                        <a:t>ノード</a:t>
                      </a:r>
                    </a:p>
                  </a:txBody>
                  <a:tcPr anchor="ctr">
                    <a:solidFill>
                      <a:srgbClr val="4E342E"/>
                    </a:solidFill>
                  </a:tcPr>
                </a:tc>
              </a:tr>
              <a:tr h="457200">
                <a:tc>
                  <a:txBody>
                    <a:bodyPr/>
                    <a:lstStyle/>
                    <a:p>
                      <a:pPr algn="ctr">
                        <a:defRPr sz="1200">
                          <a:solidFill>
                            <a:srgbClr val="2A1A12"/>
                          </a:solidFill>
                          <a:latin typeface="Segoe UI"/>
                        </a:defRPr>
                      </a:pPr>
                      <a:r>
                        <a:rPr>
                          <a:latin typeface="Segoe UI"/>
                          <a:ea typeface="Meiryo UI"/>
                        </a:rPr>
                        <a:t>1</a:t>
                      </a:r>
                    </a:p>
                  </a:txBody>
                  <a:tcPr anchor="ctr"/>
                </a:tc>
                <a:tc>
                  <a:txBody>
                    <a:bodyPr/>
                    <a:lstStyle/>
                    <a:p>
                      <a:pPr algn="l">
                        <a:defRPr sz="1200">
                          <a:solidFill>
                            <a:srgbClr val="2A1A12"/>
                          </a:solidFill>
                          <a:latin typeface="Segoe UI"/>
                        </a:defRPr>
                      </a:pPr>
                      <a:r>
                        <a:rPr>
                          <a:latin typeface="Segoe UI"/>
                          <a:ea typeface="Meiryo UI"/>
                        </a:rPr>
                        <a:t>商品説明文自動生成</a:t>
                      </a:r>
                    </a:p>
                  </a:txBody>
                  <a:tcPr anchor="ctr"/>
                </a:tc>
                <a:tc>
                  <a:txBody>
                    <a:bodyPr/>
                    <a:lstStyle/>
                    <a:p>
                      <a:pPr algn="l">
                        <a:defRPr sz="1200">
                          <a:solidFill>
                            <a:srgbClr val="2A1A12"/>
                          </a:solidFill>
                          <a:latin typeface="Segoe UI"/>
                        </a:defRPr>
                      </a:pPr>
                      <a:r>
                        <a:rPr>
                          <a:latin typeface="Segoe UI"/>
                          <a:ea typeface="Meiryo UI"/>
                        </a:rPr>
                        <a:t>EC運営 / 商品企画</a:t>
                      </a:r>
                    </a:p>
                  </a:txBody>
                  <a:tcPr anchor="ctr"/>
                </a:tc>
                <a:tc>
                  <a:txBody>
                    <a:bodyPr/>
                    <a:lstStyle/>
                    <a:p>
                      <a:pPr algn="l">
                        <a:defRPr sz="1200">
                          <a:solidFill>
                            <a:srgbClr val="2A1A12"/>
                          </a:solidFill>
                          <a:latin typeface="Segoe UI"/>
                        </a:defRPr>
                      </a:pPr>
                      <a:r>
                        <a:rPr>
                          <a:latin typeface="Segoe UI"/>
                          <a:ea typeface="Meiryo UI"/>
                        </a:rPr>
                        <a:t>Code → LLM → Template</a:t>
                      </a:r>
                    </a:p>
                  </a:txBody>
                  <a:tcPr anchor="ctr"/>
                </a:tc>
                <a:tc>
                  <a:txBody>
                    <a:bodyPr/>
                    <a:lstStyle/>
                    <a:p>
                      <a:pPr algn="ctr">
                        <a:defRPr sz="1200">
                          <a:solidFill>
                            <a:srgbClr val="2A1A12"/>
                          </a:solidFill>
                          <a:latin typeface="Segoe UI"/>
                        </a:defRPr>
                      </a:pPr>
                      <a:r>
                        <a:rPr>
                          <a:latin typeface="Segoe UI"/>
                          <a:ea typeface="Meiryo UI"/>
                        </a:rPr>
                        <a:t>5</a:t>
                      </a:r>
                    </a:p>
                  </a:txBody>
                  <a:tcPr anchor="ctr"/>
                </a:tc>
              </a:tr>
              <a:tr h="457200">
                <a:tc>
                  <a:txBody>
                    <a:bodyPr/>
                    <a:lstStyle/>
                    <a:p>
                      <a:pPr algn="ctr">
                        <a:defRPr sz="1200">
                          <a:solidFill>
                            <a:srgbClr val="2A1A12"/>
                          </a:solidFill>
                          <a:latin typeface="Segoe UI"/>
                        </a:defRPr>
                      </a:pPr>
                      <a:r>
                        <a:rPr>
                          <a:latin typeface="Segoe UI"/>
                          <a:ea typeface="Meiryo UI"/>
                        </a:rPr>
                        <a:t>2</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カスタマーレビュー分析</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CS / マーケ / 商品開発</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PE → Code → LLM → TT</a:t>
                      </a:r>
                    </a:p>
                  </a:txBody>
                  <a:tcPr anchor="ctr">
                    <a:solidFill>
                      <a:srgbClr val="FDF5EF"/>
                    </a:solidFill>
                  </a:tcPr>
                </a:tc>
                <a:tc>
                  <a:txBody>
                    <a:bodyPr/>
                    <a:lstStyle/>
                    <a:p>
                      <a:pPr algn="ctr">
                        <a:defRPr sz="1200">
                          <a:solidFill>
                            <a:srgbClr val="2A1A12"/>
                          </a:solidFill>
                          <a:latin typeface="Segoe UI"/>
                        </a:defRPr>
                      </a:pPr>
                      <a:r>
                        <a:rPr>
                          <a:latin typeface="Segoe UI"/>
                          <a:ea typeface="Meiryo UI"/>
                        </a:rPr>
                        <a:t>6</a:t>
                      </a:r>
                    </a:p>
                  </a:txBody>
                  <a:tcPr anchor="ctr">
                    <a:solidFill>
                      <a:srgbClr val="FDF5EF"/>
                    </a:solidFill>
                  </a:tcPr>
                </a:tc>
              </a:tr>
              <a:tr h="457200">
                <a:tc>
                  <a:txBody>
                    <a:bodyPr/>
                    <a:lstStyle/>
                    <a:p>
                      <a:pPr algn="ctr">
                        <a:defRPr sz="1200">
                          <a:solidFill>
                            <a:srgbClr val="2A1A12"/>
                          </a:solidFill>
                          <a:latin typeface="Segoe UI"/>
                        </a:defRPr>
                      </a:pPr>
                      <a:r>
                        <a:rPr>
                          <a:latin typeface="Segoe UI"/>
                          <a:ea typeface="Meiryo UI"/>
                        </a:rPr>
                        <a:t>3</a:t>
                      </a:r>
                    </a:p>
                  </a:txBody>
                  <a:tcPr anchor="ctr"/>
                </a:tc>
                <a:tc>
                  <a:txBody>
                    <a:bodyPr/>
                    <a:lstStyle/>
                    <a:p>
                      <a:pPr algn="l">
                        <a:defRPr sz="1200">
                          <a:solidFill>
                            <a:srgbClr val="2A1A12"/>
                          </a:solidFill>
                          <a:latin typeface="Segoe UI"/>
                        </a:defRPr>
                      </a:pPr>
                      <a:r>
                        <a:rPr>
                          <a:latin typeface="Segoe UI"/>
                          <a:ea typeface="Meiryo UI"/>
                        </a:rPr>
                        <a:t>商品問い合わせチャット</a:t>
                      </a:r>
                    </a:p>
                  </a:txBody>
                  <a:tcPr anchor="ctr"/>
                </a:tc>
                <a:tc>
                  <a:txBody>
                    <a:bodyPr/>
                    <a:lstStyle/>
                    <a:p>
                      <a:pPr algn="l">
                        <a:defRPr sz="1200">
                          <a:solidFill>
                            <a:srgbClr val="2A1A12"/>
                          </a:solidFill>
                          <a:latin typeface="Segoe UI"/>
                        </a:defRPr>
                      </a:pPr>
                      <a:r>
                        <a:rPr>
                          <a:latin typeface="Segoe UI"/>
                          <a:ea typeface="Meiryo UI"/>
                        </a:rPr>
                        <a:t>CS（カスタマーサポート）</a:t>
                      </a:r>
                    </a:p>
                  </a:txBody>
                  <a:tcPr anchor="ctr"/>
                </a:tc>
                <a:tc>
                  <a:txBody>
                    <a:bodyPr/>
                    <a:lstStyle/>
                    <a:p>
                      <a:pPr algn="l">
                        <a:defRPr sz="1200">
                          <a:solidFill>
                            <a:srgbClr val="2A1A12"/>
                          </a:solidFill>
                          <a:latin typeface="Segoe UI"/>
                        </a:defRPr>
                      </a:pPr>
                      <a:r>
                        <a:rPr>
                          <a:latin typeface="Segoe UI"/>
                          <a:ea typeface="Meiryo UI"/>
                        </a:rPr>
                        <a:t>QC 3分岐 → KR → LLM(memory)</a:t>
                      </a:r>
                    </a:p>
                  </a:txBody>
                  <a:tcPr anchor="ctr"/>
                </a:tc>
                <a:tc>
                  <a:txBody>
                    <a:bodyPr/>
                    <a:lstStyle/>
                    <a:p>
                      <a:pPr algn="ctr">
                        <a:defRPr sz="1200">
                          <a:solidFill>
                            <a:srgbClr val="2A1A12"/>
                          </a:solidFill>
                          <a:latin typeface="Segoe UI"/>
                        </a:defRPr>
                      </a:pPr>
                      <a:r>
                        <a:rPr>
                          <a:latin typeface="Segoe UI"/>
                          <a:ea typeface="Meiryo UI"/>
                        </a:rPr>
                        <a:t>10</a:t>
                      </a:r>
                    </a:p>
                  </a:txBody>
                  <a:tcPr anchor="ctr"/>
                </a:tc>
              </a:tr>
              <a:tr h="457200">
                <a:tc>
                  <a:txBody>
                    <a:bodyPr/>
                    <a:lstStyle/>
                    <a:p>
                      <a:pPr algn="ctr">
                        <a:defRPr sz="1200">
                          <a:solidFill>
                            <a:srgbClr val="2A1A12"/>
                          </a:solidFill>
                          <a:latin typeface="Segoe UI"/>
                        </a:defRPr>
                      </a:pPr>
                      <a:r>
                        <a:rPr>
                          <a:latin typeface="Segoe UI"/>
                          <a:ea typeface="Meiryo UI"/>
                        </a:rPr>
                        <a:t>4</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在庫アラート＆発注提案</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在庫管理 / 購買</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HTTP → Code → IF/ELSE → VA</a:t>
                      </a:r>
                    </a:p>
                  </a:txBody>
                  <a:tcPr anchor="ctr">
                    <a:solidFill>
                      <a:srgbClr val="FDF5EF"/>
                    </a:solidFill>
                  </a:tcPr>
                </a:tc>
                <a:tc>
                  <a:txBody>
                    <a:bodyPr/>
                    <a:lstStyle/>
                    <a:p>
                      <a:pPr algn="ctr">
                        <a:defRPr sz="1200">
                          <a:solidFill>
                            <a:srgbClr val="2A1A12"/>
                          </a:solidFill>
                          <a:latin typeface="Segoe UI"/>
                        </a:defRPr>
                      </a:pPr>
                      <a:r>
                        <a:rPr>
                          <a:latin typeface="Segoe UI"/>
                          <a:ea typeface="Meiryo UI"/>
                        </a:rPr>
                        <a:t>8</a:t>
                      </a:r>
                    </a:p>
                  </a:txBody>
                  <a:tcPr anchor="ctr">
                    <a:solidFill>
                      <a:srgbClr val="FDF5EF"/>
                    </a:solidFill>
                  </a:tcPr>
                </a:tc>
              </a:tr>
              <a:tr h="457200">
                <a:tc>
                  <a:txBody>
                    <a:bodyPr/>
                    <a:lstStyle/>
                    <a:p>
                      <a:pPr algn="ctr">
                        <a:defRPr sz="1200">
                          <a:solidFill>
                            <a:srgbClr val="2A1A12"/>
                          </a:solidFill>
                          <a:latin typeface="Segoe UI"/>
                        </a:defRPr>
                      </a:pPr>
                      <a:r>
                        <a:rPr>
                          <a:latin typeface="Segoe UI"/>
                          <a:ea typeface="Meiryo UI"/>
                        </a:rPr>
                        <a:t>5</a:t>
                      </a:r>
                    </a:p>
                  </a:txBody>
                  <a:tcPr anchor="ctr"/>
                </a:tc>
                <a:tc>
                  <a:txBody>
                    <a:bodyPr/>
                    <a:lstStyle/>
                    <a:p>
                      <a:pPr algn="l">
                        <a:defRPr sz="1200">
                          <a:solidFill>
                            <a:srgbClr val="2A1A12"/>
                          </a:solidFill>
                          <a:latin typeface="Segoe UI"/>
                        </a:defRPr>
                      </a:pPr>
                      <a:r>
                        <a:rPr>
                          <a:latin typeface="Segoe UI"/>
                          <a:ea typeface="Meiryo UI"/>
                        </a:rPr>
                        <a:t>商品レコメンドメール</a:t>
                      </a:r>
                    </a:p>
                  </a:txBody>
                  <a:tcPr anchor="ctr"/>
                </a:tc>
                <a:tc>
                  <a:txBody>
                    <a:bodyPr/>
                    <a:lstStyle/>
                    <a:p>
                      <a:pPr algn="l">
                        <a:defRPr sz="1200">
                          <a:solidFill>
                            <a:srgbClr val="2A1A12"/>
                          </a:solidFill>
                          <a:latin typeface="Segoe UI"/>
                        </a:defRPr>
                      </a:pPr>
                      <a:r>
                        <a:rPr>
                          <a:latin typeface="Segoe UI"/>
                          <a:ea typeface="Meiryo UI"/>
                        </a:rPr>
                        <a:t>CRM / マーケティング</a:t>
                      </a:r>
                    </a:p>
                  </a:txBody>
                  <a:tcPr anchor="ctr"/>
                </a:tc>
                <a:tc>
                  <a:txBody>
                    <a:bodyPr/>
                    <a:lstStyle/>
                    <a:p>
                      <a:pPr algn="l">
                        <a:defRPr sz="1200">
                          <a:solidFill>
                            <a:srgbClr val="2A1A12"/>
                          </a:solidFill>
                          <a:latin typeface="Segoe UI"/>
                        </a:defRPr>
                      </a:pPr>
                      <a:r>
                        <a:rPr>
                          <a:latin typeface="Segoe UI"/>
                          <a:ea typeface="Meiryo UI"/>
                        </a:rPr>
                        <a:t>Code → QC 3分岐 → LLM×3 → VA</a:t>
                      </a:r>
                    </a:p>
                  </a:txBody>
                  <a:tcPr anchor="ctr"/>
                </a:tc>
                <a:tc>
                  <a:txBody>
                    <a:bodyPr/>
                    <a:lstStyle/>
                    <a:p>
                      <a:pPr algn="ctr">
                        <a:defRPr sz="1200">
                          <a:solidFill>
                            <a:srgbClr val="2A1A12"/>
                          </a:solidFill>
                          <a:latin typeface="Segoe UI"/>
                        </a:defRPr>
                      </a:pPr>
                      <a:r>
                        <a:rPr>
                          <a:latin typeface="Segoe UI"/>
                          <a:ea typeface="Meiryo UI"/>
                        </a:rPr>
                        <a:t>8</a:t>
                      </a:r>
                    </a:p>
                  </a:txBody>
                  <a:tcPr anchor="ctr"/>
                </a:tc>
              </a:tr>
              <a:tr h="457200">
                <a:tc>
                  <a:txBody>
                    <a:bodyPr/>
                    <a:lstStyle/>
                    <a:p>
                      <a:pPr algn="ctr">
                        <a:defRPr sz="1200">
                          <a:solidFill>
                            <a:srgbClr val="2A1A12"/>
                          </a:solidFill>
                          <a:latin typeface="Segoe UI"/>
                        </a:defRPr>
                      </a:pPr>
                      <a:r>
                        <a:rPr>
                          <a:latin typeface="Segoe UI"/>
                          <a:ea typeface="Meiryo UI"/>
                        </a:rPr>
                        <a:t>6</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返品・クレーム対応</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CS（カスタマーサポート）</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PE → Code → IF/ELSE → LLM/TT</a:t>
                      </a:r>
                    </a:p>
                  </a:txBody>
                  <a:tcPr anchor="ctr">
                    <a:solidFill>
                      <a:srgbClr val="FDF5EF"/>
                    </a:solidFill>
                  </a:tcPr>
                </a:tc>
                <a:tc>
                  <a:txBody>
                    <a:bodyPr/>
                    <a:lstStyle/>
                    <a:p>
                      <a:pPr algn="ctr">
                        <a:defRPr sz="1200">
                          <a:solidFill>
                            <a:srgbClr val="2A1A12"/>
                          </a:solidFill>
                          <a:latin typeface="Segoe UI"/>
                        </a:defRPr>
                      </a:pPr>
                      <a:r>
                        <a:rPr>
                          <a:latin typeface="Segoe UI"/>
                          <a:ea typeface="Meiryo UI"/>
                        </a:rPr>
                        <a:t>8</a:t>
                      </a:r>
                    </a:p>
                  </a:txBody>
                  <a:tcPr anchor="ctr">
                    <a:solidFill>
                      <a:srgbClr val="FDF5EF"/>
                    </a:solidFill>
                  </a:tcPr>
                </a:tc>
              </a:tr>
              <a:tr h="457200">
                <a:tc>
                  <a:txBody>
                    <a:bodyPr/>
                    <a:lstStyle/>
                    <a:p>
                      <a:pPr algn="ctr">
                        <a:defRPr sz="1200">
                          <a:solidFill>
                            <a:srgbClr val="2A1A12"/>
                          </a:solidFill>
                          <a:latin typeface="Segoe UI"/>
                        </a:defRPr>
                      </a:pPr>
                      <a:r>
                        <a:rPr>
                          <a:latin typeface="Segoe UI"/>
                          <a:ea typeface="Meiryo UI"/>
                        </a:rPr>
                        <a:t>7</a:t>
                      </a:r>
                    </a:p>
                  </a:txBody>
                  <a:tcPr anchor="ctr"/>
                </a:tc>
                <a:tc>
                  <a:txBody>
                    <a:bodyPr/>
                    <a:lstStyle/>
                    <a:p>
                      <a:pPr algn="l">
                        <a:defRPr sz="1200">
                          <a:solidFill>
                            <a:srgbClr val="2A1A12"/>
                          </a:solidFill>
                          <a:latin typeface="Segoe UI"/>
                        </a:defRPr>
                      </a:pPr>
                      <a:r>
                        <a:rPr>
                          <a:latin typeface="Segoe UI"/>
                          <a:ea typeface="Meiryo UI"/>
                        </a:rPr>
                        <a:t>競合価格モニタリング</a:t>
                      </a:r>
                    </a:p>
                  </a:txBody>
                  <a:tcPr anchor="ctr"/>
                </a:tc>
                <a:tc>
                  <a:txBody>
                    <a:bodyPr/>
                    <a:lstStyle/>
                    <a:p>
                      <a:pPr algn="l">
                        <a:defRPr sz="1200">
                          <a:solidFill>
                            <a:srgbClr val="2A1A12"/>
                          </a:solidFill>
                          <a:latin typeface="Segoe UI"/>
                        </a:defRPr>
                      </a:pPr>
                      <a:r>
                        <a:rPr>
                          <a:latin typeface="Segoe UI"/>
                          <a:ea typeface="Meiryo UI"/>
                        </a:rPr>
                        <a:t>MD / 経営企画</a:t>
                      </a:r>
                    </a:p>
                  </a:txBody>
                  <a:tcPr anchor="ctr"/>
                </a:tc>
                <a:tc>
                  <a:txBody>
                    <a:bodyPr/>
                    <a:lstStyle/>
                    <a:p>
                      <a:pPr algn="l">
                        <a:defRPr sz="1200">
                          <a:solidFill>
                            <a:srgbClr val="2A1A12"/>
                          </a:solidFill>
                          <a:latin typeface="Segoe UI"/>
                        </a:defRPr>
                      </a:pPr>
                      <a:r>
                        <a:rPr>
                          <a:latin typeface="Segoe UI"/>
                          <a:ea typeface="Meiryo UI"/>
                        </a:rPr>
                        <a:t>Code → Iteration[HTTP] → LLM</a:t>
                      </a:r>
                    </a:p>
                  </a:txBody>
                  <a:tcPr anchor="ctr"/>
                </a:tc>
                <a:tc>
                  <a:txBody>
                    <a:bodyPr/>
                    <a:lstStyle/>
                    <a:p>
                      <a:pPr algn="ctr">
                        <a:defRPr sz="1200">
                          <a:solidFill>
                            <a:srgbClr val="2A1A12"/>
                          </a:solidFill>
                          <a:latin typeface="Segoe UI"/>
                        </a:defRPr>
                      </a:pPr>
                      <a:r>
                        <a:rPr>
                          <a:latin typeface="Segoe UI"/>
                          <a:ea typeface="Meiryo UI"/>
                        </a:rPr>
                        <a:t>7</a:t>
                      </a:r>
                    </a:p>
                  </a:txBody>
                  <a:tcPr anchor="ctr"/>
                </a:tc>
              </a:tr>
              <a:tr h="457200">
                <a:tc>
                  <a:txBody>
                    <a:bodyPr/>
                    <a:lstStyle/>
                    <a:p>
                      <a:pPr algn="ctr">
                        <a:defRPr sz="1200">
                          <a:solidFill>
                            <a:srgbClr val="2A1A12"/>
                          </a:solidFill>
                          <a:latin typeface="Segoe UI"/>
                        </a:defRPr>
                      </a:pPr>
                      <a:r>
                        <a:rPr>
                          <a:latin typeface="Segoe UI"/>
                          <a:ea typeface="Meiryo UI"/>
                        </a:rPr>
                        <a:t>8</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商品カテゴリ自動分類</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EC運営 / 商品マスタ</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Code → QC 4分岐 → LLM×4 → VA</a:t>
                      </a:r>
                    </a:p>
                  </a:txBody>
                  <a:tcPr anchor="ctr">
                    <a:solidFill>
                      <a:srgbClr val="FDF5EF"/>
                    </a:solidFill>
                  </a:tcPr>
                </a:tc>
                <a:tc>
                  <a:txBody>
                    <a:bodyPr/>
                    <a:lstStyle/>
                    <a:p>
                      <a:pPr algn="ctr">
                        <a:defRPr sz="1200">
                          <a:solidFill>
                            <a:srgbClr val="2A1A12"/>
                          </a:solidFill>
                          <a:latin typeface="Segoe UI"/>
                        </a:defRPr>
                      </a:pPr>
                      <a:r>
                        <a:rPr>
                          <a:latin typeface="Segoe UI"/>
                          <a:ea typeface="Meiryo UI"/>
                        </a:rPr>
                        <a:t>9</a:t>
                      </a:r>
                    </a:p>
                  </a:txBody>
                  <a:tcPr anchor="ctr">
                    <a:solidFill>
                      <a:srgbClr val="FDF5EF"/>
                    </a:solidFill>
                  </a:tcPr>
                </a:tc>
              </a:tr>
              <a:tr h="457200">
                <a:tc>
                  <a:txBody>
                    <a:bodyPr/>
                    <a:lstStyle/>
                    <a:p>
                      <a:pPr algn="ctr">
                        <a:defRPr sz="1200">
                          <a:solidFill>
                            <a:srgbClr val="2A1A12"/>
                          </a:solidFill>
                          <a:latin typeface="Segoe UI"/>
                        </a:defRPr>
                      </a:pPr>
                      <a:r>
                        <a:rPr>
                          <a:latin typeface="Segoe UI"/>
                          <a:ea typeface="Meiryo UI"/>
                        </a:rPr>
                        <a:t>9</a:t>
                      </a:r>
                    </a:p>
                  </a:txBody>
                  <a:tcPr anchor="ctr"/>
                </a:tc>
                <a:tc>
                  <a:txBody>
                    <a:bodyPr/>
                    <a:lstStyle/>
                    <a:p>
                      <a:pPr algn="l">
                        <a:defRPr sz="1200">
                          <a:solidFill>
                            <a:srgbClr val="2A1A12"/>
                          </a:solidFill>
                          <a:latin typeface="Segoe UI"/>
                        </a:defRPr>
                      </a:pPr>
                      <a:r>
                        <a:rPr>
                          <a:latin typeface="Segoe UI"/>
                          <a:ea typeface="Meiryo UI"/>
                        </a:rPr>
                        <a:t>キャンペーン企画書</a:t>
                      </a:r>
                    </a:p>
                  </a:txBody>
                  <a:tcPr anchor="ctr"/>
                </a:tc>
                <a:tc>
                  <a:txBody>
                    <a:bodyPr/>
                    <a:lstStyle/>
                    <a:p>
                      <a:pPr algn="l">
                        <a:defRPr sz="1200">
                          <a:solidFill>
                            <a:srgbClr val="2A1A12"/>
                          </a:solidFill>
                          <a:latin typeface="Segoe UI"/>
                        </a:defRPr>
                      </a:pPr>
                      <a:r>
                        <a:rPr>
                          <a:latin typeface="Segoe UI"/>
                          <a:ea typeface="Meiryo UI"/>
                        </a:rPr>
                        <a:t>マーケ / 販促企画</a:t>
                      </a:r>
                    </a:p>
                  </a:txBody>
                  <a:tcPr anchor="ctr"/>
                </a:tc>
                <a:tc>
                  <a:txBody>
                    <a:bodyPr/>
                    <a:lstStyle/>
                    <a:p>
                      <a:pPr algn="l">
                        <a:defRPr sz="1200">
                          <a:solidFill>
                            <a:srgbClr val="2A1A12"/>
                          </a:solidFill>
                          <a:latin typeface="Segoe UI"/>
                        </a:defRPr>
                      </a:pPr>
                      <a:r>
                        <a:rPr>
                          <a:latin typeface="Segoe UI"/>
                          <a:ea typeface="Meiryo UI"/>
                        </a:rPr>
                        <a:t>Code → LLM(8192tok) → TT</a:t>
                      </a:r>
                    </a:p>
                  </a:txBody>
                  <a:tcPr anchor="ctr"/>
                </a:tc>
                <a:tc>
                  <a:txBody>
                    <a:bodyPr/>
                    <a:lstStyle/>
                    <a:p>
                      <a:pPr algn="ctr">
                        <a:defRPr sz="1200">
                          <a:solidFill>
                            <a:srgbClr val="2A1A12"/>
                          </a:solidFill>
                          <a:latin typeface="Segoe UI"/>
                        </a:defRPr>
                      </a:pPr>
                      <a:r>
                        <a:rPr>
                          <a:latin typeface="Segoe UI"/>
                          <a:ea typeface="Meiryo UI"/>
                        </a:rPr>
                        <a:t>5</a:t>
                      </a:r>
                    </a:p>
                  </a:txBody>
                  <a:tcPr anchor="ctr"/>
                </a:tc>
              </a:tr>
              <a:tr h="457200">
                <a:tc>
                  <a:txBody>
                    <a:bodyPr/>
                    <a:lstStyle/>
                    <a:p>
                      <a:pPr algn="ctr">
                        <a:defRPr sz="1200">
                          <a:solidFill>
                            <a:srgbClr val="2A1A12"/>
                          </a:solidFill>
                          <a:latin typeface="Segoe UI"/>
                        </a:defRPr>
                      </a:pPr>
                      <a:r>
                        <a:rPr>
                          <a:latin typeface="Segoe UI"/>
                          <a:ea typeface="Meiryo UI"/>
                        </a:rPr>
                        <a:t>10</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多店舗売上日報</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店舗運営 / エリアMgr</a:t>
                      </a:r>
                    </a:p>
                  </a:txBody>
                  <a:tcPr anchor="ctr">
                    <a:solidFill>
                      <a:srgbClr val="FDF5EF"/>
                    </a:solidFill>
                  </a:tcPr>
                </a:tc>
                <a:tc>
                  <a:txBody>
                    <a:bodyPr/>
                    <a:lstStyle/>
                    <a:p>
                      <a:pPr algn="l">
                        <a:defRPr sz="1200">
                          <a:solidFill>
                            <a:srgbClr val="2A1A12"/>
                          </a:solidFill>
                          <a:latin typeface="Segoe UI"/>
                        </a:defRPr>
                      </a:pPr>
                      <a:r>
                        <a:rPr>
                          <a:latin typeface="Segoe UI"/>
                          <a:ea typeface="Meiryo UI"/>
                        </a:rPr>
                        <a:t>Code → Iteration[HTTP] → LLM</a:t>
                      </a:r>
                    </a:p>
                  </a:txBody>
                  <a:tcPr anchor="ctr">
                    <a:solidFill>
                      <a:srgbClr val="FDF5EF"/>
                    </a:solidFill>
                  </a:tcPr>
                </a:tc>
                <a:tc>
                  <a:txBody>
                    <a:bodyPr/>
                    <a:lstStyle/>
                    <a:p>
                      <a:pPr algn="ctr">
                        <a:defRPr sz="1200">
                          <a:solidFill>
                            <a:srgbClr val="2A1A12"/>
                          </a:solidFill>
                          <a:latin typeface="Segoe UI"/>
                        </a:defRPr>
                      </a:pPr>
                      <a:r>
                        <a:rPr>
                          <a:latin typeface="Segoe UI"/>
                          <a:ea typeface="Meiryo UI"/>
                        </a:rPr>
                        <a:t>7</a:t>
                      </a:r>
                    </a:p>
                  </a:txBody>
                  <a:tcPr anchor="ctr">
                    <a:solidFill>
                      <a:srgbClr val="FDF5E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設計思想  ─  小売・EC業務への最適化</a:t>
            </a:r>
          </a:p>
        </p:txBody>
      </p:sp>
      <p:sp>
        <p:nvSpPr>
          <p:cNvPr id="4" name="Rectangle 3"/>
          <p:cNvSpPr/>
          <p:nvPr/>
        </p:nvSpPr>
        <p:spPr>
          <a:xfrm>
            <a:off x="548640" y="1280160"/>
            <a:ext cx="63500" cy="201168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75640" y="1280160"/>
            <a:ext cx="329184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3017520" cy="365760"/>
          </a:xfrm>
          <a:prstGeom prst="rect">
            <a:avLst/>
          </a:prstGeom>
          <a:noFill/>
        </p:spPr>
        <p:txBody>
          <a:bodyPr wrap="square">
            <a:spAutoFit/>
          </a:bodyPr>
          <a:lstStyle/>
          <a:p>
            <a:pPr algn="l">
              <a:defRPr sz="1600" b="1">
                <a:solidFill>
                  <a:srgbClr val="E65C00"/>
                </a:solidFill>
                <a:latin typeface="Segoe UI"/>
              </a:defRPr>
            </a:pPr>
            <a:r>
              <a:rPr>
                <a:latin typeface="Segoe UI"/>
                <a:ea typeface="Meiryo UI"/>
              </a:rPr>
              <a:t>顧客体験重視</a:t>
            </a:r>
          </a:p>
        </p:txBody>
      </p:sp>
      <p:sp>
        <p:nvSpPr>
          <p:cNvPr id="7" name="TextBox 6"/>
          <p:cNvSpPr txBox="1"/>
          <p:nvPr/>
        </p:nvSpPr>
        <p:spPr>
          <a:xfrm>
            <a:off x="731520" y="1874520"/>
            <a:ext cx="3017520" cy="128016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チャットボット・レコメンド・</a:t>
            </a:r>
            <a:br/>
            <a:r>
              <a:rPr>
                <a:latin typeface="Segoe UI"/>
                <a:ea typeface="Meiryo UI"/>
              </a:rPr>
              <a:t>クレーム対応等、顧客接点の</a:t>
            </a:r>
            <a:br/>
            <a:r>
              <a:rPr>
                <a:latin typeface="Segoe UI"/>
                <a:ea typeface="Meiryo UI"/>
              </a:rPr>
              <a:t>ワークフローを重点設計。</a:t>
            </a:r>
          </a:p>
        </p:txBody>
      </p:sp>
      <p:sp>
        <p:nvSpPr>
          <p:cNvPr id="8" name="Rectangle 7"/>
          <p:cNvSpPr/>
          <p:nvPr/>
        </p:nvSpPr>
        <p:spPr>
          <a:xfrm>
            <a:off x="4297679" y="1280160"/>
            <a:ext cx="63500" cy="201168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424679" y="1280160"/>
            <a:ext cx="329184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417320"/>
            <a:ext cx="3017520" cy="365760"/>
          </a:xfrm>
          <a:prstGeom prst="rect">
            <a:avLst/>
          </a:prstGeom>
          <a:noFill/>
        </p:spPr>
        <p:txBody>
          <a:bodyPr wrap="square">
            <a:spAutoFit/>
          </a:bodyPr>
          <a:lstStyle/>
          <a:p>
            <a:pPr algn="l">
              <a:defRPr sz="1600" b="1">
                <a:solidFill>
                  <a:srgbClr val="C62828"/>
                </a:solidFill>
                <a:latin typeface="Segoe UI"/>
              </a:defRPr>
            </a:pPr>
            <a:r>
              <a:rPr>
                <a:latin typeface="Segoe UI"/>
                <a:ea typeface="Meiryo UI"/>
              </a:rPr>
              <a:t>法令コンプライアンス</a:t>
            </a:r>
          </a:p>
        </p:txBody>
      </p:sp>
      <p:sp>
        <p:nvSpPr>
          <p:cNvPr id="11" name="TextBox 10"/>
          <p:cNvSpPr txBox="1"/>
          <p:nvPr/>
        </p:nvSpPr>
        <p:spPr>
          <a:xfrm>
            <a:off x="4480559" y="1874520"/>
            <a:ext cx="3017520" cy="128016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景品表示法・特商法・個人情報保護</a:t>
            </a:r>
            <a:br/>
            <a:r>
              <a:rPr>
                <a:latin typeface="Segoe UI"/>
                <a:ea typeface="Meiryo UI"/>
              </a:rPr>
              <a:t>を考慮。誇大表現禁止や</a:t>
            </a:r>
            <a:br/>
            <a:r>
              <a:rPr>
                <a:latin typeface="Segoe UI"/>
                <a:ea typeface="Meiryo UI"/>
              </a:rPr>
              <a:t>配信停止案内をプロンプトに組込み。</a:t>
            </a:r>
          </a:p>
        </p:txBody>
      </p:sp>
      <p:sp>
        <p:nvSpPr>
          <p:cNvPr id="12" name="Rectangle 11"/>
          <p:cNvSpPr/>
          <p:nvPr/>
        </p:nvSpPr>
        <p:spPr>
          <a:xfrm>
            <a:off x="8046719" y="1280160"/>
            <a:ext cx="63500" cy="2011680"/>
          </a:xfrm>
          <a:prstGeom prst="rect">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73719" y="1280160"/>
            <a:ext cx="329184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599" y="1417320"/>
            <a:ext cx="3017520" cy="365760"/>
          </a:xfrm>
          <a:prstGeom prst="rect">
            <a:avLst/>
          </a:prstGeom>
          <a:noFill/>
        </p:spPr>
        <p:txBody>
          <a:bodyPr wrap="square">
            <a:spAutoFit/>
          </a:bodyPr>
          <a:lstStyle/>
          <a:p>
            <a:pPr algn="l">
              <a:defRPr sz="1600" b="1">
                <a:solidFill>
                  <a:srgbClr val="00896B"/>
                </a:solidFill>
                <a:latin typeface="Segoe UI"/>
              </a:defRPr>
            </a:pPr>
            <a:r>
              <a:rPr>
                <a:latin typeface="Segoe UI"/>
                <a:ea typeface="Meiryo UI"/>
              </a:rPr>
              <a:t>マルチチャネル対応</a:t>
            </a:r>
          </a:p>
        </p:txBody>
      </p:sp>
      <p:sp>
        <p:nvSpPr>
          <p:cNvPr id="15" name="TextBox 14"/>
          <p:cNvSpPr txBox="1"/>
          <p:nvPr/>
        </p:nvSpPr>
        <p:spPr>
          <a:xfrm>
            <a:off x="8229599" y="1874520"/>
            <a:ext cx="3017520" cy="128016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ECサイト・店頭・SNS・メール</a:t>
            </a:r>
            <a:br/>
            <a:r>
              <a:rPr>
                <a:latin typeface="Segoe UI"/>
                <a:ea typeface="Meiryo UI"/>
              </a:rPr>
              <a:t>多チャネルのコンテンツ生成を</a:t>
            </a:r>
            <a:br/>
            <a:r>
              <a:rPr>
                <a:latin typeface="Segoe UI"/>
                <a:ea typeface="Meiryo UI"/>
              </a:rPr>
              <a:t>1プラットフォームで統合管理。</a:t>
            </a:r>
          </a:p>
        </p:txBody>
      </p:sp>
      <p:sp>
        <p:nvSpPr>
          <p:cNvPr id="16" name="Rectangle 15"/>
          <p:cNvSpPr/>
          <p:nvPr/>
        </p:nvSpPr>
        <p:spPr>
          <a:xfrm>
            <a:off x="548640" y="3931920"/>
            <a:ext cx="63500" cy="2011680"/>
          </a:xfrm>
          <a:prstGeom prst="rect">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75640" y="3931920"/>
            <a:ext cx="329184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69080"/>
            <a:ext cx="3017520" cy="365760"/>
          </a:xfrm>
          <a:prstGeom prst="rect">
            <a:avLst/>
          </a:prstGeom>
          <a:noFill/>
        </p:spPr>
        <p:txBody>
          <a:bodyPr wrap="square">
            <a:spAutoFit/>
          </a:bodyPr>
          <a:lstStyle/>
          <a:p>
            <a:pPr algn="l">
              <a:defRPr sz="1600" b="1">
                <a:solidFill>
                  <a:srgbClr val="006EBF"/>
                </a:solidFill>
                <a:latin typeface="Segoe UI"/>
              </a:defRPr>
            </a:pPr>
            <a:r>
              <a:rPr>
                <a:latin typeface="Segoe UI"/>
                <a:ea typeface="Meiryo UI"/>
              </a:rPr>
              <a:t>データドリブン分析</a:t>
            </a:r>
          </a:p>
        </p:txBody>
      </p:sp>
      <p:sp>
        <p:nvSpPr>
          <p:cNvPr id="19" name="TextBox 18"/>
          <p:cNvSpPr txBox="1"/>
          <p:nvPr/>
        </p:nvSpPr>
        <p:spPr>
          <a:xfrm>
            <a:off x="731520" y="4526280"/>
            <a:ext cx="3017520" cy="128016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在庫API・売上API・競合価格API</a:t>
            </a:r>
            <a:br/>
            <a:r>
              <a:rPr>
                <a:latin typeface="Segoe UI"/>
                <a:ea typeface="Meiryo UI"/>
              </a:rPr>
              <a:t>との連携で、データに基づく</a:t>
            </a:r>
            <a:br/>
            <a:r>
              <a:rPr>
                <a:latin typeface="Segoe UI"/>
                <a:ea typeface="Meiryo UI"/>
              </a:rPr>
              <a:t>意思決定をワークフローで自動化。</a:t>
            </a:r>
          </a:p>
        </p:txBody>
      </p:sp>
      <p:sp>
        <p:nvSpPr>
          <p:cNvPr id="20" name="Rectangle 19"/>
          <p:cNvSpPr/>
          <p:nvPr/>
        </p:nvSpPr>
        <p:spPr>
          <a:xfrm>
            <a:off x="4297679" y="3931920"/>
            <a:ext cx="63500" cy="201168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24679" y="3931920"/>
            <a:ext cx="329184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4069080"/>
            <a:ext cx="3017520" cy="365760"/>
          </a:xfrm>
          <a:prstGeom prst="rect">
            <a:avLst/>
          </a:prstGeom>
          <a:noFill/>
        </p:spPr>
        <p:txBody>
          <a:bodyPr wrap="square">
            <a:spAutoFit/>
          </a:bodyPr>
          <a:lstStyle/>
          <a:p>
            <a:pPr algn="l">
              <a:defRPr sz="1600" b="1">
                <a:solidFill>
                  <a:srgbClr val="6A1B9A"/>
                </a:solidFill>
                <a:latin typeface="Segoe UI"/>
              </a:defRPr>
            </a:pPr>
            <a:r>
              <a:rPr>
                <a:latin typeface="Segoe UI"/>
                <a:ea typeface="Meiryo UI"/>
              </a:rPr>
              <a:t>セグメント最適化</a:t>
            </a:r>
          </a:p>
        </p:txBody>
      </p:sp>
      <p:sp>
        <p:nvSpPr>
          <p:cNvPr id="23" name="TextBox 22"/>
          <p:cNvSpPr txBox="1"/>
          <p:nvPr/>
        </p:nvSpPr>
        <p:spPr>
          <a:xfrm>
            <a:off x="4480559" y="4526280"/>
            <a:ext cx="3017520" cy="128016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VIP・リピーター・新規顧客や</a:t>
            </a:r>
            <a:br/>
            <a:r>
              <a:rPr>
                <a:latin typeface="Segoe UI"/>
                <a:ea typeface="Meiryo UI"/>
              </a:rPr>
              <a:t>4商品カテゴリ等、セグメント別に</a:t>
            </a:r>
            <a:br/>
            <a:r>
              <a:rPr>
                <a:latin typeface="Segoe UI"/>
                <a:ea typeface="Meiryo UI"/>
              </a:rPr>
              <a:t>最適化されたコンテンツを自動生成。</a:t>
            </a:r>
          </a:p>
        </p:txBody>
      </p:sp>
      <p:sp>
        <p:nvSpPr>
          <p:cNvPr id="24" name="Rectangle 23"/>
          <p:cNvSpPr/>
          <p:nvPr/>
        </p:nvSpPr>
        <p:spPr>
          <a:xfrm>
            <a:off x="8046719" y="3931920"/>
            <a:ext cx="63500" cy="2011680"/>
          </a:xfrm>
          <a:prstGeom prst="rect">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173719" y="3931920"/>
            <a:ext cx="329184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9" y="4069080"/>
            <a:ext cx="3017520" cy="365760"/>
          </a:xfrm>
          <a:prstGeom prst="rect">
            <a:avLst/>
          </a:prstGeom>
          <a:noFill/>
        </p:spPr>
        <p:txBody>
          <a:bodyPr wrap="square">
            <a:spAutoFit/>
          </a:bodyPr>
          <a:lstStyle/>
          <a:p>
            <a:pPr algn="l">
              <a:defRPr sz="1600" b="1">
                <a:solidFill>
                  <a:srgbClr val="37474F"/>
                </a:solidFill>
                <a:latin typeface="Segoe UI"/>
              </a:defRPr>
            </a:pPr>
            <a:r>
              <a:rPr>
                <a:latin typeface="Segoe UI"/>
                <a:ea typeface="Meiryo UI"/>
              </a:rPr>
              <a:t>段階的導入設計</a:t>
            </a:r>
          </a:p>
        </p:txBody>
      </p:sp>
      <p:sp>
        <p:nvSpPr>
          <p:cNvPr id="27" name="TextBox 26"/>
          <p:cNvSpPr txBox="1"/>
          <p:nvPr/>
        </p:nvSpPr>
        <p:spPr>
          <a:xfrm>
            <a:off x="8229599" y="4526280"/>
            <a:ext cx="3017520" cy="128016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5ノード（説明文生成）から</a:t>
            </a:r>
            <a:br/>
            <a:r>
              <a:rPr>
                <a:latin typeface="Segoe UI"/>
                <a:ea typeface="Meiryo UI"/>
              </a:rPr>
              <a:t>10ノード（チャットボット）まで</a:t>
            </a:r>
            <a:br/>
            <a:r>
              <a:rPr>
                <a:latin typeface="Segoe UI"/>
                <a:ea typeface="Meiryo UI"/>
              </a:rPr>
              <a:t>段階的に複雑化。PoC→本番展開。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①  EC運営・商品管理  ─  説明文・レビュー・カテゴリ・企画</a:t>
            </a:r>
          </a:p>
        </p:txBody>
      </p:sp>
      <p:sp>
        <p:nvSpPr>
          <p:cNvPr id="4" name="Rounded Rectangle 3"/>
          <p:cNvSpPr/>
          <p:nvPr/>
        </p:nvSpPr>
        <p:spPr>
          <a:xfrm>
            <a:off x="45720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RTL-01  商品説明文自動生成</a:t>
            </a:r>
          </a:p>
        </p:txBody>
      </p:sp>
      <p:sp>
        <p:nvSpPr>
          <p:cNvPr id="7" name="TextBox 6"/>
          <p:cNvSpPr txBox="1"/>
          <p:nvPr/>
        </p:nvSpPr>
        <p:spPr>
          <a:xfrm>
            <a:off x="64008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EC運営 / 商品企画</a:t>
            </a:r>
          </a:p>
        </p:txBody>
      </p:sp>
      <p:sp>
        <p:nvSpPr>
          <p:cNvPr id="8" name="Rectangle 7"/>
          <p:cNvSpPr/>
          <p:nvPr/>
        </p:nvSpPr>
        <p:spPr>
          <a:xfrm>
            <a:off x="64008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10" name="TextBox 9"/>
          <p:cNvSpPr txBox="1"/>
          <p:nvPr/>
        </p:nvSpPr>
        <p:spPr>
          <a:xfrm>
            <a:off x="64008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開始(5入力) → Code整形 → LLM説明文生成 → TT(フォーマット) → 終了</a:t>
            </a:r>
          </a:p>
        </p:txBody>
      </p:sp>
      <p:sp>
        <p:nvSpPr>
          <p:cNvPr id="11" name="TextBox 10"/>
          <p:cNvSpPr txBox="1"/>
          <p:nvPr/>
        </p:nvSpPr>
        <p:spPr>
          <a:xfrm>
            <a:off x="64008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12" name="TextBox 11"/>
          <p:cNvSpPr txBox="1"/>
          <p:nvPr/>
        </p:nvSpPr>
        <p:spPr>
          <a:xfrm>
            <a:off x="64008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商品名・カテゴリ・特徴・ターゲット層からSEO対応の商品説明文を自動生成。キャッチコピー＋概要＋特徴＋おすすめ対象の構成。</a:t>
            </a:r>
          </a:p>
        </p:txBody>
      </p:sp>
      <p:sp>
        <p:nvSpPr>
          <p:cNvPr id="13" name="Rounded Rectangle 12"/>
          <p:cNvSpPr/>
          <p:nvPr/>
        </p:nvSpPr>
        <p:spPr>
          <a:xfrm>
            <a:off x="64008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15" name="TextBox 14"/>
          <p:cNvSpPr txBox="1"/>
          <p:nvPr/>
        </p:nvSpPr>
        <p:spPr>
          <a:xfrm>
            <a:off x="73152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商品登録作業を30分→5分に短縮</a:t>
            </a:r>
          </a:p>
        </p:txBody>
      </p:sp>
      <p:sp>
        <p:nvSpPr>
          <p:cNvPr id="16" name="Rounded Rectangle 15"/>
          <p:cNvSpPr/>
          <p:nvPr/>
        </p:nvSpPr>
        <p:spPr>
          <a:xfrm>
            <a:off x="417576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576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RTL-02  レビュー分析・要約</a:t>
            </a:r>
          </a:p>
        </p:txBody>
      </p:sp>
      <p:sp>
        <p:nvSpPr>
          <p:cNvPr id="19" name="TextBox 18"/>
          <p:cNvSpPr txBox="1"/>
          <p:nvPr/>
        </p:nvSpPr>
        <p:spPr>
          <a:xfrm>
            <a:off x="435864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CS / マーケ / 商品開発</a:t>
            </a:r>
          </a:p>
        </p:txBody>
      </p:sp>
      <p:sp>
        <p:nvSpPr>
          <p:cNvPr id="20" name="Rectangle 19"/>
          <p:cNvSpPr/>
          <p:nvPr/>
        </p:nvSpPr>
        <p:spPr>
          <a:xfrm>
            <a:off x="435864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64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22" name="TextBox 21"/>
          <p:cNvSpPr txBox="1"/>
          <p:nvPr/>
        </p:nvSpPr>
        <p:spPr>
          <a:xfrm>
            <a:off x="435864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 → PE(抽出) → Code(感情スコア) → LLM(分析) → TT → 終了</a:t>
            </a:r>
          </a:p>
        </p:txBody>
      </p:sp>
      <p:sp>
        <p:nvSpPr>
          <p:cNvPr id="23" name="TextBox 22"/>
          <p:cNvSpPr txBox="1"/>
          <p:nvPr/>
        </p:nvSpPr>
        <p:spPr>
          <a:xfrm>
            <a:off x="435864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24" name="TextBox 23"/>
          <p:cNvSpPr txBox="1"/>
          <p:nvPr/>
        </p:nvSpPr>
        <p:spPr>
          <a:xfrm>
            <a:off x="435864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レビューをPEで構造化し、感情スコアリング（0-100）。良い点・悪い点・販促提案のレポートを自動生成。</a:t>
            </a:r>
          </a:p>
        </p:txBody>
      </p:sp>
      <p:sp>
        <p:nvSpPr>
          <p:cNvPr id="25" name="Rounded Rectangle 24"/>
          <p:cNvSpPr/>
          <p:nvPr/>
        </p:nvSpPr>
        <p:spPr>
          <a:xfrm>
            <a:off x="435864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08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27" name="TextBox 26"/>
          <p:cNvSpPr txBox="1"/>
          <p:nvPr/>
        </p:nvSpPr>
        <p:spPr>
          <a:xfrm>
            <a:off x="445008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レビュー分析の自動化、商品改善に活用</a:t>
            </a:r>
          </a:p>
        </p:txBody>
      </p:sp>
      <p:sp>
        <p:nvSpPr>
          <p:cNvPr id="28" name="Rounded Rectangle 27"/>
          <p:cNvSpPr/>
          <p:nvPr/>
        </p:nvSpPr>
        <p:spPr>
          <a:xfrm>
            <a:off x="789432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432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7720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RTL-08  商品カテゴリ分類</a:t>
            </a:r>
          </a:p>
        </p:txBody>
      </p:sp>
      <p:sp>
        <p:nvSpPr>
          <p:cNvPr id="31" name="TextBox 30"/>
          <p:cNvSpPr txBox="1"/>
          <p:nvPr/>
        </p:nvSpPr>
        <p:spPr>
          <a:xfrm>
            <a:off x="807720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EC運営 / 商品マスタ</a:t>
            </a:r>
          </a:p>
        </p:txBody>
      </p:sp>
      <p:sp>
        <p:nvSpPr>
          <p:cNvPr id="32" name="Rectangle 31"/>
          <p:cNvSpPr/>
          <p:nvPr/>
        </p:nvSpPr>
        <p:spPr>
          <a:xfrm>
            <a:off x="807720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7720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34" name="TextBox 33"/>
          <p:cNvSpPr txBox="1"/>
          <p:nvPr/>
        </p:nvSpPr>
        <p:spPr>
          <a:xfrm>
            <a:off x="807720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 → Code(検証) → QC(4分岐) → LLM×4(タグ生成) → VA → 終了</a:t>
            </a:r>
          </a:p>
        </p:txBody>
      </p:sp>
      <p:sp>
        <p:nvSpPr>
          <p:cNvPr id="35" name="TextBox 34"/>
          <p:cNvSpPr txBox="1"/>
          <p:nvPr/>
        </p:nvSpPr>
        <p:spPr>
          <a:xfrm>
            <a:off x="807720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36" name="TextBox 35"/>
          <p:cNvSpPr txBox="1"/>
          <p:nvPr/>
        </p:nvSpPr>
        <p:spPr>
          <a:xfrm>
            <a:off x="807720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商品情報を食品/アパレル/家電/日用品に自動分類。カテゴリ固有のタグ・属性情報を自動付与。</a:t>
            </a:r>
          </a:p>
        </p:txBody>
      </p:sp>
      <p:sp>
        <p:nvSpPr>
          <p:cNvPr id="37" name="Rounded Rectangle 36"/>
          <p:cNvSpPr/>
          <p:nvPr/>
        </p:nvSpPr>
        <p:spPr>
          <a:xfrm>
            <a:off x="807720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864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39" name="TextBox 38"/>
          <p:cNvSpPr txBox="1"/>
          <p:nvPr/>
        </p:nvSpPr>
        <p:spPr>
          <a:xfrm>
            <a:off x="816864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商品マスタ登録の自動化・均質化</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②  顧客対応  ─  問い合わせ・クレーム・レコメンド</a:t>
            </a:r>
          </a:p>
        </p:txBody>
      </p:sp>
      <p:sp>
        <p:nvSpPr>
          <p:cNvPr id="4" name="Rounded Rectangle 3"/>
          <p:cNvSpPr/>
          <p:nvPr/>
        </p:nvSpPr>
        <p:spPr>
          <a:xfrm>
            <a:off x="45720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RTL-03  商品問い合わせチャット</a:t>
            </a:r>
          </a:p>
        </p:txBody>
      </p:sp>
      <p:sp>
        <p:nvSpPr>
          <p:cNvPr id="7" name="TextBox 6"/>
          <p:cNvSpPr txBox="1"/>
          <p:nvPr/>
        </p:nvSpPr>
        <p:spPr>
          <a:xfrm>
            <a:off x="64008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CS（カスタマーサポート）</a:t>
            </a:r>
          </a:p>
        </p:txBody>
      </p:sp>
      <p:sp>
        <p:nvSpPr>
          <p:cNvPr id="8" name="Rectangle 7"/>
          <p:cNvSpPr/>
          <p:nvPr/>
        </p:nvSpPr>
        <p:spPr>
          <a:xfrm>
            <a:off x="64008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10" name="TextBox 9"/>
          <p:cNvSpPr txBox="1"/>
          <p:nvPr/>
        </p:nvSpPr>
        <p:spPr>
          <a:xfrm>
            <a:off x="64008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 → QC(3分岐) → KR×2 → LLM×3(memory) → Answer×3</a:t>
            </a:r>
          </a:p>
        </p:txBody>
      </p:sp>
      <p:sp>
        <p:nvSpPr>
          <p:cNvPr id="11" name="TextBox 10"/>
          <p:cNvSpPr txBox="1"/>
          <p:nvPr/>
        </p:nvSpPr>
        <p:spPr>
          <a:xfrm>
            <a:off x="64008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12" name="TextBox 11"/>
          <p:cNvSpPr txBox="1"/>
          <p:nvPr/>
        </p:nvSpPr>
        <p:spPr>
          <a:xfrm>
            <a:off x="64008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問い合わせを商品情報/注文配送/返品交換の3カテゴリに自動分類。ナレッジベースを活用した会話型対応。</a:t>
            </a:r>
          </a:p>
        </p:txBody>
      </p:sp>
      <p:sp>
        <p:nvSpPr>
          <p:cNvPr id="13" name="Rounded Rectangle 12"/>
          <p:cNvSpPr/>
          <p:nvPr/>
        </p:nvSpPr>
        <p:spPr>
          <a:xfrm>
            <a:off x="64008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15" name="TextBox 14"/>
          <p:cNvSpPr txBox="1"/>
          <p:nvPr/>
        </p:nvSpPr>
        <p:spPr>
          <a:xfrm>
            <a:off x="73152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CS問い合わせの24時間自動対応</a:t>
            </a:r>
          </a:p>
        </p:txBody>
      </p:sp>
      <p:sp>
        <p:nvSpPr>
          <p:cNvPr id="16" name="Rounded Rectangle 15"/>
          <p:cNvSpPr/>
          <p:nvPr/>
        </p:nvSpPr>
        <p:spPr>
          <a:xfrm>
            <a:off x="417576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576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RTL-06  返品・クレーム対応</a:t>
            </a:r>
          </a:p>
        </p:txBody>
      </p:sp>
      <p:sp>
        <p:nvSpPr>
          <p:cNvPr id="19" name="TextBox 18"/>
          <p:cNvSpPr txBox="1"/>
          <p:nvPr/>
        </p:nvSpPr>
        <p:spPr>
          <a:xfrm>
            <a:off x="435864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CS（カスタマーサポート）</a:t>
            </a:r>
          </a:p>
        </p:txBody>
      </p:sp>
      <p:sp>
        <p:nvSpPr>
          <p:cNvPr id="20" name="Rectangle 19"/>
          <p:cNvSpPr/>
          <p:nvPr/>
        </p:nvSpPr>
        <p:spPr>
          <a:xfrm>
            <a:off x="435864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64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22" name="TextBox 21"/>
          <p:cNvSpPr txBox="1"/>
          <p:nvPr/>
        </p:nvSpPr>
        <p:spPr>
          <a:xfrm>
            <a:off x="435864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 → PE(抽出) → Code(重要度) → IE → LLM/TT → VA → 終了</a:t>
            </a:r>
          </a:p>
        </p:txBody>
      </p:sp>
      <p:sp>
        <p:nvSpPr>
          <p:cNvPr id="23" name="TextBox 22"/>
          <p:cNvSpPr txBox="1"/>
          <p:nvPr/>
        </p:nvSpPr>
        <p:spPr>
          <a:xfrm>
            <a:off x="435864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24" name="TextBox 23"/>
          <p:cNvSpPr txBox="1"/>
          <p:nvPr/>
        </p:nvSpPr>
        <p:spPr>
          <a:xfrm>
            <a:off x="435864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クレームを構造化分析し0-8の重要度スコアで判定。通常は対応メール、重大はエスカレーション通知を自動生成。</a:t>
            </a:r>
          </a:p>
        </p:txBody>
      </p:sp>
      <p:sp>
        <p:nvSpPr>
          <p:cNvPr id="25" name="Rounded Rectangle 24"/>
          <p:cNvSpPr/>
          <p:nvPr/>
        </p:nvSpPr>
        <p:spPr>
          <a:xfrm>
            <a:off x="435864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08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27" name="TextBox 26"/>
          <p:cNvSpPr txBox="1"/>
          <p:nvPr/>
        </p:nvSpPr>
        <p:spPr>
          <a:xfrm>
            <a:off x="445008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クレーム初動対応の迅速化・漏れ防止</a:t>
            </a:r>
          </a:p>
        </p:txBody>
      </p:sp>
      <p:sp>
        <p:nvSpPr>
          <p:cNvPr id="28" name="Rounded Rectangle 27"/>
          <p:cNvSpPr/>
          <p:nvPr/>
        </p:nvSpPr>
        <p:spPr>
          <a:xfrm>
            <a:off x="789432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432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7720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RTL-05  レコメンドメール</a:t>
            </a:r>
          </a:p>
        </p:txBody>
      </p:sp>
      <p:sp>
        <p:nvSpPr>
          <p:cNvPr id="31" name="TextBox 30"/>
          <p:cNvSpPr txBox="1"/>
          <p:nvPr/>
        </p:nvSpPr>
        <p:spPr>
          <a:xfrm>
            <a:off x="807720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CRM / マーケティング</a:t>
            </a:r>
          </a:p>
        </p:txBody>
      </p:sp>
      <p:sp>
        <p:nvSpPr>
          <p:cNvPr id="32" name="Rectangle 31"/>
          <p:cNvSpPr/>
          <p:nvPr/>
        </p:nvSpPr>
        <p:spPr>
          <a:xfrm>
            <a:off x="807720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7720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34" name="TextBox 33"/>
          <p:cNvSpPr txBox="1"/>
          <p:nvPr/>
        </p:nvSpPr>
        <p:spPr>
          <a:xfrm>
            <a:off x="807720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 → Code(分析) → QC(3分岐) → LLM×3 → VA → 終了</a:t>
            </a:r>
          </a:p>
        </p:txBody>
      </p:sp>
      <p:sp>
        <p:nvSpPr>
          <p:cNvPr id="35" name="TextBox 34"/>
          <p:cNvSpPr txBox="1"/>
          <p:nvPr/>
        </p:nvSpPr>
        <p:spPr>
          <a:xfrm>
            <a:off x="807720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36" name="TextBox 35"/>
          <p:cNvSpPr txBox="1"/>
          <p:nvPr/>
        </p:nvSpPr>
        <p:spPr>
          <a:xfrm>
            <a:off x="807720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VIP・リピーター・新規の3セグメント別に最適化されたレコメンドメールを自動生成。購買履歴を活用。</a:t>
            </a:r>
          </a:p>
        </p:txBody>
      </p:sp>
      <p:sp>
        <p:nvSpPr>
          <p:cNvPr id="37" name="Rounded Rectangle 36"/>
          <p:cNvSpPr/>
          <p:nvPr/>
        </p:nvSpPr>
        <p:spPr>
          <a:xfrm>
            <a:off x="807720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864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39" name="TextBox 38"/>
          <p:cNvSpPr txBox="1"/>
          <p:nvPr/>
        </p:nvSpPr>
        <p:spPr>
          <a:xfrm>
            <a:off x="816864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メール作成コスト削減、CVR向上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③  在庫・価格・店舗分析  ─  データ駆動型ワークフロー</a:t>
            </a:r>
          </a:p>
        </p:txBody>
      </p:sp>
      <p:sp>
        <p:nvSpPr>
          <p:cNvPr id="4" name="Rounded Rectangle 3"/>
          <p:cNvSpPr/>
          <p:nvPr/>
        </p:nvSpPr>
        <p:spPr>
          <a:xfrm>
            <a:off x="45720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RTL-04  在庫アラート＆発注提案</a:t>
            </a:r>
          </a:p>
        </p:txBody>
      </p:sp>
      <p:sp>
        <p:nvSpPr>
          <p:cNvPr id="7" name="TextBox 6"/>
          <p:cNvSpPr txBox="1"/>
          <p:nvPr/>
        </p:nvSpPr>
        <p:spPr>
          <a:xfrm>
            <a:off x="64008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在庫管理 / 購買</a:t>
            </a:r>
          </a:p>
        </p:txBody>
      </p:sp>
      <p:sp>
        <p:nvSpPr>
          <p:cNvPr id="8" name="Rectangle 7"/>
          <p:cNvSpPr/>
          <p:nvPr/>
        </p:nvSpPr>
        <p:spPr>
          <a:xfrm>
            <a:off x="64008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10" name="TextBox 9"/>
          <p:cNvSpPr txBox="1"/>
          <p:nvPr/>
        </p:nvSpPr>
        <p:spPr>
          <a:xfrm>
            <a:off x="64008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 → HTTP(在庫API) → Code(閾値) → IE → LLM/TT → VA → 終了</a:t>
            </a:r>
          </a:p>
        </p:txBody>
      </p:sp>
      <p:sp>
        <p:nvSpPr>
          <p:cNvPr id="11" name="TextBox 10"/>
          <p:cNvSpPr txBox="1"/>
          <p:nvPr/>
        </p:nvSpPr>
        <p:spPr>
          <a:xfrm>
            <a:off x="64008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12" name="TextBox 11"/>
          <p:cNvSpPr txBox="1"/>
          <p:nvPr/>
        </p:nvSpPr>
        <p:spPr>
          <a:xfrm>
            <a:off x="64008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在庫APIからデータ取得し発注点・安全在庫と比較。不足時は推奨発注数を含む提案書を自動生成。</a:t>
            </a:r>
          </a:p>
        </p:txBody>
      </p:sp>
      <p:sp>
        <p:nvSpPr>
          <p:cNvPr id="13" name="Rounded Rectangle 12"/>
          <p:cNvSpPr/>
          <p:nvPr/>
        </p:nvSpPr>
        <p:spPr>
          <a:xfrm>
            <a:off x="64008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15" name="TextBox 14"/>
          <p:cNvSpPr txBox="1"/>
          <p:nvPr/>
        </p:nvSpPr>
        <p:spPr>
          <a:xfrm>
            <a:off x="73152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在庫切れリスクの早期検知・自動化</a:t>
            </a:r>
          </a:p>
        </p:txBody>
      </p:sp>
      <p:sp>
        <p:nvSpPr>
          <p:cNvPr id="16" name="Rounded Rectangle 15"/>
          <p:cNvSpPr/>
          <p:nvPr/>
        </p:nvSpPr>
        <p:spPr>
          <a:xfrm>
            <a:off x="417576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576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5864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RTL-07  競合価格モニタリング</a:t>
            </a:r>
          </a:p>
        </p:txBody>
      </p:sp>
      <p:sp>
        <p:nvSpPr>
          <p:cNvPr id="19" name="TextBox 18"/>
          <p:cNvSpPr txBox="1"/>
          <p:nvPr/>
        </p:nvSpPr>
        <p:spPr>
          <a:xfrm>
            <a:off x="435864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MD / 経営企画</a:t>
            </a:r>
          </a:p>
        </p:txBody>
      </p:sp>
      <p:sp>
        <p:nvSpPr>
          <p:cNvPr id="20" name="Rectangle 19"/>
          <p:cNvSpPr/>
          <p:nvPr/>
        </p:nvSpPr>
        <p:spPr>
          <a:xfrm>
            <a:off x="435864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5864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22" name="TextBox 21"/>
          <p:cNvSpPr txBox="1"/>
          <p:nvPr/>
        </p:nvSpPr>
        <p:spPr>
          <a:xfrm>
            <a:off x="435864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 → Code(配列化) → Iteration[HTTP] → Code(集約) → LLM → 終了</a:t>
            </a:r>
          </a:p>
        </p:txBody>
      </p:sp>
      <p:sp>
        <p:nvSpPr>
          <p:cNvPr id="23" name="TextBox 22"/>
          <p:cNvSpPr txBox="1"/>
          <p:nvPr/>
        </p:nvSpPr>
        <p:spPr>
          <a:xfrm>
            <a:off x="435864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24" name="TextBox 23"/>
          <p:cNvSpPr txBox="1"/>
          <p:nvPr/>
        </p:nvSpPr>
        <p:spPr>
          <a:xfrm>
            <a:off x="435864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複数競合の価格データをAPI一括取得し、価格ポジション分析と戦略提言レポートを自動生成。</a:t>
            </a:r>
          </a:p>
        </p:txBody>
      </p:sp>
      <p:sp>
        <p:nvSpPr>
          <p:cNvPr id="25" name="Rounded Rectangle 24"/>
          <p:cNvSpPr/>
          <p:nvPr/>
        </p:nvSpPr>
        <p:spPr>
          <a:xfrm>
            <a:off x="435864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5008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27" name="TextBox 26"/>
          <p:cNvSpPr txBox="1"/>
          <p:nvPr/>
        </p:nvSpPr>
        <p:spPr>
          <a:xfrm>
            <a:off x="445008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競合価格の定点監視を自動化</a:t>
            </a:r>
          </a:p>
        </p:txBody>
      </p:sp>
      <p:sp>
        <p:nvSpPr>
          <p:cNvPr id="28" name="Rounded Rectangle 27"/>
          <p:cNvSpPr/>
          <p:nvPr/>
        </p:nvSpPr>
        <p:spPr>
          <a:xfrm>
            <a:off x="7894320" y="1188720"/>
            <a:ext cx="3520440" cy="512064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894320" y="1188720"/>
            <a:ext cx="352044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77200" y="1325880"/>
            <a:ext cx="3154680" cy="457200"/>
          </a:xfrm>
          <a:prstGeom prst="rect">
            <a:avLst/>
          </a:prstGeom>
          <a:noFill/>
        </p:spPr>
        <p:txBody>
          <a:bodyPr wrap="square">
            <a:spAutoFit/>
          </a:bodyPr>
          <a:lstStyle/>
          <a:p>
            <a:pPr algn="l">
              <a:defRPr sz="1400" b="1">
                <a:solidFill>
                  <a:srgbClr val="2A1A12"/>
                </a:solidFill>
                <a:latin typeface="Segoe UI"/>
              </a:defRPr>
            </a:pPr>
            <a:r>
              <a:rPr>
                <a:latin typeface="Segoe UI"/>
                <a:ea typeface="Meiryo UI"/>
              </a:rPr>
              <a:t>RTL-10  多店舗売上日報</a:t>
            </a:r>
          </a:p>
        </p:txBody>
      </p:sp>
      <p:sp>
        <p:nvSpPr>
          <p:cNvPr id="31" name="TextBox 30"/>
          <p:cNvSpPr txBox="1"/>
          <p:nvPr/>
        </p:nvSpPr>
        <p:spPr>
          <a:xfrm>
            <a:off x="8077200" y="1737360"/>
            <a:ext cx="3154680" cy="2743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店舗運営 / エリアMgr</a:t>
            </a:r>
          </a:p>
        </p:txBody>
      </p:sp>
      <p:sp>
        <p:nvSpPr>
          <p:cNvPr id="32" name="Rectangle 31"/>
          <p:cNvSpPr/>
          <p:nvPr/>
        </p:nvSpPr>
        <p:spPr>
          <a:xfrm>
            <a:off x="8077200" y="2057400"/>
            <a:ext cx="3154680" cy="12700"/>
          </a:xfrm>
          <a:prstGeom prst="rect">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77200" y="219456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フロー</a:t>
            </a:r>
          </a:p>
        </p:txBody>
      </p:sp>
      <p:sp>
        <p:nvSpPr>
          <p:cNvPr id="34" name="TextBox 33"/>
          <p:cNvSpPr txBox="1"/>
          <p:nvPr/>
        </p:nvSpPr>
        <p:spPr>
          <a:xfrm>
            <a:off x="8077200" y="2423160"/>
            <a:ext cx="3154680" cy="91440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開始 → Code(配列化) → Iteration[HTTP] → Code(集約) → LLM → 終了</a:t>
            </a:r>
          </a:p>
        </p:txBody>
      </p:sp>
      <p:sp>
        <p:nvSpPr>
          <p:cNvPr id="35" name="TextBox 34"/>
          <p:cNvSpPr txBox="1"/>
          <p:nvPr/>
        </p:nvSpPr>
        <p:spPr>
          <a:xfrm>
            <a:off x="8077200" y="3474720"/>
            <a:ext cx="3154680" cy="228600"/>
          </a:xfrm>
          <a:prstGeom prst="rect">
            <a:avLst/>
          </a:prstGeom>
          <a:noFill/>
        </p:spPr>
        <p:txBody>
          <a:bodyPr wrap="square">
            <a:spAutoFit/>
          </a:bodyPr>
          <a:lstStyle/>
          <a:p>
            <a:pPr algn="l">
              <a:defRPr sz="1000" b="1">
                <a:solidFill>
                  <a:srgbClr val="E65C00"/>
                </a:solidFill>
                <a:latin typeface="Segoe UI"/>
              </a:defRPr>
            </a:pPr>
            <a:r>
              <a:rPr>
                <a:latin typeface="Segoe UI"/>
                <a:ea typeface="Meiryo UI"/>
              </a:rPr>
              <a:t>概要</a:t>
            </a:r>
          </a:p>
        </p:txBody>
      </p:sp>
      <p:sp>
        <p:nvSpPr>
          <p:cNvPr id="36" name="TextBox 35"/>
          <p:cNvSpPr txBox="1"/>
          <p:nvPr/>
        </p:nvSpPr>
        <p:spPr>
          <a:xfrm>
            <a:off x="8077200" y="3703320"/>
            <a:ext cx="3154680" cy="1188720"/>
          </a:xfrm>
          <a:prstGeom prst="rect">
            <a:avLst/>
          </a:prstGeom>
          <a:noFill/>
        </p:spPr>
        <p:txBody>
          <a:bodyPr wrap="square">
            <a:spAutoFit/>
          </a:bodyPr>
          <a:lstStyle/>
          <a:p>
            <a:pPr algn="l">
              <a:defRPr sz="1100" b="0">
                <a:solidFill>
                  <a:srgbClr val="2A1A12"/>
                </a:solidFill>
                <a:latin typeface="Segoe UI"/>
              </a:defRPr>
            </a:pPr>
            <a:r>
              <a:rPr>
                <a:latin typeface="Segoe UI"/>
                <a:ea typeface="Meiryo UI"/>
              </a:rPr>
              <a:t>全店舗の売上データをAPI一括取得し、店舗別実績比較・トレンド分析・翌日アクション提案を含む日報を生成。</a:t>
            </a:r>
          </a:p>
        </p:txBody>
      </p:sp>
      <p:sp>
        <p:nvSpPr>
          <p:cNvPr id="37" name="Rounded Rectangle 36"/>
          <p:cNvSpPr/>
          <p:nvPr/>
        </p:nvSpPr>
        <p:spPr>
          <a:xfrm>
            <a:off x="8077200" y="5120640"/>
            <a:ext cx="3154680" cy="8229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68640" y="5166360"/>
            <a:ext cx="2971800" cy="228600"/>
          </a:xfrm>
          <a:prstGeom prst="rect">
            <a:avLst/>
          </a:prstGeom>
          <a:noFill/>
        </p:spPr>
        <p:txBody>
          <a:bodyPr wrap="square">
            <a:spAutoFit/>
          </a:bodyPr>
          <a:lstStyle/>
          <a:p>
            <a:pPr algn="l">
              <a:defRPr sz="1000" b="1">
                <a:solidFill>
                  <a:srgbClr val="8B4500"/>
                </a:solidFill>
                <a:latin typeface="Segoe UI"/>
              </a:defRPr>
            </a:pPr>
            <a:r>
              <a:rPr>
                <a:latin typeface="Segoe UI"/>
                <a:ea typeface="Meiryo UI"/>
              </a:rPr>
              <a:t>導入効果</a:t>
            </a:r>
          </a:p>
        </p:txBody>
      </p:sp>
      <p:sp>
        <p:nvSpPr>
          <p:cNvPr id="39" name="TextBox 38"/>
          <p:cNvSpPr txBox="1"/>
          <p:nvPr/>
        </p:nvSpPr>
        <p:spPr>
          <a:xfrm>
            <a:off x="8168640" y="5394960"/>
            <a:ext cx="2971800" cy="457200"/>
          </a:xfrm>
          <a:prstGeom prst="rect">
            <a:avLst/>
          </a:prstGeom>
          <a:noFill/>
        </p:spPr>
        <p:txBody>
          <a:bodyPr wrap="square">
            <a:spAutoFit/>
          </a:bodyPr>
          <a:lstStyle/>
          <a:p>
            <a:pPr algn="l">
              <a:defRPr sz="1100" b="1">
                <a:solidFill>
                  <a:srgbClr val="8B4500"/>
                </a:solidFill>
                <a:latin typeface="Segoe UI"/>
              </a:defRPr>
            </a:pPr>
            <a:r>
              <a:rPr>
                <a:latin typeface="Segoe UI"/>
                <a:ea typeface="Meiryo UI"/>
              </a:rPr>
              <a:t>店舗日報の自動化、分析品質の均質化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④  商品問い合わせチャットボット  ─  Chatflow パターン</a:t>
            </a:r>
          </a:p>
        </p:txBody>
      </p:sp>
      <p:sp>
        <p:nvSpPr>
          <p:cNvPr id="4" name="Rounded Rectangle 3"/>
          <p:cNvSpPr/>
          <p:nvPr/>
        </p:nvSpPr>
        <p:spPr>
          <a:xfrm>
            <a:off x="457200" y="1188720"/>
            <a:ext cx="11247120" cy="228600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1124712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4572000" cy="365760"/>
          </a:xfrm>
          <a:prstGeom prst="rect">
            <a:avLst/>
          </a:prstGeom>
          <a:noFill/>
        </p:spPr>
        <p:txBody>
          <a:bodyPr wrap="square">
            <a:spAutoFit/>
          </a:bodyPr>
          <a:lstStyle/>
          <a:p>
            <a:pPr algn="l">
              <a:defRPr sz="1800" b="1">
                <a:solidFill>
                  <a:srgbClr val="2A1A12"/>
                </a:solidFill>
                <a:latin typeface="Segoe UI"/>
              </a:defRPr>
            </a:pPr>
            <a:r>
              <a:rPr>
                <a:latin typeface="Segoe UI"/>
                <a:ea typeface="Meiryo UI"/>
              </a:rPr>
              <a:t>RTL-03  商品問い合わせチャットボット</a:t>
            </a:r>
          </a:p>
        </p:txBody>
      </p:sp>
      <p:sp>
        <p:nvSpPr>
          <p:cNvPr id="7" name="TextBox 6"/>
          <p:cNvSpPr txBox="1"/>
          <p:nvPr/>
        </p:nvSpPr>
        <p:spPr>
          <a:xfrm>
            <a:off x="731520" y="1783080"/>
            <a:ext cx="4572000" cy="274320"/>
          </a:xfrm>
          <a:prstGeom prst="rect">
            <a:avLst/>
          </a:prstGeom>
          <a:noFill/>
        </p:spPr>
        <p:txBody>
          <a:bodyPr wrap="square">
            <a:spAutoFit/>
          </a:bodyPr>
          <a:lstStyle/>
          <a:p>
            <a:pPr algn="l">
              <a:defRPr sz="1200" b="0">
                <a:solidFill>
                  <a:srgbClr val="5A4A3A"/>
                </a:solidFill>
                <a:latin typeface="Segoe UI"/>
              </a:defRPr>
            </a:pPr>
            <a:r>
              <a:rPr>
                <a:latin typeface="Segoe UI"/>
                <a:ea typeface="Meiryo UI"/>
              </a:rPr>
              <a:t>CS（カスタマーサポート）  |  advanced-chat (Chatflow)</a:t>
            </a:r>
          </a:p>
        </p:txBody>
      </p:sp>
      <p:sp>
        <p:nvSpPr>
          <p:cNvPr id="8" name="TextBox 7"/>
          <p:cNvSpPr txBox="1"/>
          <p:nvPr/>
        </p:nvSpPr>
        <p:spPr>
          <a:xfrm>
            <a:off x="731520" y="2194560"/>
            <a:ext cx="10515600" cy="1097280"/>
          </a:xfrm>
          <a:prstGeom prst="rect">
            <a:avLst/>
          </a:prstGeom>
          <a:noFill/>
        </p:spPr>
        <p:txBody>
          <a:bodyPr wrap="square">
            <a:spAutoFit/>
          </a:bodyPr>
          <a:lstStyle/>
          <a:p>
            <a:pPr algn="l">
              <a:defRPr sz="1200" b="0">
                <a:solidFill>
                  <a:srgbClr val="2A1A12"/>
                </a:solidFill>
                <a:latin typeface="Segoe UI"/>
              </a:defRPr>
            </a:pPr>
            <a:r>
              <a:rPr>
                <a:latin typeface="Segoe UI"/>
                <a:ea typeface="Meiryo UI"/>
              </a:rPr>
              <a:t>開始 → 問い合わせ分類(QC)</a:t>
            </a:r>
            <a:br/>
            <a:r>
              <a:rPr>
                <a:latin typeface="Segoe UI"/>
                <a:ea typeface="Meiryo UI"/>
              </a:rPr>
              <a:t>          ├─ [商品情報]    → 商品カタログ検索(KR) → 商品回答LLM(memory) → 商品回答(Answer)</a:t>
            </a:r>
            <a:br/>
            <a:r>
              <a:rPr>
                <a:latin typeface="Segoe UI"/>
                <a:ea typeface="Meiryo UI"/>
              </a:rPr>
              <a:t>          ├─ [注文・配送]  → 注文ポリシー検索(KR) → 注文回答LLM(memory) → 注文回答(Answer)</a:t>
            </a:r>
            <a:br/>
            <a:r>
              <a:rPr>
                <a:latin typeface="Segoe UI"/>
                <a:ea typeface="Meiryo UI"/>
              </a:rPr>
              <a:t>          └─ [返品・交換]                                     → 返品回答LLM(memory) → 返品回答(Answer)</a:t>
            </a:r>
          </a:p>
        </p:txBody>
      </p:sp>
      <p:sp>
        <p:nvSpPr>
          <p:cNvPr id="9" name="Rounded Rectangle 8"/>
          <p:cNvSpPr/>
          <p:nvPr/>
        </p:nvSpPr>
        <p:spPr>
          <a:xfrm>
            <a:off x="457200" y="3840480"/>
            <a:ext cx="3474720" cy="256032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645920" y="3977640"/>
            <a:ext cx="1097280" cy="45720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480560"/>
            <a:ext cx="3291840" cy="548640"/>
          </a:xfrm>
          <a:prstGeom prst="rect">
            <a:avLst/>
          </a:prstGeom>
          <a:noFill/>
        </p:spPr>
        <p:txBody>
          <a:bodyPr wrap="square">
            <a:spAutoFit/>
          </a:bodyPr>
          <a:lstStyle/>
          <a:p>
            <a:pPr algn="ctr">
              <a:defRPr sz="1300" b="1">
                <a:solidFill>
                  <a:srgbClr val="6A1B9A"/>
                </a:solidFill>
                <a:latin typeface="Segoe UI"/>
              </a:defRPr>
            </a:pPr>
            <a:r>
              <a:rPr>
                <a:latin typeface="Segoe UI"/>
                <a:ea typeface="Meiryo UI"/>
              </a:rPr>
              <a:t>Question Classifier</a:t>
            </a:r>
            <a:br/>
            <a:r>
              <a:rPr>
                <a:latin typeface="Segoe UI"/>
                <a:ea typeface="Meiryo UI"/>
              </a:rPr>
              <a:t>3分岐ルーティング</a:t>
            </a:r>
          </a:p>
        </p:txBody>
      </p:sp>
      <p:sp>
        <p:nvSpPr>
          <p:cNvPr id="12" name="TextBox 11"/>
          <p:cNvSpPr txBox="1"/>
          <p:nvPr/>
        </p:nvSpPr>
        <p:spPr>
          <a:xfrm>
            <a:off x="640080" y="5120640"/>
            <a:ext cx="3108960" cy="1097280"/>
          </a:xfrm>
          <a:prstGeom prst="rect">
            <a:avLst/>
          </a:prstGeom>
          <a:noFill/>
        </p:spPr>
        <p:txBody>
          <a:bodyPr wrap="square">
            <a:spAutoFit/>
          </a:bodyPr>
          <a:lstStyle/>
          <a:p>
            <a:pPr algn="ctr">
              <a:defRPr sz="1100" b="0">
                <a:solidFill>
                  <a:srgbClr val="5A4A3A"/>
                </a:solidFill>
                <a:latin typeface="Segoe UI"/>
              </a:defRPr>
            </a:pPr>
            <a:r>
              <a:rPr>
                <a:latin typeface="Segoe UI"/>
                <a:ea typeface="Meiryo UI"/>
              </a:rPr>
              <a:t>商品情報・注文配送・返品交換の</a:t>
            </a:r>
            <a:br/>
            <a:r>
              <a:rPr>
                <a:latin typeface="Segoe UI"/>
                <a:ea typeface="Meiryo UI"/>
              </a:rPr>
              <a:t>3カテゴリに自動分類。</a:t>
            </a:r>
            <a:br/>
            <a:r>
              <a:rPr>
                <a:latin typeface="Segoe UI"/>
                <a:ea typeface="Meiryo UI"/>
              </a:rPr>
              <a:t>顧客は質問するだけで</a:t>
            </a:r>
            <a:br/>
            <a:r>
              <a:rPr>
                <a:latin typeface="Segoe UI"/>
                <a:ea typeface="Meiryo UI"/>
              </a:rPr>
              <a:t>適切な対応パスに自動振分。</a:t>
            </a:r>
          </a:p>
        </p:txBody>
      </p:sp>
      <p:sp>
        <p:nvSpPr>
          <p:cNvPr id="13" name="Rounded Rectangle 12"/>
          <p:cNvSpPr/>
          <p:nvPr/>
        </p:nvSpPr>
        <p:spPr>
          <a:xfrm>
            <a:off x="4297680" y="3840480"/>
            <a:ext cx="3474720" cy="256032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486400" y="3977640"/>
            <a:ext cx="1097280" cy="45720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4480560"/>
            <a:ext cx="3291840" cy="548640"/>
          </a:xfrm>
          <a:prstGeom prst="rect">
            <a:avLst/>
          </a:prstGeom>
          <a:noFill/>
        </p:spPr>
        <p:txBody>
          <a:bodyPr wrap="square">
            <a:spAutoFit/>
          </a:bodyPr>
          <a:lstStyle/>
          <a:p>
            <a:pPr algn="ctr">
              <a:defRPr sz="1300" b="1">
                <a:solidFill>
                  <a:srgbClr val="00896B"/>
                </a:solidFill>
                <a:latin typeface="Segoe UI"/>
              </a:defRPr>
            </a:pPr>
            <a:r>
              <a:rPr>
                <a:latin typeface="Segoe UI"/>
                <a:ea typeface="Meiryo UI"/>
              </a:rPr>
              <a:t>Knowledge Retrieval</a:t>
            </a:r>
            <a:br/>
            <a:r>
              <a:rPr>
                <a:latin typeface="Segoe UI"/>
                <a:ea typeface="Meiryo UI"/>
              </a:rPr>
              <a:t>デュアルナレッジベース</a:t>
            </a:r>
          </a:p>
        </p:txBody>
      </p:sp>
      <p:sp>
        <p:nvSpPr>
          <p:cNvPr id="16" name="TextBox 15"/>
          <p:cNvSpPr txBox="1"/>
          <p:nvPr/>
        </p:nvSpPr>
        <p:spPr>
          <a:xfrm>
            <a:off x="4480560" y="5120640"/>
            <a:ext cx="3108960" cy="1097280"/>
          </a:xfrm>
          <a:prstGeom prst="rect">
            <a:avLst/>
          </a:prstGeom>
          <a:noFill/>
        </p:spPr>
        <p:txBody>
          <a:bodyPr wrap="square">
            <a:spAutoFit/>
          </a:bodyPr>
          <a:lstStyle/>
          <a:p>
            <a:pPr algn="ctr">
              <a:defRPr sz="1100" b="0">
                <a:solidFill>
                  <a:srgbClr val="5A4A3A"/>
                </a:solidFill>
                <a:latin typeface="Segoe UI"/>
              </a:defRPr>
            </a:pPr>
            <a:r>
              <a:rPr>
                <a:latin typeface="Segoe UI"/>
                <a:ea typeface="Meiryo UI"/>
              </a:rPr>
              <a:t>商品カタログKB と</a:t>
            </a:r>
            <a:br/>
            <a:r>
              <a:rPr>
                <a:latin typeface="Segoe UI"/>
                <a:ea typeface="Meiryo UI"/>
              </a:rPr>
              <a:t>注文ポリシーKB の</a:t>
            </a:r>
            <a:br/>
            <a:r>
              <a:rPr>
                <a:latin typeface="Segoe UI"/>
                <a:ea typeface="Meiryo UI"/>
              </a:rPr>
              <a:t>2つを用途別に活用。</a:t>
            </a:r>
            <a:br/>
            <a:r>
              <a:rPr>
                <a:latin typeface="Segoe UI"/>
                <a:ea typeface="Meiryo UI"/>
              </a:rPr>
              <a:t>正確な情報に基づく回答を実現。</a:t>
            </a:r>
          </a:p>
        </p:txBody>
      </p:sp>
      <p:sp>
        <p:nvSpPr>
          <p:cNvPr id="17" name="Rounded Rectangle 16"/>
          <p:cNvSpPr/>
          <p:nvPr/>
        </p:nvSpPr>
        <p:spPr>
          <a:xfrm>
            <a:off x="8138160" y="3840480"/>
            <a:ext cx="3474720" cy="256032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26880" y="3977640"/>
            <a:ext cx="1097280" cy="457200"/>
          </a:xfrm>
          <a:prstGeom prst="ellipse">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0" y="4480560"/>
            <a:ext cx="3291840" cy="548640"/>
          </a:xfrm>
          <a:prstGeom prst="rect">
            <a:avLst/>
          </a:prstGeom>
          <a:noFill/>
        </p:spPr>
        <p:txBody>
          <a:bodyPr wrap="square">
            <a:spAutoFit/>
          </a:bodyPr>
          <a:lstStyle/>
          <a:p>
            <a:pPr algn="ctr">
              <a:defRPr sz="1300" b="1">
                <a:solidFill>
                  <a:srgbClr val="E65C00"/>
                </a:solidFill>
                <a:latin typeface="Segoe UI"/>
              </a:defRPr>
            </a:pPr>
            <a:r>
              <a:rPr>
                <a:latin typeface="Segoe UI"/>
                <a:ea typeface="Meiryo UI"/>
              </a:rPr>
              <a:t>Memory 有効</a:t>
            </a:r>
            <a:br/>
            <a:r>
              <a:rPr>
                <a:latin typeface="Segoe UI"/>
                <a:ea typeface="Meiryo UI"/>
              </a:rPr>
              <a:t>マルチターン会話</a:t>
            </a:r>
          </a:p>
        </p:txBody>
      </p:sp>
      <p:sp>
        <p:nvSpPr>
          <p:cNvPr id="20" name="TextBox 19"/>
          <p:cNvSpPr txBox="1"/>
          <p:nvPr/>
        </p:nvSpPr>
        <p:spPr>
          <a:xfrm>
            <a:off x="8321040" y="5120640"/>
            <a:ext cx="3108960" cy="1097280"/>
          </a:xfrm>
          <a:prstGeom prst="rect">
            <a:avLst/>
          </a:prstGeom>
          <a:noFill/>
        </p:spPr>
        <p:txBody>
          <a:bodyPr wrap="square">
            <a:spAutoFit/>
          </a:bodyPr>
          <a:lstStyle/>
          <a:p>
            <a:pPr algn="ctr">
              <a:defRPr sz="1100" b="0">
                <a:solidFill>
                  <a:srgbClr val="5A4A3A"/>
                </a:solidFill>
                <a:latin typeface="Segoe UI"/>
              </a:defRPr>
            </a:pPr>
            <a:r>
              <a:rPr>
                <a:latin typeface="Segoe UI"/>
                <a:ea typeface="Meiryo UI"/>
              </a:rPr>
              <a:t>全LLMで会話履歴を保持。</a:t>
            </a:r>
            <a:br/>
            <a:r>
              <a:rPr>
                <a:latin typeface="Segoe UI"/>
                <a:ea typeface="Meiryo UI"/>
              </a:rPr>
              <a:t>直近10ターンを参照し</a:t>
            </a:r>
            <a:br/>
            <a:r>
              <a:rPr>
                <a:latin typeface="Segoe UI"/>
                <a:ea typeface="Meiryo UI"/>
              </a:rPr>
              <a:t>「さっきの商品の色違いは？」等</a:t>
            </a:r>
            <a:br/>
            <a:r>
              <a:rPr>
                <a:latin typeface="Segoe UI"/>
                <a:ea typeface="Meiryo UI"/>
              </a:rPr>
              <a:t>文脈を踏まえた自然な対話。</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400" b="1">
                <a:solidFill>
                  <a:srgbClr val="FFFFFF"/>
                </a:solidFill>
                <a:latin typeface="Segoe UI"/>
              </a:defRPr>
            </a:pPr>
            <a:r>
              <a:rPr>
                <a:latin typeface="Segoe UI"/>
                <a:ea typeface="Meiryo UI"/>
              </a:rPr>
              <a:t>詳細 ⑤  キャンペーン企画書ドラフト  ─  6入力長文生成パターン</a:t>
            </a:r>
          </a:p>
        </p:txBody>
      </p:sp>
      <p:sp>
        <p:nvSpPr>
          <p:cNvPr id="4" name="Rounded Rectangle 3"/>
          <p:cNvSpPr/>
          <p:nvPr/>
        </p:nvSpPr>
        <p:spPr>
          <a:xfrm>
            <a:off x="457200" y="1188720"/>
            <a:ext cx="11247120" cy="1828800"/>
          </a:xfrm>
          <a:prstGeom prst="roundRect">
            <a:avLst/>
          </a:prstGeom>
          <a:solidFill>
            <a:srgbClr val="FDF5EF"/>
          </a:solidFill>
          <a:ln w="1270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11247120" cy="635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4572000" cy="365760"/>
          </a:xfrm>
          <a:prstGeom prst="rect">
            <a:avLst/>
          </a:prstGeom>
          <a:noFill/>
        </p:spPr>
        <p:txBody>
          <a:bodyPr wrap="square">
            <a:spAutoFit/>
          </a:bodyPr>
          <a:lstStyle/>
          <a:p>
            <a:pPr algn="l">
              <a:defRPr sz="1800" b="1">
                <a:solidFill>
                  <a:srgbClr val="2A1A12"/>
                </a:solidFill>
                <a:latin typeface="Segoe UI"/>
              </a:defRPr>
            </a:pPr>
            <a:r>
              <a:rPr>
                <a:latin typeface="Segoe UI"/>
                <a:ea typeface="Meiryo UI"/>
              </a:rPr>
              <a:t>RTL-09  キャンペーン企画書ドラフト</a:t>
            </a:r>
          </a:p>
        </p:txBody>
      </p:sp>
      <p:sp>
        <p:nvSpPr>
          <p:cNvPr id="7" name="TextBox 6"/>
          <p:cNvSpPr txBox="1"/>
          <p:nvPr/>
        </p:nvSpPr>
        <p:spPr>
          <a:xfrm>
            <a:off x="731520" y="1783080"/>
            <a:ext cx="10058400" cy="274320"/>
          </a:xfrm>
          <a:prstGeom prst="rect">
            <a:avLst/>
          </a:prstGeom>
          <a:noFill/>
        </p:spPr>
        <p:txBody>
          <a:bodyPr wrap="square">
            <a:spAutoFit/>
          </a:bodyPr>
          <a:lstStyle/>
          <a:p>
            <a:pPr algn="l">
              <a:defRPr sz="1200" b="0">
                <a:solidFill>
                  <a:srgbClr val="5A4A3A"/>
                </a:solidFill>
                <a:latin typeface="Segoe UI"/>
              </a:defRPr>
            </a:pPr>
            <a:r>
              <a:rPr>
                <a:latin typeface="Segoe UI"/>
                <a:ea typeface="Meiryo UI"/>
              </a:rPr>
              <a:t>マーケティング / 販促企画  |  6つの入力から本格企画書を自動生成（max_tokens: 8192）</a:t>
            </a:r>
          </a:p>
        </p:txBody>
      </p:sp>
      <p:sp>
        <p:nvSpPr>
          <p:cNvPr id="8" name="TextBox 7"/>
          <p:cNvSpPr txBox="1"/>
          <p:nvPr/>
        </p:nvSpPr>
        <p:spPr>
          <a:xfrm>
            <a:off x="731520" y="2148840"/>
            <a:ext cx="10058400" cy="457200"/>
          </a:xfrm>
          <a:prstGeom prst="rect">
            <a:avLst/>
          </a:prstGeom>
          <a:noFill/>
        </p:spPr>
        <p:txBody>
          <a:bodyPr wrap="square">
            <a:spAutoFit/>
          </a:bodyPr>
          <a:lstStyle/>
          <a:p>
            <a:pPr algn="l">
              <a:defRPr sz="1300" b="0">
                <a:solidFill>
                  <a:srgbClr val="2A1A12"/>
                </a:solidFill>
                <a:latin typeface="Segoe UI"/>
              </a:defRPr>
            </a:pPr>
            <a:r>
              <a:rPr>
                <a:latin typeface="Segoe UI"/>
                <a:ea typeface="Meiryo UI"/>
              </a:rPr>
              <a:t>開始(6入力) → Code(入力整形) → LLM(企画書生成: 8セクション) → TT(フォーマット) → 終了</a:t>
            </a:r>
          </a:p>
        </p:txBody>
      </p:sp>
      <p:sp>
        <p:nvSpPr>
          <p:cNvPr id="9" name="Rounded Rectangle 8"/>
          <p:cNvSpPr/>
          <p:nvPr/>
        </p:nvSpPr>
        <p:spPr>
          <a:xfrm>
            <a:off x="365760" y="3291840"/>
            <a:ext cx="1737360" cy="118872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3383280"/>
            <a:ext cx="155448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campaign_name</a:t>
            </a:r>
          </a:p>
        </p:txBody>
      </p:sp>
      <p:sp>
        <p:nvSpPr>
          <p:cNvPr id="11" name="TextBox 10"/>
          <p:cNvSpPr txBox="1"/>
          <p:nvPr/>
        </p:nvSpPr>
        <p:spPr>
          <a:xfrm>
            <a:off x="457200" y="3703320"/>
            <a:ext cx="1554480" cy="64008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キャンペーン名</a:t>
            </a:r>
          </a:p>
        </p:txBody>
      </p:sp>
      <p:sp>
        <p:nvSpPr>
          <p:cNvPr id="12" name="Rounded Rectangle 11"/>
          <p:cNvSpPr/>
          <p:nvPr/>
        </p:nvSpPr>
        <p:spPr>
          <a:xfrm>
            <a:off x="2286000" y="3291840"/>
            <a:ext cx="1737360" cy="118872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77440" y="3383280"/>
            <a:ext cx="155448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target_segment</a:t>
            </a:r>
          </a:p>
        </p:txBody>
      </p:sp>
      <p:sp>
        <p:nvSpPr>
          <p:cNvPr id="14" name="TextBox 13"/>
          <p:cNvSpPr txBox="1"/>
          <p:nvPr/>
        </p:nvSpPr>
        <p:spPr>
          <a:xfrm>
            <a:off x="2377440" y="3703320"/>
            <a:ext cx="1554480" cy="64008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ターゲット層</a:t>
            </a:r>
            <a:br/>
            <a:r>
              <a:rPr>
                <a:latin typeface="Segoe UI"/>
                <a:ea typeface="Meiryo UI"/>
              </a:rPr>
              <a:t>(5択: 全顧客/新規/リピーター/VIP/休眠)</a:t>
            </a:r>
          </a:p>
        </p:txBody>
      </p:sp>
      <p:sp>
        <p:nvSpPr>
          <p:cNvPr id="15" name="Rounded Rectangle 14"/>
          <p:cNvSpPr/>
          <p:nvPr/>
        </p:nvSpPr>
        <p:spPr>
          <a:xfrm>
            <a:off x="4206240" y="3291840"/>
            <a:ext cx="1737360" cy="118872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7680" y="3383280"/>
            <a:ext cx="155448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budget</a:t>
            </a:r>
          </a:p>
        </p:txBody>
      </p:sp>
      <p:sp>
        <p:nvSpPr>
          <p:cNvPr id="17" name="TextBox 16"/>
          <p:cNvSpPr txBox="1"/>
          <p:nvPr/>
        </p:nvSpPr>
        <p:spPr>
          <a:xfrm>
            <a:off x="4297680" y="3703320"/>
            <a:ext cx="1554480" cy="64008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予算</a:t>
            </a:r>
          </a:p>
        </p:txBody>
      </p:sp>
      <p:sp>
        <p:nvSpPr>
          <p:cNvPr id="18" name="Rounded Rectangle 17"/>
          <p:cNvSpPr/>
          <p:nvPr/>
        </p:nvSpPr>
        <p:spPr>
          <a:xfrm>
            <a:off x="6126480" y="3291840"/>
            <a:ext cx="1737360" cy="118872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3383280"/>
            <a:ext cx="155448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duration</a:t>
            </a:r>
          </a:p>
        </p:txBody>
      </p:sp>
      <p:sp>
        <p:nvSpPr>
          <p:cNvPr id="20" name="TextBox 19"/>
          <p:cNvSpPr txBox="1"/>
          <p:nvPr/>
        </p:nvSpPr>
        <p:spPr>
          <a:xfrm>
            <a:off x="6217920" y="3703320"/>
            <a:ext cx="1554480" cy="64008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実施期間</a:t>
            </a:r>
          </a:p>
        </p:txBody>
      </p:sp>
      <p:sp>
        <p:nvSpPr>
          <p:cNvPr id="21" name="Rounded Rectangle 20"/>
          <p:cNvSpPr/>
          <p:nvPr/>
        </p:nvSpPr>
        <p:spPr>
          <a:xfrm>
            <a:off x="8046720" y="3291840"/>
            <a:ext cx="1737360" cy="118872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3383280"/>
            <a:ext cx="155448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objectives</a:t>
            </a:r>
          </a:p>
        </p:txBody>
      </p:sp>
      <p:sp>
        <p:nvSpPr>
          <p:cNvPr id="23" name="TextBox 22"/>
          <p:cNvSpPr txBox="1"/>
          <p:nvPr/>
        </p:nvSpPr>
        <p:spPr>
          <a:xfrm>
            <a:off x="8138160" y="3703320"/>
            <a:ext cx="1554480" cy="64008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目標・KPI</a:t>
            </a:r>
          </a:p>
        </p:txBody>
      </p:sp>
      <p:sp>
        <p:nvSpPr>
          <p:cNvPr id="24" name="Rounded Rectangle 23"/>
          <p:cNvSpPr/>
          <p:nvPr/>
        </p:nvSpPr>
        <p:spPr>
          <a:xfrm>
            <a:off x="9966960" y="3291840"/>
            <a:ext cx="1737360" cy="118872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0" y="3383280"/>
            <a:ext cx="155448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channels</a:t>
            </a:r>
          </a:p>
        </p:txBody>
      </p:sp>
      <p:sp>
        <p:nvSpPr>
          <p:cNvPr id="26" name="TextBox 25"/>
          <p:cNvSpPr txBox="1"/>
          <p:nvPr/>
        </p:nvSpPr>
        <p:spPr>
          <a:xfrm>
            <a:off x="10058400" y="3703320"/>
            <a:ext cx="1554480" cy="64008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配信チャネル</a:t>
            </a:r>
            <a:br/>
            <a:r>
              <a:rPr>
                <a:latin typeface="Segoe UI"/>
                <a:ea typeface="Meiryo UI"/>
              </a:rPr>
              <a:t>(6択: EC/SNS/メルマガ/LINE/店頭/複合)</a:t>
            </a:r>
          </a:p>
        </p:txBody>
      </p:sp>
      <p:sp>
        <p:nvSpPr>
          <p:cNvPr id="27" name="TextBox 26"/>
          <p:cNvSpPr txBox="1"/>
          <p:nvPr/>
        </p:nvSpPr>
        <p:spPr>
          <a:xfrm>
            <a:off x="731520" y="4663440"/>
            <a:ext cx="10058400" cy="274320"/>
          </a:xfrm>
          <a:prstGeom prst="rect">
            <a:avLst/>
          </a:prstGeom>
          <a:noFill/>
        </p:spPr>
        <p:txBody>
          <a:bodyPr wrap="square">
            <a:spAutoFit/>
          </a:bodyPr>
          <a:lstStyle/>
          <a:p>
            <a:pPr algn="l">
              <a:defRPr sz="1200" b="1">
                <a:solidFill>
                  <a:srgbClr val="2A1A12"/>
                </a:solidFill>
                <a:latin typeface="Segoe UI"/>
              </a:defRPr>
            </a:pPr>
            <a:r>
              <a:rPr>
                <a:latin typeface="Segoe UI"/>
                <a:ea typeface="Meiryo UI"/>
              </a:rPr>
              <a:t>生成される企画書の8セクション構成:</a:t>
            </a:r>
          </a:p>
        </p:txBody>
      </p:sp>
      <p:sp>
        <p:nvSpPr>
          <p:cNvPr id="28" name="Rounded Rectangle 27"/>
          <p:cNvSpPr/>
          <p:nvPr/>
        </p:nvSpPr>
        <p:spPr>
          <a:xfrm>
            <a:off x="731520" y="5029200"/>
            <a:ext cx="2468880" cy="3657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4920"/>
            <a:ext cx="2286000" cy="274320"/>
          </a:xfrm>
          <a:prstGeom prst="rect">
            <a:avLst/>
          </a:prstGeom>
          <a:noFill/>
        </p:spPr>
        <p:txBody>
          <a:bodyPr wrap="square">
            <a:spAutoFit/>
          </a:bodyPr>
          <a:lstStyle/>
          <a:p>
            <a:pPr algn="ctr">
              <a:defRPr sz="1100" b="1">
                <a:solidFill>
                  <a:srgbClr val="8B4500"/>
                </a:solidFill>
                <a:latin typeface="Segoe UI"/>
              </a:defRPr>
            </a:pPr>
            <a:r>
              <a:rPr>
                <a:latin typeface="Segoe UI"/>
                <a:ea typeface="Meiryo UI"/>
              </a:rPr>
              <a:t>1. エグゼクティブサマリー</a:t>
            </a:r>
          </a:p>
        </p:txBody>
      </p:sp>
      <p:sp>
        <p:nvSpPr>
          <p:cNvPr id="30" name="Rounded Rectangle 29"/>
          <p:cNvSpPr/>
          <p:nvPr/>
        </p:nvSpPr>
        <p:spPr>
          <a:xfrm>
            <a:off x="3474720" y="5029200"/>
            <a:ext cx="2468880" cy="3657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66160" y="5074920"/>
            <a:ext cx="2286000" cy="274320"/>
          </a:xfrm>
          <a:prstGeom prst="rect">
            <a:avLst/>
          </a:prstGeom>
          <a:noFill/>
        </p:spPr>
        <p:txBody>
          <a:bodyPr wrap="square">
            <a:spAutoFit/>
          </a:bodyPr>
          <a:lstStyle/>
          <a:p>
            <a:pPr algn="ctr">
              <a:defRPr sz="1100" b="1">
                <a:solidFill>
                  <a:srgbClr val="8B4500"/>
                </a:solidFill>
                <a:latin typeface="Segoe UI"/>
              </a:defRPr>
            </a:pPr>
            <a:r>
              <a:rPr>
                <a:latin typeface="Segoe UI"/>
                <a:ea typeface="Meiryo UI"/>
              </a:rPr>
              <a:t>2. 背景と目的</a:t>
            </a:r>
          </a:p>
        </p:txBody>
      </p:sp>
      <p:sp>
        <p:nvSpPr>
          <p:cNvPr id="32" name="Rounded Rectangle 31"/>
          <p:cNvSpPr/>
          <p:nvPr/>
        </p:nvSpPr>
        <p:spPr>
          <a:xfrm>
            <a:off x="6217920" y="5029200"/>
            <a:ext cx="2468880" cy="3657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5074920"/>
            <a:ext cx="2286000" cy="274320"/>
          </a:xfrm>
          <a:prstGeom prst="rect">
            <a:avLst/>
          </a:prstGeom>
          <a:noFill/>
        </p:spPr>
        <p:txBody>
          <a:bodyPr wrap="square">
            <a:spAutoFit/>
          </a:bodyPr>
          <a:lstStyle/>
          <a:p>
            <a:pPr algn="ctr">
              <a:defRPr sz="1100" b="1">
                <a:solidFill>
                  <a:srgbClr val="8B4500"/>
                </a:solidFill>
                <a:latin typeface="Segoe UI"/>
              </a:defRPr>
            </a:pPr>
            <a:r>
              <a:rPr>
                <a:latin typeface="Segoe UI"/>
                <a:ea typeface="Meiryo UI"/>
              </a:rPr>
              <a:t>3. ターゲット戦略</a:t>
            </a:r>
          </a:p>
        </p:txBody>
      </p:sp>
      <p:sp>
        <p:nvSpPr>
          <p:cNvPr id="34" name="Rounded Rectangle 33"/>
          <p:cNvSpPr/>
          <p:nvPr/>
        </p:nvSpPr>
        <p:spPr>
          <a:xfrm>
            <a:off x="8961120" y="5029200"/>
            <a:ext cx="2468880" cy="3657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52560" y="5074920"/>
            <a:ext cx="2286000" cy="274320"/>
          </a:xfrm>
          <a:prstGeom prst="rect">
            <a:avLst/>
          </a:prstGeom>
          <a:noFill/>
        </p:spPr>
        <p:txBody>
          <a:bodyPr wrap="square">
            <a:spAutoFit/>
          </a:bodyPr>
          <a:lstStyle/>
          <a:p>
            <a:pPr algn="ctr">
              <a:defRPr sz="1100" b="1">
                <a:solidFill>
                  <a:srgbClr val="8B4500"/>
                </a:solidFill>
                <a:latin typeface="Segoe UI"/>
              </a:defRPr>
            </a:pPr>
            <a:r>
              <a:rPr>
                <a:latin typeface="Segoe UI"/>
                <a:ea typeface="Meiryo UI"/>
              </a:rPr>
              <a:t>4. 施策内容</a:t>
            </a:r>
          </a:p>
        </p:txBody>
      </p:sp>
      <p:sp>
        <p:nvSpPr>
          <p:cNvPr id="36" name="Rounded Rectangle 35"/>
          <p:cNvSpPr/>
          <p:nvPr/>
        </p:nvSpPr>
        <p:spPr>
          <a:xfrm>
            <a:off x="731520" y="5532120"/>
            <a:ext cx="2468880" cy="3657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2960" y="5577840"/>
            <a:ext cx="2286000" cy="274320"/>
          </a:xfrm>
          <a:prstGeom prst="rect">
            <a:avLst/>
          </a:prstGeom>
          <a:noFill/>
        </p:spPr>
        <p:txBody>
          <a:bodyPr wrap="square">
            <a:spAutoFit/>
          </a:bodyPr>
          <a:lstStyle/>
          <a:p>
            <a:pPr algn="ctr">
              <a:defRPr sz="1100" b="1">
                <a:solidFill>
                  <a:srgbClr val="8B4500"/>
                </a:solidFill>
                <a:latin typeface="Segoe UI"/>
              </a:defRPr>
            </a:pPr>
            <a:r>
              <a:rPr>
                <a:latin typeface="Segoe UI"/>
                <a:ea typeface="Meiryo UI"/>
              </a:rPr>
              <a:t>5. 実施スケジュール</a:t>
            </a:r>
          </a:p>
        </p:txBody>
      </p:sp>
      <p:sp>
        <p:nvSpPr>
          <p:cNvPr id="38" name="Rounded Rectangle 37"/>
          <p:cNvSpPr/>
          <p:nvPr/>
        </p:nvSpPr>
        <p:spPr>
          <a:xfrm>
            <a:off x="3474720" y="5532120"/>
            <a:ext cx="2468880" cy="3657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566160" y="5577840"/>
            <a:ext cx="2286000" cy="274320"/>
          </a:xfrm>
          <a:prstGeom prst="rect">
            <a:avLst/>
          </a:prstGeom>
          <a:noFill/>
        </p:spPr>
        <p:txBody>
          <a:bodyPr wrap="square">
            <a:spAutoFit/>
          </a:bodyPr>
          <a:lstStyle/>
          <a:p>
            <a:pPr algn="ctr">
              <a:defRPr sz="1100" b="1">
                <a:solidFill>
                  <a:srgbClr val="8B4500"/>
                </a:solidFill>
                <a:latin typeface="Segoe UI"/>
              </a:defRPr>
            </a:pPr>
            <a:r>
              <a:rPr>
                <a:latin typeface="Segoe UI"/>
                <a:ea typeface="Meiryo UI"/>
              </a:rPr>
              <a:t>6. 予算配分</a:t>
            </a:r>
          </a:p>
        </p:txBody>
      </p:sp>
      <p:sp>
        <p:nvSpPr>
          <p:cNvPr id="40" name="Rounded Rectangle 39"/>
          <p:cNvSpPr/>
          <p:nvPr/>
        </p:nvSpPr>
        <p:spPr>
          <a:xfrm>
            <a:off x="6217920" y="5532120"/>
            <a:ext cx="2468880" cy="3657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09360" y="5577840"/>
            <a:ext cx="2286000" cy="274320"/>
          </a:xfrm>
          <a:prstGeom prst="rect">
            <a:avLst/>
          </a:prstGeom>
          <a:noFill/>
        </p:spPr>
        <p:txBody>
          <a:bodyPr wrap="square">
            <a:spAutoFit/>
          </a:bodyPr>
          <a:lstStyle/>
          <a:p>
            <a:pPr algn="ctr">
              <a:defRPr sz="1100" b="1">
                <a:solidFill>
                  <a:srgbClr val="8B4500"/>
                </a:solidFill>
                <a:latin typeface="Segoe UI"/>
              </a:defRPr>
            </a:pPr>
            <a:r>
              <a:rPr>
                <a:latin typeface="Segoe UI"/>
                <a:ea typeface="Meiryo UI"/>
              </a:rPr>
              <a:t>7. KPI・効果測定</a:t>
            </a:r>
          </a:p>
        </p:txBody>
      </p:sp>
      <p:sp>
        <p:nvSpPr>
          <p:cNvPr id="42" name="Rounded Rectangle 41"/>
          <p:cNvSpPr/>
          <p:nvPr/>
        </p:nvSpPr>
        <p:spPr>
          <a:xfrm>
            <a:off x="8961120" y="5532120"/>
            <a:ext cx="2468880" cy="365760"/>
          </a:xfrm>
          <a:prstGeom prst="roundRect">
            <a:avLst/>
          </a:prstGeom>
          <a:solidFill>
            <a:srgbClr val="FBE9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560" y="5577840"/>
            <a:ext cx="2286000" cy="274320"/>
          </a:xfrm>
          <a:prstGeom prst="rect">
            <a:avLst/>
          </a:prstGeom>
          <a:noFill/>
        </p:spPr>
        <p:txBody>
          <a:bodyPr wrap="square">
            <a:spAutoFit/>
          </a:bodyPr>
          <a:lstStyle/>
          <a:p>
            <a:pPr algn="ctr">
              <a:defRPr sz="1100" b="1">
                <a:solidFill>
                  <a:srgbClr val="8B4500"/>
                </a:solidFill>
                <a:latin typeface="Segoe UI"/>
              </a:defRPr>
            </a:pPr>
            <a:r>
              <a:rPr>
                <a:latin typeface="Segoe UI"/>
                <a:ea typeface="Meiryo UI"/>
              </a:rPr>
              <a:t>8. リスクと対策</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使用技術  ─  Dify ノードタイプと適用パターン</a:t>
            </a:r>
          </a:p>
        </p:txBody>
      </p:sp>
      <p:sp>
        <p:nvSpPr>
          <p:cNvPr id="4" name="Rounded Rectangle 3"/>
          <p:cNvSpPr/>
          <p:nvPr/>
        </p:nvSpPr>
        <p:spPr>
          <a:xfrm>
            <a:off x="365760" y="11887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51560" y="1325880"/>
            <a:ext cx="731520" cy="731520"/>
          </a:xfrm>
          <a:prstGeom prst="ellipse">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LLM</a:t>
            </a:r>
          </a:p>
        </p:txBody>
      </p:sp>
      <p:sp>
        <p:nvSpPr>
          <p:cNvPr id="7" name="TextBox 6"/>
          <p:cNvSpPr txBox="1"/>
          <p:nvPr/>
        </p:nvSpPr>
        <p:spPr>
          <a:xfrm>
            <a:off x="457200" y="21945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説明文・分析レポート</a:t>
            </a:r>
            <a:br/>
            <a:r>
              <a:rPr>
                <a:latin typeface="Segoe UI"/>
                <a:ea typeface="Meiryo UI"/>
              </a:rPr>
              <a:t>対応ドラフト・企画書</a:t>
            </a:r>
          </a:p>
        </p:txBody>
      </p:sp>
      <p:sp>
        <p:nvSpPr>
          <p:cNvPr id="8" name="TextBox 7"/>
          <p:cNvSpPr txBox="1"/>
          <p:nvPr/>
        </p:nvSpPr>
        <p:spPr>
          <a:xfrm>
            <a:off x="457200" y="29260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全10ワークフロー</a:t>
            </a:r>
          </a:p>
        </p:txBody>
      </p:sp>
      <p:sp>
        <p:nvSpPr>
          <p:cNvPr id="9" name="Rounded Rectangle 8"/>
          <p:cNvSpPr/>
          <p:nvPr/>
        </p:nvSpPr>
        <p:spPr>
          <a:xfrm>
            <a:off x="2651760" y="11887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337560" y="1325880"/>
            <a:ext cx="731520" cy="731520"/>
          </a:xfrm>
          <a:prstGeom prst="ellipse">
            <a:avLst/>
          </a:prstGeom>
          <a:solidFill>
            <a:srgbClr val="374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Code</a:t>
            </a:r>
          </a:p>
        </p:txBody>
      </p:sp>
      <p:sp>
        <p:nvSpPr>
          <p:cNvPr id="12" name="TextBox 11"/>
          <p:cNvSpPr txBox="1"/>
          <p:nvPr/>
        </p:nvSpPr>
        <p:spPr>
          <a:xfrm>
            <a:off x="2743200" y="21945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入力整形・スコア算出</a:t>
            </a:r>
            <a:br/>
            <a:r>
              <a:rPr>
                <a:latin typeface="Segoe UI"/>
                <a:ea typeface="Meiryo UI"/>
              </a:rPr>
              <a:t>配列化・URL エンコード</a:t>
            </a:r>
          </a:p>
        </p:txBody>
      </p:sp>
      <p:sp>
        <p:nvSpPr>
          <p:cNvPr id="13" name="TextBox 12"/>
          <p:cNvSpPr txBox="1"/>
          <p:nvPr/>
        </p:nvSpPr>
        <p:spPr>
          <a:xfrm>
            <a:off x="2743200" y="29260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RTL-01,02,04,05</a:t>
            </a:r>
            <a:br/>
            <a:r>
              <a:rPr>
                <a:latin typeface="Segoe UI"/>
                <a:ea typeface="Meiryo UI"/>
              </a:rPr>
              <a:t>07,08,09,10</a:t>
            </a:r>
          </a:p>
        </p:txBody>
      </p:sp>
      <p:sp>
        <p:nvSpPr>
          <p:cNvPr id="14" name="Rounded Rectangle 13"/>
          <p:cNvSpPr/>
          <p:nvPr/>
        </p:nvSpPr>
        <p:spPr>
          <a:xfrm>
            <a:off x="4937760" y="11887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23560" y="1325880"/>
            <a:ext cx="731520" cy="731520"/>
          </a:xfrm>
          <a:prstGeom prst="ellipse">
            <a:avLst/>
          </a:prstGeom>
          <a:solidFill>
            <a:srgbClr val="008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Knowledge</a:t>
            </a:r>
            <a:br/>
            <a:r>
              <a:rPr>
                <a:latin typeface="Segoe UI"/>
                <a:ea typeface="Meiryo UI"/>
              </a:rPr>
              <a:t>Retrieval</a:t>
            </a:r>
          </a:p>
        </p:txBody>
      </p:sp>
      <p:sp>
        <p:nvSpPr>
          <p:cNvPr id="17" name="TextBox 16"/>
          <p:cNvSpPr txBox="1"/>
          <p:nvPr/>
        </p:nvSpPr>
        <p:spPr>
          <a:xfrm>
            <a:off x="5029200" y="21945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商品カタログ</a:t>
            </a:r>
            <a:br/>
            <a:r>
              <a:rPr>
                <a:latin typeface="Segoe UI"/>
                <a:ea typeface="Meiryo UI"/>
              </a:rPr>
              <a:t>注文ポリシーの検索</a:t>
            </a:r>
          </a:p>
        </p:txBody>
      </p:sp>
      <p:sp>
        <p:nvSpPr>
          <p:cNvPr id="18" name="TextBox 17"/>
          <p:cNvSpPr txBox="1"/>
          <p:nvPr/>
        </p:nvSpPr>
        <p:spPr>
          <a:xfrm>
            <a:off x="5029200" y="29260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RTL-03</a:t>
            </a:r>
          </a:p>
        </p:txBody>
      </p:sp>
      <p:sp>
        <p:nvSpPr>
          <p:cNvPr id="19" name="Rounded Rectangle 18"/>
          <p:cNvSpPr/>
          <p:nvPr/>
        </p:nvSpPr>
        <p:spPr>
          <a:xfrm>
            <a:off x="7223760" y="11887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909560" y="1325880"/>
            <a:ext cx="731520" cy="73152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Question</a:t>
            </a:r>
            <a:br/>
            <a:r>
              <a:rPr>
                <a:latin typeface="Segoe UI"/>
                <a:ea typeface="Meiryo UI"/>
              </a:rPr>
              <a:t>Classifier</a:t>
            </a:r>
          </a:p>
        </p:txBody>
      </p:sp>
      <p:sp>
        <p:nvSpPr>
          <p:cNvPr id="22" name="TextBox 21"/>
          <p:cNvSpPr txBox="1"/>
          <p:nvPr/>
        </p:nvSpPr>
        <p:spPr>
          <a:xfrm>
            <a:off x="7315200" y="21945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問い合わせ分類</a:t>
            </a:r>
            <a:br/>
            <a:r>
              <a:rPr>
                <a:latin typeface="Segoe UI"/>
                <a:ea typeface="Meiryo UI"/>
              </a:rPr>
              <a:t>セグメント・カテゴリ振分</a:t>
            </a:r>
          </a:p>
        </p:txBody>
      </p:sp>
      <p:sp>
        <p:nvSpPr>
          <p:cNvPr id="23" name="TextBox 22"/>
          <p:cNvSpPr txBox="1"/>
          <p:nvPr/>
        </p:nvSpPr>
        <p:spPr>
          <a:xfrm>
            <a:off x="7315200" y="29260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RTL-03, 05, 08</a:t>
            </a:r>
          </a:p>
        </p:txBody>
      </p:sp>
      <p:sp>
        <p:nvSpPr>
          <p:cNvPr id="24" name="Rounded Rectangle 23"/>
          <p:cNvSpPr/>
          <p:nvPr/>
        </p:nvSpPr>
        <p:spPr>
          <a:xfrm>
            <a:off x="9509760" y="11887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95560" y="1325880"/>
            <a:ext cx="731520" cy="731520"/>
          </a:xfrm>
          <a:prstGeom prst="ellipse">
            <a:avLst/>
          </a:prstGeom>
          <a:solidFill>
            <a:srgbClr val="006E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0" y="13716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Parameter</a:t>
            </a:r>
            <a:br/>
            <a:r>
              <a:rPr>
                <a:latin typeface="Segoe UI"/>
                <a:ea typeface="Meiryo UI"/>
              </a:rPr>
              <a:t>Extractor</a:t>
            </a:r>
          </a:p>
        </p:txBody>
      </p:sp>
      <p:sp>
        <p:nvSpPr>
          <p:cNvPr id="27" name="TextBox 26"/>
          <p:cNvSpPr txBox="1"/>
          <p:nvPr/>
        </p:nvSpPr>
        <p:spPr>
          <a:xfrm>
            <a:off x="9601200" y="21945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レビュー・クレーム</a:t>
            </a:r>
            <a:br/>
            <a:r>
              <a:rPr>
                <a:latin typeface="Segoe UI"/>
                <a:ea typeface="Meiryo UI"/>
              </a:rPr>
              <a:t>の構造化抽出</a:t>
            </a:r>
          </a:p>
        </p:txBody>
      </p:sp>
      <p:sp>
        <p:nvSpPr>
          <p:cNvPr id="28" name="TextBox 27"/>
          <p:cNvSpPr txBox="1"/>
          <p:nvPr/>
        </p:nvSpPr>
        <p:spPr>
          <a:xfrm>
            <a:off x="9601200" y="29260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RTL-02, 06</a:t>
            </a:r>
          </a:p>
        </p:txBody>
      </p:sp>
      <p:sp>
        <p:nvSpPr>
          <p:cNvPr id="29" name="Rounded Rectangle 28"/>
          <p:cNvSpPr/>
          <p:nvPr/>
        </p:nvSpPr>
        <p:spPr>
          <a:xfrm>
            <a:off x="365760" y="39319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51560" y="4069080"/>
            <a:ext cx="731520" cy="731520"/>
          </a:xfrm>
          <a:prstGeom prst="ellipse">
            <a:avLst/>
          </a:prstGeom>
          <a:solidFill>
            <a:srgbClr val="E86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IF/ELSE</a:t>
            </a:r>
          </a:p>
        </p:txBody>
      </p:sp>
      <p:sp>
        <p:nvSpPr>
          <p:cNvPr id="32" name="TextBox 31"/>
          <p:cNvSpPr txBox="1"/>
          <p:nvPr/>
        </p:nvSpPr>
        <p:spPr>
          <a:xfrm>
            <a:off x="457200" y="49377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在庫アラート判定</a:t>
            </a:r>
            <a:br/>
            <a:r>
              <a:rPr>
                <a:latin typeface="Segoe UI"/>
                <a:ea typeface="Meiryo UI"/>
              </a:rPr>
              <a:t>エスカレーション判定</a:t>
            </a:r>
          </a:p>
        </p:txBody>
      </p:sp>
      <p:sp>
        <p:nvSpPr>
          <p:cNvPr id="33" name="TextBox 32"/>
          <p:cNvSpPr txBox="1"/>
          <p:nvPr/>
        </p:nvSpPr>
        <p:spPr>
          <a:xfrm>
            <a:off x="457200" y="56692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RTL-04, 06</a:t>
            </a:r>
          </a:p>
        </p:txBody>
      </p:sp>
      <p:sp>
        <p:nvSpPr>
          <p:cNvPr id="34" name="Rounded Rectangle 33"/>
          <p:cNvSpPr/>
          <p:nvPr/>
        </p:nvSpPr>
        <p:spPr>
          <a:xfrm>
            <a:off x="2651760" y="39319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337560" y="4069080"/>
            <a:ext cx="731520" cy="731520"/>
          </a:xfrm>
          <a:prstGeom prst="ellipse">
            <a:avLst/>
          </a:prstGeom>
          <a:solidFill>
            <a:srgbClr val="0060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743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Iteration</a:t>
            </a:r>
          </a:p>
        </p:txBody>
      </p:sp>
      <p:sp>
        <p:nvSpPr>
          <p:cNvPr id="37" name="TextBox 36"/>
          <p:cNvSpPr txBox="1"/>
          <p:nvPr/>
        </p:nvSpPr>
        <p:spPr>
          <a:xfrm>
            <a:off x="2743200" y="49377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競合価格・店舗売上</a:t>
            </a:r>
            <a:br/>
            <a:r>
              <a:rPr>
                <a:latin typeface="Segoe UI"/>
                <a:ea typeface="Meiryo UI"/>
              </a:rPr>
              <a:t>のバッチAPI取得</a:t>
            </a:r>
          </a:p>
        </p:txBody>
      </p:sp>
      <p:sp>
        <p:nvSpPr>
          <p:cNvPr id="38" name="TextBox 37"/>
          <p:cNvSpPr txBox="1"/>
          <p:nvPr/>
        </p:nvSpPr>
        <p:spPr>
          <a:xfrm>
            <a:off x="2743200" y="56692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RTL-07, 10</a:t>
            </a:r>
          </a:p>
        </p:txBody>
      </p:sp>
      <p:sp>
        <p:nvSpPr>
          <p:cNvPr id="39" name="Rounded Rectangle 38"/>
          <p:cNvSpPr/>
          <p:nvPr/>
        </p:nvSpPr>
        <p:spPr>
          <a:xfrm>
            <a:off x="4937760" y="39319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23560" y="4069080"/>
            <a:ext cx="731520" cy="731520"/>
          </a:xfrm>
          <a:prstGeom prst="ellipse">
            <a:avLst/>
          </a:prstGeom>
          <a:solidFill>
            <a:srgbClr val="8B4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Template</a:t>
            </a:r>
            <a:br/>
            <a:r>
              <a:rPr>
                <a:latin typeface="Segoe UI"/>
                <a:ea typeface="Meiryo UI"/>
              </a:rPr>
              <a:t>Transform</a:t>
            </a:r>
          </a:p>
        </p:txBody>
      </p:sp>
      <p:sp>
        <p:nvSpPr>
          <p:cNvPr id="42" name="TextBox 41"/>
          <p:cNvSpPr txBox="1"/>
          <p:nvPr/>
        </p:nvSpPr>
        <p:spPr>
          <a:xfrm>
            <a:off x="5029200" y="49377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説明文・在庫レポート</a:t>
            </a:r>
            <a:br/>
            <a:r>
              <a:rPr>
                <a:latin typeface="Segoe UI"/>
                <a:ea typeface="Meiryo UI"/>
              </a:rPr>
              <a:t>企画書のフォーマット</a:t>
            </a:r>
          </a:p>
        </p:txBody>
      </p:sp>
      <p:sp>
        <p:nvSpPr>
          <p:cNvPr id="43" name="TextBox 42"/>
          <p:cNvSpPr txBox="1"/>
          <p:nvPr/>
        </p:nvSpPr>
        <p:spPr>
          <a:xfrm>
            <a:off x="5029200" y="56692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RTL-01, 04,</a:t>
            </a:r>
            <a:br/>
            <a:r>
              <a:rPr>
                <a:latin typeface="Segoe UI"/>
                <a:ea typeface="Meiryo UI"/>
              </a:rPr>
              <a:t>06, 09</a:t>
            </a:r>
          </a:p>
        </p:txBody>
      </p:sp>
      <p:sp>
        <p:nvSpPr>
          <p:cNvPr id="44" name="Rounded Rectangle 43"/>
          <p:cNvSpPr/>
          <p:nvPr/>
        </p:nvSpPr>
        <p:spPr>
          <a:xfrm>
            <a:off x="7223760" y="39319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909560" y="4069080"/>
            <a:ext cx="731520" cy="731520"/>
          </a:xfrm>
          <a:prstGeom prst="ellipse">
            <a:avLst/>
          </a:prstGeom>
          <a:solidFill>
            <a:srgbClr val="5557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315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Variable</a:t>
            </a:r>
            <a:br/>
            <a:r>
              <a:rPr>
                <a:latin typeface="Segoe UI"/>
                <a:ea typeface="Meiryo UI"/>
              </a:rPr>
              <a:t>Aggregator</a:t>
            </a:r>
          </a:p>
        </p:txBody>
      </p:sp>
      <p:sp>
        <p:nvSpPr>
          <p:cNvPr id="47" name="TextBox 46"/>
          <p:cNvSpPr txBox="1"/>
          <p:nvPr/>
        </p:nvSpPr>
        <p:spPr>
          <a:xfrm>
            <a:off x="7315200" y="49377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分岐メール・分類結果</a:t>
            </a:r>
            <a:br/>
            <a:r>
              <a:rPr>
                <a:latin typeface="Segoe UI"/>
                <a:ea typeface="Meiryo UI"/>
              </a:rPr>
              <a:t>の統合・集約</a:t>
            </a:r>
          </a:p>
        </p:txBody>
      </p:sp>
      <p:sp>
        <p:nvSpPr>
          <p:cNvPr id="48" name="TextBox 47"/>
          <p:cNvSpPr txBox="1"/>
          <p:nvPr/>
        </p:nvSpPr>
        <p:spPr>
          <a:xfrm>
            <a:off x="7315200" y="56692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RTL-04, 05,</a:t>
            </a:r>
            <a:br/>
            <a:r>
              <a:rPr>
                <a:latin typeface="Segoe UI"/>
                <a:ea typeface="Meiryo UI"/>
              </a:rPr>
              <a:t>06, 08</a:t>
            </a:r>
          </a:p>
        </p:txBody>
      </p:sp>
      <p:sp>
        <p:nvSpPr>
          <p:cNvPr id="49" name="Rounded Rectangle 48"/>
          <p:cNvSpPr/>
          <p:nvPr/>
        </p:nvSpPr>
        <p:spPr>
          <a:xfrm>
            <a:off x="9509760" y="3931920"/>
            <a:ext cx="2103120" cy="237744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195560" y="4069080"/>
            <a:ext cx="731520" cy="731520"/>
          </a:xfrm>
          <a:prstGeom prst="ellipse">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601200" y="4114800"/>
            <a:ext cx="1920240" cy="640080"/>
          </a:xfrm>
          <a:prstGeom prst="rect">
            <a:avLst/>
          </a:prstGeom>
          <a:noFill/>
        </p:spPr>
        <p:txBody>
          <a:bodyPr wrap="square">
            <a:spAutoFit/>
          </a:bodyPr>
          <a:lstStyle/>
          <a:p>
            <a:pPr algn="ctr">
              <a:defRPr sz="1000" b="1">
                <a:solidFill>
                  <a:srgbClr val="FFFFFF"/>
                </a:solidFill>
                <a:latin typeface="Segoe UI"/>
              </a:defRPr>
            </a:pPr>
            <a:r>
              <a:rPr>
                <a:latin typeface="Segoe UI"/>
                <a:ea typeface="Meiryo UI"/>
              </a:rPr>
              <a:t>HTTP</a:t>
            </a:r>
            <a:br/>
            <a:r>
              <a:rPr>
                <a:latin typeface="Segoe UI"/>
                <a:ea typeface="Meiryo UI"/>
              </a:rPr>
              <a:t>Request</a:t>
            </a:r>
          </a:p>
        </p:txBody>
      </p:sp>
      <p:sp>
        <p:nvSpPr>
          <p:cNvPr id="52" name="TextBox 51"/>
          <p:cNvSpPr txBox="1"/>
          <p:nvPr/>
        </p:nvSpPr>
        <p:spPr>
          <a:xfrm>
            <a:off x="9601200" y="4937760"/>
            <a:ext cx="1920240" cy="640080"/>
          </a:xfrm>
          <a:prstGeom prst="rect">
            <a:avLst/>
          </a:prstGeom>
          <a:noFill/>
        </p:spPr>
        <p:txBody>
          <a:bodyPr wrap="square">
            <a:spAutoFit/>
          </a:bodyPr>
          <a:lstStyle/>
          <a:p>
            <a:pPr algn="ctr">
              <a:defRPr sz="1000" b="0">
                <a:solidFill>
                  <a:srgbClr val="2A1A12"/>
                </a:solidFill>
                <a:latin typeface="Segoe UI"/>
              </a:defRPr>
            </a:pPr>
            <a:r>
              <a:rPr>
                <a:latin typeface="Segoe UI"/>
                <a:ea typeface="Meiryo UI"/>
              </a:rPr>
              <a:t>在庫API・価格API</a:t>
            </a:r>
            <a:br/>
            <a:r>
              <a:rPr>
                <a:latin typeface="Segoe UI"/>
                <a:ea typeface="Meiryo UI"/>
              </a:rPr>
              <a:t>売上API連携</a:t>
            </a:r>
          </a:p>
        </p:txBody>
      </p:sp>
      <p:sp>
        <p:nvSpPr>
          <p:cNvPr id="53" name="TextBox 52"/>
          <p:cNvSpPr txBox="1"/>
          <p:nvPr/>
        </p:nvSpPr>
        <p:spPr>
          <a:xfrm>
            <a:off x="9601200" y="5669280"/>
            <a:ext cx="1920240" cy="457200"/>
          </a:xfrm>
          <a:prstGeom prst="rect">
            <a:avLst/>
          </a:prstGeom>
          <a:noFill/>
        </p:spPr>
        <p:txBody>
          <a:bodyPr wrap="square">
            <a:spAutoFit/>
          </a:bodyPr>
          <a:lstStyle/>
          <a:p>
            <a:pPr algn="ctr">
              <a:defRPr sz="900" b="0">
                <a:solidFill>
                  <a:srgbClr val="5A4A3A"/>
                </a:solidFill>
                <a:latin typeface="Segoe UI"/>
              </a:defRPr>
            </a:pPr>
            <a:r>
              <a:rPr>
                <a:latin typeface="Segoe UI"/>
                <a:ea typeface="Meiryo UI"/>
              </a:rPr>
              <a:t>RTL-04, 07,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62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52400"/>
            <a:ext cx="9144000" cy="508000"/>
          </a:xfrm>
          <a:prstGeom prst="rect">
            <a:avLst/>
          </a:prstGeom>
          <a:noFill/>
        </p:spPr>
        <p:txBody>
          <a:bodyPr wrap="square">
            <a:spAutoFit/>
          </a:bodyPr>
          <a:lstStyle/>
          <a:p>
            <a:pPr algn="l">
              <a:defRPr sz="2600" b="1">
                <a:solidFill>
                  <a:srgbClr val="FFFFFF"/>
                </a:solidFill>
                <a:latin typeface="Segoe UI"/>
              </a:defRPr>
            </a:pPr>
            <a:r>
              <a:rPr>
                <a:latin typeface="Segoe UI"/>
                <a:ea typeface="Meiryo UI"/>
              </a:rPr>
              <a:t>導入ステップ</a:t>
            </a:r>
          </a:p>
        </p:txBody>
      </p:sp>
      <p:sp>
        <p:nvSpPr>
          <p:cNvPr id="4" name="Oval 3"/>
          <p:cNvSpPr/>
          <p:nvPr/>
        </p:nvSpPr>
        <p:spPr>
          <a:xfrm>
            <a:off x="960120" y="1371600"/>
            <a:ext cx="914400" cy="914400"/>
          </a:xfrm>
          <a:prstGeom prst="ellipse">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1</a:t>
            </a:r>
          </a:p>
        </p:txBody>
      </p:sp>
      <p:sp>
        <p:nvSpPr>
          <p:cNvPr id="6" name="Right Arrow 5"/>
          <p:cNvSpPr/>
          <p:nvPr/>
        </p:nvSpPr>
        <p:spPr>
          <a:xfrm>
            <a:off x="2011680" y="1645920"/>
            <a:ext cx="457200" cy="365760"/>
          </a:xfrm>
          <a:prstGeom prst="rightArrow">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468880"/>
            <a:ext cx="2103120" cy="365760"/>
          </a:xfrm>
          <a:prstGeom prst="rect">
            <a:avLst/>
          </a:prstGeom>
          <a:noFill/>
        </p:spPr>
        <p:txBody>
          <a:bodyPr wrap="square">
            <a:spAutoFit/>
          </a:bodyPr>
          <a:lstStyle/>
          <a:p>
            <a:pPr algn="ctr">
              <a:defRPr sz="1600" b="1">
                <a:solidFill>
                  <a:srgbClr val="2A1A12"/>
                </a:solidFill>
                <a:latin typeface="Segoe UI"/>
              </a:defRPr>
            </a:pPr>
            <a:r>
              <a:rPr>
                <a:latin typeface="Segoe UI"/>
                <a:ea typeface="Meiryo UI"/>
              </a:rPr>
              <a:t>インポート</a:t>
            </a:r>
          </a:p>
        </p:txBody>
      </p:sp>
      <p:sp>
        <p:nvSpPr>
          <p:cNvPr id="8" name="Rounded Rectangle 7"/>
          <p:cNvSpPr/>
          <p:nvPr/>
        </p:nvSpPr>
        <p:spPr>
          <a:xfrm>
            <a:off x="365760" y="3017520"/>
            <a:ext cx="210312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154680"/>
            <a:ext cx="1828800" cy="1280160"/>
          </a:xfrm>
          <a:prstGeom prst="rect">
            <a:avLst/>
          </a:prstGeom>
          <a:noFill/>
        </p:spPr>
        <p:txBody>
          <a:bodyPr wrap="square">
            <a:spAutoFit/>
          </a:bodyPr>
          <a:lstStyle/>
          <a:p>
            <a:pPr algn="ctr">
              <a:defRPr sz="1100" b="0">
                <a:solidFill>
                  <a:srgbClr val="2A1A12"/>
                </a:solidFill>
                <a:latin typeface="Segoe UI"/>
              </a:defRPr>
            </a:pPr>
            <a:r>
              <a:rPr>
                <a:latin typeface="Segoe UI"/>
                <a:ea typeface="Meiryo UI"/>
              </a:rPr>
              <a:t>DSL ファイルを Dify の</a:t>
            </a:r>
            <a:br/>
            <a:r>
              <a:rPr>
                <a:latin typeface="Segoe UI"/>
                <a:ea typeface="Meiryo UI"/>
              </a:rPr>
              <a:t>「スタジオ」画面から</a:t>
            </a:r>
            <a:br/>
            <a:r>
              <a:rPr>
                <a:latin typeface="Segoe UI"/>
                <a:ea typeface="Meiryo UI"/>
              </a:rPr>
              <a:t>インポート</a:t>
            </a:r>
          </a:p>
        </p:txBody>
      </p:sp>
      <p:sp>
        <p:nvSpPr>
          <p:cNvPr id="10" name="TextBox 9"/>
          <p:cNvSpPr txBox="1"/>
          <p:nvPr/>
        </p:nvSpPr>
        <p:spPr>
          <a:xfrm>
            <a:off x="502920" y="4480560"/>
            <a:ext cx="182880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所要: 数分</a:t>
            </a:r>
          </a:p>
        </p:txBody>
      </p:sp>
      <p:sp>
        <p:nvSpPr>
          <p:cNvPr id="11" name="Oval 10"/>
          <p:cNvSpPr/>
          <p:nvPr/>
        </p:nvSpPr>
        <p:spPr>
          <a:xfrm>
            <a:off x="3246120" y="1371600"/>
            <a:ext cx="914400" cy="914400"/>
          </a:xfrm>
          <a:prstGeom prst="ellipse">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6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2</a:t>
            </a:r>
          </a:p>
        </p:txBody>
      </p:sp>
      <p:sp>
        <p:nvSpPr>
          <p:cNvPr id="13" name="Right Arrow 12"/>
          <p:cNvSpPr/>
          <p:nvPr/>
        </p:nvSpPr>
        <p:spPr>
          <a:xfrm>
            <a:off x="4297680" y="1645920"/>
            <a:ext cx="457200" cy="365760"/>
          </a:xfrm>
          <a:prstGeom prst="rightArrow">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51760" y="2468880"/>
            <a:ext cx="2103120" cy="365760"/>
          </a:xfrm>
          <a:prstGeom prst="rect">
            <a:avLst/>
          </a:prstGeom>
          <a:noFill/>
        </p:spPr>
        <p:txBody>
          <a:bodyPr wrap="square">
            <a:spAutoFit/>
          </a:bodyPr>
          <a:lstStyle/>
          <a:p>
            <a:pPr algn="ctr">
              <a:defRPr sz="1600" b="1">
                <a:solidFill>
                  <a:srgbClr val="2A1A12"/>
                </a:solidFill>
                <a:latin typeface="Segoe UI"/>
              </a:defRPr>
            </a:pPr>
            <a:r>
              <a:rPr>
                <a:latin typeface="Segoe UI"/>
                <a:ea typeface="Meiryo UI"/>
              </a:rPr>
              <a:t>モデル設定</a:t>
            </a:r>
          </a:p>
        </p:txBody>
      </p:sp>
      <p:sp>
        <p:nvSpPr>
          <p:cNvPr id="15" name="Rounded Rectangle 14"/>
          <p:cNvSpPr/>
          <p:nvPr/>
        </p:nvSpPr>
        <p:spPr>
          <a:xfrm>
            <a:off x="2651760" y="3017520"/>
            <a:ext cx="210312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88920" y="3154680"/>
            <a:ext cx="1828800" cy="1280160"/>
          </a:xfrm>
          <a:prstGeom prst="rect">
            <a:avLst/>
          </a:prstGeom>
          <a:noFill/>
        </p:spPr>
        <p:txBody>
          <a:bodyPr wrap="square">
            <a:spAutoFit/>
          </a:bodyPr>
          <a:lstStyle/>
          <a:p>
            <a:pPr algn="ctr">
              <a:defRPr sz="1100" b="0">
                <a:solidFill>
                  <a:srgbClr val="2A1A12"/>
                </a:solidFill>
                <a:latin typeface="Segoe UI"/>
              </a:defRPr>
            </a:pPr>
            <a:r>
              <a:rPr>
                <a:latin typeface="Segoe UI"/>
                <a:ea typeface="Meiryo UI"/>
              </a:rPr>
              <a:t>openai / gpt-4o-mini を</a:t>
            </a:r>
            <a:br/>
            <a:r>
              <a:rPr>
                <a:latin typeface="Segoe UI"/>
                <a:ea typeface="Meiryo UI"/>
              </a:rPr>
              <a:t>利用可能な LLM</a:t>
            </a:r>
            <a:br/>
            <a:r>
              <a:rPr>
                <a:latin typeface="Segoe UI"/>
                <a:ea typeface="Meiryo UI"/>
              </a:rPr>
              <a:t>プロバイダーに変更</a:t>
            </a:r>
          </a:p>
        </p:txBody>
      </p:sp>
      <p:sp>
        <p:nvSpPr>
          <p:cNvPr id="17" name="TextBox 16"/>
          <p:cNvSpPr txBox="1"/>
          <p:nvPr/>
        </p:nvSpPr>
        <p:spPr>
          <a:xfrm>
            <a:off x="2788920" y="4480560"/>
            <a:ext cx="182880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所要: 数分</a:t>
            </a:r>
          </a:p>
        </p:txBody>
      </p:sp>
      <p:sp>
        <p:nvSpPr>
          <p:cNvPr id="18" name="Oval 17"/>
          <p:cNvSpPr/>
          <p:nvPr/>
        </p:nvSpPr>
        <p:spPr>
          <a:xfrm>
            <a:off x="5532120" y="1371600"/>
            <a:ext cx="914400" cy="914400"/>
          </a:xfrm>
          <a:prstGeom prst="ellipse">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532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3</a:t>
            </a:r>
          </a:p>
        </p:txBody>
      </p:sp>
      <p:sp>
        <p:nvSpPr>
          <p:cNvPr id="20" name="Right Arrow 19"/>
          <p:cNvSpPr/>
          <p:nvPr/>
        </p:nvSpPr>
        <p:spPr>
          <a:xfrm>
            <a:off x="6583680" y="1645920"/>
            <a:ext cx="457200" cy="365760"/>
          </a:xfrm>
          <a:prstGeom prst="rightArrow">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7760" y="2468880"/>
            <a:ext cx="2103120" cy="365760"/>
          </a:xfrm>
          <a:prstGeom prst="rect">
            <a:avLst/>
          </a:prstGeom>
          <a:noFill/>
        </p:spPr>
        <p:txBody>
          <a:bodyPr wrap="square">
            <a:spAutoFit/>
          </a:bodyPr>
          <a:lstStyle/>
          <a:p>
            <a:pPr algn="ctr">
              <a:defRPr sz="1600" b="1">
                <a:solidFill>
                  <a:srgbClr val="2A1A12"/>
                </a:solidFill>
                <a:latin typeface="Segoe UI"/>
              </a:defRPr>
            </a:pPr>
            <a:r>
              <a:rPr>
                <a:latin typeface="Segoe UI"/>
                <a:ea typeface="Meiryo UI"/>
              </a:rPr>
              <a:t>KB・API設定</a:t>
            </a:r>
          </a:p>
        </p:txBody>
      </p:sp>
      <p:sp>
        <p:nvSpPr>
          <p:cNvPr id="22" name="Rounded Rectangle 21"/>
          <p:cNvSpPr/>
          <p:nvPr/>
        </p:nvSpPr>
        <p:spPr>
          <a:xfrm>
            <a:off x="4937760" y="3017520"/>
            <a:ext cx="210312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74920" y="3154680"/>
            <a:ext cx="1828800" cy="1280160"/>
          </a:xfrm>
          <a:prstGeom prst="rect">
            <a:avLst/>
          </a:prstGeom>
          <a:noFill/>
        </p:spPr>
        <p:txBody>
          <a:bodyPr wrap="square">
            <a:spAutoFit/>
          </a:bodyPr>
          <a:lstStyle/>
          <a:p>
            <a:pPr algn="ctr">
              <a:defRPr sz="1100" b="0">
                <a:solidFill>
                  <a:srgbClr val="2A1A12"/>
                </a:solidFill>
                <a:latin typeface="Segoe UI"/>
              </a:defRPr>
            </a:pPr>
            <a:r>
              <a:rPr>
                <a:latin typeface="Segoe UI"/>
                <a:ea typeface="Meiryo UI"/>
              </a:rPr>
              <a:t>商品カタログ・注文ポリシーの</a:t>
            </a:r>
            <a:br/>
            <a:r>
              <a:rPr>
                <a:latin typeface="Segoe UI"/>
                <a:ea typeface="Meiryo UI"/>
              </a:rPr>
              <a:t>KB構築、在庫API・</a:t>
            </a:r>
            <a:br/>
            <a:r>
              <a:rPr>
                <a:latin typeface="Segoe UI"/>
                <a:ea typeface="Meiryo UI"/>
              </a:rPr>
              <a:t>売上APIの接続設定</a:t>
            </a:r>
          </a:p>
        </p:txBody>
      </p:sp>
      <p:sp>
        <p:nvSpPr>
          <p:cNvPr id="24" name="TextBox 23"/>
          <p:cNvSpPr txBox="1"/>
          <p:nvPr/>
        </p:nvSpPr>
        <p:spPr>
          <a:xfrm>
            <a:off x="5074920" y="4480560"/>
            <a:ext cx="182880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所要: 数時間〜1日</a:t>
            </a:r>
          </a:p>
        </p:txBody>
      </p:sp>
      <p:sp>
        <p:nvSpPr>
          <p:cNvPr id="25" name="Oval 24"/>
          <p:cNvSpPr/>
          <p:nvPr/>
        </p:nvSpPr>
        <p:spPr>
          <a:xfrm>
            <a:off x="7818120" y="1371600"/>
            <a:ext cx="914400" cy="914400"/>
          </a:xfrm>
          <a:prstGeom prst="ellipse">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818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4</a:t>
            </a:r>
          </a:p>
        </p:txBody>
      </p:sp>
      <p:sp>
        <p:nvSpPr>
          <p:cNvPr id="27" name="Right Arrow 26"/>
          <p:cNvSpPr/>
          <p:nvPr/>
        </p:nvSpPr>
        <p:spPr>
          <a:xfrm>
            <a:off x="8869680" y="1645920"/>
            <a:ext cx="457200" cy="365760"/>
          </a:xfrm>
          <a:prstGeom prst="rightArrow">
            <a:avLst/>
          </a:prstGeom>
          <a:solidFill>
            <a:srgbClr val="E0D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0" y="2468880"/>
            <a:ext cx="2103120" cy="365760"/>
          </a:xfrm>
          <a:prstGeom prst="rect">
            <a:avLst/>
          </a:prstGeom>
          <a:noFill/>
        </p:spPr>
        <p:txBody>
          <a:bodyPr wrap="square">
            <a:spAutoFit/>
          </a:bodyPr>
          <a:lstStyle/>
          <a:p>
            <a:pPr algn="ctr">
              <a:defRPr sz="1600" b="1">
                <a:solidFill>
                  <a:srgbClr val="2A1A12"/>
                </a:solidFill>
                <a:latin typeface="Segoe UI"/>
              </a:defRPr>
            </a:pPr>
            <a:r>
              <a:rPr>
                <a:latin typeface="Segoe UI"/>
                <a:ea typeface="Meiryo UI"/>
              </a:rPr>
              <a:t>業務カスタマイズ</a:t>
            </a:r>
          </a:p>
        </p:txBody>
      </p:sp>
      <p:sp>
        <p:nvSpPr>
          <p:cNvPr id="29" name="Rounded Rectangle 28"/>
          <p:cNvSpPr/>
          <p:nvPr/>
        </p:nvSpPr>
        <p:spPr>
          <a:xfrm>
            <a:off x="7223760" y="3017520"/>
            <a:ext cx="210312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0920" y="3154680"/>
            <a:ext cx="1828800" cy="1280160"/>
          </a:xfrm>
          <a:prstGeom prst="rect">
            <a:avLst/>
          </a:prstGeom>
          <a:noFill/>
        </p:spPr>
        <p:txBody>
          <a:bodyPr wrap="square">
            <a:spAutoFit/>
          </a:bodyPr>
          <a:lstStyle/>
          <a:p>
            <a:pPr algn="ctr">
              <a:defRPr sz="1100" b="0">
                <a:solidFill>
                  <a:srgbClr val="2A1A12"/>
                </a:solidFill>
                <a:latin typeface="Segoe UI"/>
              </a:defRPr>
            </a:pPr>
            <a:r>
              <a:rPr>
                <a:latin typeface="Segoe UI"/>
                <a:ea typeface="Meiryo UI"/>
              </a:rPr>
              <a:t>返品ポリシー・在庫閾値</a:t>
            </a:r>
            <a:br/>
            <a:r>
              <a:rPr>
                <a:latin typeface="Segoe UI"/>
                <a:ea typeface="Meiryo UI"/>
              </a:rPr>
              <a:t>商品カテゴリ・メール文面を</a:t>
            </a:r>
            <a:br/>
            <a:r>
              <a:rPr>
                <a:latin typeface="Segoe UI"/>
                <a:ea typeface="Meiryo UI"/>
              </a:rPr>
              <a:t>自社仕様に調整</a:t>
            </a:r>
          </a:p>
        </p:txBody>
      </p:sp>
      <p:sp>
        <p:nvSpPr>
          <p:cNvPr id="31" name="TextBox 30"/>
          <p:cNvSpPr txBox="1"/>
          <p:nvPr/>
        </p:nvSpPr>
        <p:spPr>
          <a:xfrm>
            <a:off x="7360920" y="4480560"/>
            <a:ext cx="182880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所要: 1〜2日</a:t>
            </a:r>
          </a:p>
        </p:txBody>
      </p:sp>
      <p:sp>
        <p:nvSpPr>
          <p:cNvPr id="32" name="Oval 31"/>
          <p:cNvSpPr/>
          <p:nvPr/>
        </p:nvSpPr>
        <p:spPr>
          <a:xfrm>
            <a:off x="10104120" y="1371600"/>
            <a:ext cx="914400" cy="914400"/>
          </a:xfrm>
          <a:prstGeom prst="ellipse">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04120" y="1463040"/>
            <a:ext cx="914400" cy="731520"/>
          </a:xfrm>
          <a:prstGeom prst="rect">
            <a:avLst/>
          </a:prstGeom>
          <a:noFill/>
        </p:spPr>
        <p:txBody>
          <a:bodyPr wrap="square">
            <a:spAutoFit/>
          </a:bodyPr>
          <a:lstStyle/>
          <a:p>
            <a:pPr algn="ctr">
              <a:defRPr sz="1300" b="1">
                <a:solidFill>
                  <a:srgbClr val="FFFFFF"/>
                </a:solidFill>
                <a:latin typeface="Segoe UI"/>
              </a:defRPr>
            </a:pPr>
            <a:r>
              <a:rPr>
                <a:latin typeface="Segoe UI"/>
                <a:ea typeface="Meiryo UI"/>
              </a:rPr>
              <a:t>STEP 5</a:t>
            </a:r>
          </a:p>
        </p:txBody>
      </p:sp>
      <p:sp>
        <p:nvSpPr>
          <p:cNvPr id="34" name="TextBox 33"/>
          <p:cNvSpPr txBox="1"/>
          <p:nvPr/>
        </p:nvSpPr>
        <p:spPr>
          <a:xfrm>
            <a:off x="9509760" y="2468880"/>
            <a:ext cx="2103120" cy="365760"/>
          </a:xfrm>
          <a:prstGeom prst="rect">
            <a:avLst/>
          </a:prstGeom>
          <a:noFill/>
        </p:spPr>
        <p:txBody>
          <a:bodyPr wrap="square">
            <a:spAutoFit/>
          </a:bodyPr>
          <a:lstStyle/>
          <a:p>
            <a:pPr algn="ctr">
              <a:defRPr sz="1600" b="1">
                <a:solidFill>
                  <a:srgbClr val="2A1A12"/>
                </a:solidFill>
                <a:latin typeface="Segoe UI"/>
              </a:defRPr>
            </a:pPr>
            <a:r>
              <a:rPr>
                <a:latin typeface="Segoe UI"/>
                <a:ea typeface="Meiryo UI"/>
              </a:rPr>
              <a:t>テスト・運用開始</a:t>
            </a:r>
          </a:p>
        </p:txBody>
      </p:sp>
      <p:sp>
        <p:nvSpPr>
          <p:cNvPr id="35" name="Rounded Rectangle 34"/>
          <p:cNvSpPr/>
          <p:nvPr/>
        </p:nvSpPr>
        <p:spPr>
          <a:xfrm>
            <a:off x="9509760" y="3017520"/>
            <a:ext cx="2103120" cy="2011680"/>
          </a:xfrm>
          <a:prstGeom prst="roundRect">
            <a:avLst/>
          </a:prstGeom>
          <a:solidFill>
            <a:srgbClr val="FDF5EF"/>
          </a:solidFill>
          <a:ln w="6350">
            <a:solidFill>
              <a:srgbClr val="E0D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46920" y="3154680"/>
            <a:ext cx="1828800" cy="1280160"/>
          </a:xfrm>
          <a:prstGeom prst="rect">
            <a:avLst/>
          </a:prstGeom>
          <a:noFill/>
        </p:spPr>
        <p:txBody>
          <a:bodyPr wrap="square">
            <a:spAutoFit/>
          </a:bodyPr>
          <a:lstStyle/>
          <a:p>
            <a:pPr algn="ctr">
              <a:defRPr sz="1100" b="0">
                <a:solidFill>
                  <a:srgbClr val="2A1A12"/>
                </a:solidFill>
                <a:latin typeface="Segoe UI"/>
              </a:defRPr>
            </a:pPr>
            <a:r>
              <a:rPr>
                <a:latin typeface="Segoe UI"/>
                <a:ea typeface="Meiryo UI"/>
              </a:rPr>
              <a:t>評価データで検証</a:t>
            </a:r>
            <a:br/>
            <a:r>
              <a:rPr>
                <a:latin typeface="Segoe UI"/>
                <a:ea typeface="Meiryo UI"/>
              </a:rPr>
              <a:t>段階的に本番展開</a:t>
            </a:r>
            <a:br/>
            <a:r>
              <a:rPr>
                <a:latin typeface="Segoe UI"/>
                <a:ea typeface="Meiryo UI"/>
              </a:rPr>
              <a:t>KPI モニタリング体制構築</a:t>
            </a:r>
          </a:p>
        </p:txBody>
      </p:sp>
      <p:sp>
        <p:nvSpPr>
          <p:cNvPr id="37" name="TextBox 36"/>
          <p:cNvSpPr txBox="1"/>
          <p:nvPr/>
        </p:nvSpPr>
        <p:spPr>
          <a:xfrm>
            <a:off x="9646920" y="4480560"/>
            <a:ext cx="1828800" cy="274320"/>
          </a:xfrm>
          <a:prstGeom prst="rect">
            <a:avLst/>
          </a:prstGeom>
          <a:noFill/>
        </p:spPr>
        <p:txBody>
          <a:bodyPr wrap="square">
            <a:spAutoFit/>
          </a:bodyPr>
          <a:lstStyle/>
          <a:p>
            <a:pPr algn="ctr">
              <a:defRPr sz="1000" b="1">
                <a:solidFill>
                  <a:srgbClr val="E65C00"/>
                </a:solidFill>
                <a:latin typeface="Segoe UI"/>
              </a:defRPr>
            </a:pPr>
            <a:r>
              <a:rPr>
                <a:latin typeface="Segoe UI"/>
                <a:ea typeface="Meiryo UI"/>
              </a:rPr>
              <a:t>所要: 1〜2週間</a:t>
            </a:r>
          </a:p>
        </p:txBody>
      </p:sp>
      <p:sp>
        <p:nvSpPr>
          <p:cNvPr id="38" name="TextBox 37"/>
          <p:cNvSpPr txBox="1"/>
          <p:nvPr/>
        </p:nvSpPr>
        <p:spPr>
          <a:xfrm>
            <a:off x="731520" y="5486400"/>
            <a:ext cx="10515600" cy="731520"/>
          </a:xfrm>
          <a:prstGeom prst="rect">
            <a:avLst/>
          </a:prstGeom>
          <a:noFill/>
        </p:spPr>
        <p:txBody>
          <a:bodyPr wrap="square">
            <a:spAutoFit/>
          </a:bodyPr>
          <a:lstStyle/>
          <a:p>
            <a:pPr algn="l">
              <a:defRPr sz="1100" b="0">
                <a:solidFill>
                  <a:srgbClr val="5A4A3A"/>
                </a:solidFill>
                <a:latin typeface="Segoe UI"/>
              </a:defRPr>
            </a:pPr>
            <a:r>
              <a:rPr>
                <a:latin typeface="Segoe UI"/>
                <a:ea typeface="Meiryo UI"/>
              </a:rPr>
              <a:t>※ 上記は目安です。既存システムとの連携範囲や自社固有のカスタマイズ内容により変動します。</a:t>
            </a:r>
            <a:br/>
            <a:r>
              <a:rPr>
                <a:latin typeface="Segoe UI"/>
                <a:ea typeface="Meiryo UI"/>
              </a:rPr>
              <a:t>※ STEP 1〜2 はテンプレートの即時利用（PoC）として実施可能です。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E27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62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144000" cy="914400"/>
          </a:xfrm>
          <a:prstGeom prst="rect">
            <a:avLst/>
          </a:prstGeom>
          <a:noFill/>
        </p:spPr>
        <p:txBody>
          <a:bodyPr wrap="square">
            <a:spAutoFit/>
          </a:bodyPr>
          <a:lstStyle/>
          <a:p>
            <a:pPr algn="ctr">
              <a:defRPr sz="3600" b="1">
                <a:solidFill>
                  <a:srgbClr val="FFFFFF"/>
                </a:solidFill>
                <a:latin typeface="Segoe UI"/>
              </a:defRPr>
            </a:pPr>
            <a:r>
              <a:rPr>
                <a:latin typeface="Segoe UI"/>
                <a:ea typeface="Meiryo UI"/>
              </a:rPr>
              <a:t>AI ワークフローで小売・EC の成長を加速する</a:t>
            </a:r>
          </a:p>
        </p:txBody>
      </p:sp>
      <p:sp>
        <p:nvSpPr>
          <p:cNvPr id="5" name="Rectangle 4"/>
          <p:cNvSpPr/>
          <p:nvPr/>
        </p:nvSpPr>
        <p:spPr>
          <a:xfrm>
            <a:off x="4572000" y="3017520"/>
            <a:ext cx="3017520" cy="50800"/>
          </a:xfrm>
          <a:prstGeom prst="rect">
            <a:avLst/>
          </a:prstGeom>
          <a:solidFill>
            <a:srgbClr val="E6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3474720"/>
            <a:ext cx="8229600" cy="457200"/>
          </a:xfrm>
          <a:prstGeom prst="rect">
            <a:avLst/>
          </a:prstGeom>
          <a:noFill/>
        </p:spPr>
        <p:txBody>
          <a:bodyPr wrap="square">
            <a:spAutoFit/>
          </a:bodyPr>
          <a:lstStyle/>
          <a:p>
            <a:pPr algn="ctr">
              <a:defRPr sz="1800" b="0">
                <a:solidFill>
                  <a:srgbClr val="D0A080"/>
                </a:solidFill>
                <a:latin typeface="Segoe UI"/>
              </a:defRPr>
            </a:pPr>
            <a:r>
              <a:rPr>
                <a:latin typeface="Segoe UI"/>
                <a:ea typeface="Meiryo UI"/>
              </a:rPr>
              <a:t>10 の実践的テンプレートで、顧客体験向上と業務効率化を同時に実現</a:t>
            </a:r>
          </a:p>
        </p:txBody>
      </p:sp>
      <p:sp>
        <p:nvSpPr>
          <p:cNvPr id="7" name="Rounded Rectangle 6"/>
          <p:cNvSpPr/>
          <p:nvPr/>
        </p:nvSpPr>
        <p:spPr>
          <a:xfrm>
            <a:off x="1645920" y="4206240"/>
            <a:ext cx="2743200" cy="731520"/>
          </a:xfrm>
          <a:prstGeom prst="roundRect">
            <a:avLst/>
          </a:prstGeom>
          <a:solidFill>
            <a:srgbClr val="4E342E"/>
          </a:solidFill>
          <a:ln w="12700">
            <a:solidFill>
              <a:srgbClr val="705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7373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顧客接点の自動化</a:t>
            </a:r>
          </a:p>
        </p:txBody>
      </p:sp>
      <p:sp>
        <p:nvSpPr>
          <p:cNvPr id="9" name="Rounded Rectangle 8"/>
          <p:cNvSpPr/>
          <p:nvPr/>
        </p:nvSpPr>
        <p:spPr>
          <a:xfrm>
            <a:off x="4846320" y="4206240"/>
            <a:ext cx="2743200" cy="731520"/>
          </a:xfrm>
          <a:prstGeom prst="roundRect">
            <a:avLst/>
          </a:prstGeom>
          <a:solidFill>
            <a:srgbClr val="4E342E"/>
          </a:solidFill>
          <a:ln w="12700">
            <a:solidFill>
              <a:srgbClr val="705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データ駆動の意思決定</a:t>
            </a:r>
          </a:p>
        </p:txBody>
      </p:sp>
      <p:sp>
        <p:nvSpPr>
          <p:cNvPr id="11" name="Rounded Rectangle 10"/>
          <p:cNvSpPr/>
          <p:nvPr/>
        </p:nvSpPr>
        <p:spPr>
          <a:xfrm>
            <a:off x="8046720" y="4206240"/>
            <a:ext cx="2743200" cy="731520"/>
          </a:xfrm>
          <a:prstGeom prst="roundRect">
            <a:avLst/>
          </a:prstGeom>
          <a:solidFill>
            <a:srgbClr val="4E342E"/>
          </a:solidFill>
          <a:ln w="12700">
            <a:solidFill>
              <a:srgbClr val="705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60" y="4343400"/>
            <a:ext cx="2560320" cy="457200"/>
          </a:xfrm>
          <a:prstGeom prst="rect">
            <a:avLst/>
          </a:prstGeom>
          <a:noFill/>
        </p:spPr>
        <p:txBody>
          <a:bodyPr wrap="square">
            <a:spAutoFit/>
          </a:bodyPr>
          <a:lstStyle/>
          <a:p>
            <a:pPr algn="ctr">
              <a:defRPr sz="1600" b="1">
                <a:solidFill>
                  <a:srgbClr val="FFFFFF"/>
                </a:solidFill>
                <a:latin typeface="Segoe UI"/>
              </a:defRPr>
            </a:pPr>
            <a:r>
              <a:rPr>
                <a:latin typeface="Segoe UI"/>
                <a:ea typeface="Meiryo UI"/>
              </a:rPr>
              <a:t>法令準拠の安全設計</a:t>
            </a:r>
          </a:p>
        </p:txBody>
      </p:sp>
      <p:sp>
        <p:nvSpPr>
          <p:cNvPr id="13" name="TextBox 12"/>
          <p:cNvSpPr txBox="1"/>
          <p:nvPr/>
        </p:nvSpPr>
        <p:spPr>
          <a:xfrm>
            <a:off x="1371600" y="5486400"/>
            <a:ext cx="9144000" cy="457200"/>
          </a:xfrm>
          <a:prstGeom prst="rect">
            <a:avLst/>
          </a:prstGeom>
          <a:noFill/>
        </p:spPr>
        <p:txBody>
          <a:bodyPr wrap="square">
            <a:spAutoFit/>
          </a:bodyPr>
          <a:lstStyle/>
          <a:p>
            <a:pPr algn="ctr">
              <a:defRPr sz="1400" b="0">
                <a:solidFill>
                  <a:srgbClr val="B09070"/>
                </a:solidFill>
                <a:latin typeface="Segoe UI"/>
              </a:defRPr>
            </a:pPr>
            <a:r>
              <a:rPr>
                <a:latin typeface="Segoe UI"/>
                <a:ea typeface="Meiryo UI"/>
              </a:rPr>
              <a:t>ご質問・デモのご依頼はお気軽にお問い合わせください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