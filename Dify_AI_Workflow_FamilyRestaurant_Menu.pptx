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CCFF"/>
                </a:solidFill>
                <a:latin typeface="Meiryo"/>
              </a:defRPr>
            </a:pPr>
            <a:r>
              <a:t>Dify AI ワークフロー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eiryo"/>
              </a:defRPr>
            </a:pPr>
            <a:r>
              <a:t>ファミレスメニュー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Meiryo"/>
              </a:defRPr>
            </a:pPr>
            <a:r>
              <a:t>〜 業界別 AI ソリューション カタログ 全170品 〜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2743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  <a:defRPr sz="1800" b="0">
                <a:solidFill>
                  <a:srgbClr val="CCDDFF"/>
                </a:solidFill>
                <a:latin typeface="Meiryo"/>
              </a:defRPr>
            </a:pPr>
            <a:r>
              <a:t>20業界 × 170ワークフロー の網羅的AIソリューションで</a:t>
            </a:r>
          </a:p>
          <a:p>
            <a:pPr algn="l">
              <a:spcAft>
                <a:spcPts val="1120"/>
              </a:spcAft>
              <a:defRPr sz="1800" b="0">
                <a:solidFill>
                  <a:srgbClr val="CCDDFF"/>
                </a:solidFill>
                <a:latin typeface="Meiryo"/>
              </a:defRPr>
            </a:pPr>
            <a:r>
              <a:t>御社の業務効率化・コスト削減・売上拡大を実現します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eiryo"/>
              </a:defRPr>
            </a:pPr>
            <a:r>
              <a:t>2026年02月  |  Powered by Dify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企業のAI活用における3つの壁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なぜ多くの企業でAI導入が「PoC止まり」になるのか？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ファミレスメニュー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11680" y="169164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  <a:latin typeface="Meiryo"/>
              </a:defRPr>
            </a:pPr>
            <a:r>
              <a:t>何を作ればいいかわからない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AI活用のアイデアはあるが、</a:t>
            </a:r>
            <a:br/>
            <a:r>
              <a:t>自社の業務にどう適用すれば</a:t>
            </a:r>
            <a:br/>
            <a:r>
              <a:t>効果があるのか具体像が見えない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54880"/>
            <a:ext cx="2926080" cy="10058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46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0">
                <a:solidFill>
                  <a:srgbClr val="E74C3C"/>
                </a:solidFill>
                <a:latin typeface="Meiryo"/>
              </a:defRPr>
            </a:pPr>
            <a:r>
              <a:t>「AIで何かできそう」</a:t>
            </a:r>
            <a:br/>
            <a:r>
              <a:t>→ 具体化できず停滞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0" y="169164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68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  <a:latin typeface="Meiryo"/>
              </a:defRPr>
            </a:pPr>
            <a:r>
              <a:t>作っても使われない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1089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技術先行で構築したAIツールが</a:t>
            </a:r>
            <a:br/>
            <a:r>
              <a:t>現場の業務フローに合わず、</a:t>
            </a:r>
            <a:br/>
            <a:r>
              <a:t>利用率が上がらない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754880"/>
            <a:ext cx="2926080" cy="10058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846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0">
                <a:solidFill>
                  <a:srgbClr val="E74C3C"/>
                </a:solidFill>
                <a:latin typeface="Meiryo"/>
              </a:defRPr>
            </a:pPr>
            <a:r>
              <a:t>「便利そうだけど今のやり方で</a:t>
            </a:r>
            <a:br/>
            <a:r>
              <a:t>  十分」→ 現場が使わない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463040"/>
            <a:ext cx="329184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6880" y="169164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68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  <a:latin typeface="Meiryo"/>
              </a:defRPr>
            </a:pPr>
            <a:r>
              <a:t>コストが見合わない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1089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個別開発すると1機能あたり</a:t>
            </a:r>
            <a:br/>
            <a:r>
              <a:t>数百万円〜。ROIが見えず</a:t>
            </a:r>
            <a:br/>
            <a:r>
              <a:t>経営層の承認が得られない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754880"/>
            <a:ext cx="2926080" cy="10058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846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0">
                <a:solidFill>
                  <a:srgbClr val="E74C3C"/>
                </a:solidFill>
                <a:latin typeface="Meiryo"/>
              </a:defRPr>
            </a:pPr>
            <a:r>
              <a:t>「費用対効果を示せ」</a:t>
            </a:r>
            <a:br/>
            <a:r>
              <a:t>→ 予算がつかない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解決策：Dify × ファミレスメニュー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「何を作るか」は、もう考えなくていい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ファミレスメニュー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CDF"/>
                </a:solidFill>
                <a:latin typeface="Meiryo"/>
              </a:defRPr>
            </a:pPr>
            <a:r>
              <a:t>Dify とは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ノーコード / ローコードで AI ワークフローを構築・運用できる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オープンソースの AI アプリケーション開発プラットフォーム。</a:t>
            </a:r>
          </a:p>
          <a:p>
            <a:pPr algn="l">
              <a:spcAft>
                <a:spcPts val="700"/>
              </a:spcAft>
              <a:defRPr sz="800" b="0">
                <a:solidFill>
                  <a:srgbClr val="333333"/>
                </a:solidFill>
                <a:latin typeface="Meiryo"/>
              </a:defRPr>
            </a:pP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Claude / GPT / Gemini 等の LLM を組み合わせ、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RAG・分岐・API連携・バッチ処理を GUI で構築可能。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Meiryo"/>
              </a:defRPr>
            </a:pPr>
            <a:r>
              <a:t>ファミレスメニュー とは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170品の業界別AIワークフローを「メニュー表」として用意。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お客様は「メニューから選ぶだけ」で、</a:t>
            </a:r>
          </a:p>
          <a:p>
            <a:pPr algn="l">
              <a:spcAft>
                <a:spcPts val="700"/>
              </a:spcAft>
              <a:defRPr sz="800" b="0">
                <a:solidFill>
                  <a:srgbClr val="333333"/>
                </a:solidFill>
                <a:latin typeface="Meiryo"/>
              </a:defRPr>
            </a:pPr>
          </a:p>
          <a:p>
            <a:pPr algn="l">
              <a:spcAft>
                <a:spcPts val="700"/>
              </a:spcAft>
              <a:defRPr sz="1400" b="1">
                <a:solidFill>
                  <a:srgbClr val="333333"/>
                </a:solidFill>
                <a:latin typeface="Meiryo"/>
              </a:defRPr>
            </a:pPr>
            <a:r>
              <a:t>自社に最適なAIワークフローを</a:t>
            </a:r>
          </a:p>
          <a:p>
            <a:pPr algn="l">
              <a:spcAft>
                <a:spcPts val="700"/>
              </a:spcAft>
              <a:defRPr sz="1400" b="1">
                <a:solidFill>
                  <a:srgbClr val="FF6B35"/>
                </a:solidFill>
                <a:latin typeface="Meiryo"/>
              </a:defRPr>
            </a:pPr>
            <a:r>
              <a:t>最短1日で導入開始 できます。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3291840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6CDF"/>
                </a:solidFill>
                <a:latin typeface="Meiryo"/>
              </a:defRPr>
            </a:pPr>
            <a:r>
              <a:t>選ぶだけで導入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170品のメニューから</a:t>
            </a:r>
            <a:br/>
            <a:r>
              <a:t>業界・課題に合わせて選択。</a:t>
            </a:r>
            <a:br/>
            <a:r>
              <a:t>ゼロから考える必要なし。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114800"/>
            <a:ext cx="329184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251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  <a:latin typeface="Meiryo"/>
              </a:defRPr>
            </a:pPr>
            <a:r>
              <a:t>圧倒的な低コスト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54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個別開発の1/10以下のコストで</a:t>
            </a:r>
            <a:br/>
            <a:r>
              <a:t>導入可能。外部AI SaaS の</a:t>
            </a:r>
            <a:br/>
            <a:r>
              <a:t>月額コストも削減。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114800"/>
            <a:ext cx="32918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251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35"/>
                </a:solidFill>
                <a:latin typeface="Meiryo"/>
              </a:defRPr>
            </a:pPr>
            <a:r>
              <a:t>即日〜1週間で稼働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754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テンプレートベースだから</a:t>
            </a:r>
            <a:br/>
            <a:r>
              <a:t>PoCまで最短1日。</a:t>
            </a:r>
            <a:br/>
            <a:r>
              <a:t>本番稼働も1〜2週間。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メニュー全体構成：21コース × 170品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どの業界のどの部門にも「すぐ出せる」ソリューションを網羅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ファミレスメニュー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9144000" cy="504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926080"/>
                <a:gridCol w="3200400"/>
                <a:gridCol w="731520"/>
                <a:gridCol w="1828800"/>
              </a:tblGrid>
              <a:tr h="2194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コース名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対象業界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品数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番号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共通コース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全業種共通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25品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AIS-01〜25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製造業コース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製造業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AIS-26〜33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金融・保険コース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銀行・証券・保険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AIS-34〜41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医療・ヘルスケアコース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病院・クリニック・薬局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AIS-42〜49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小売・ECコース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小売・EC事業者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AIS-50〜57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不動産コース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不動産会社・管理会社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7品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AIS-58〜64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教育コース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学校・塾・研修機関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7品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AIS-65〜71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物流・SCMコース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物流会社・メーカー物流部門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AIS-72〜77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IT・SaaSコース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IT企業・SaaS事業者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7品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AIS-78〜84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飲食・ホスピタリティコース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飲食店・ホテル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AIS-85〜90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建設コース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建設会社・工務店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AIS-91〜96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メディア・広告コース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メディア・広告代理店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AIS-97〜102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士業・専門サービスコース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法律・会計・特許事務所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AIS-103〜108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自治体・公共コース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自治体・公共機関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AIS-109〜114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人材・派遣コース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人材紹介・派遣会社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AIS-115〜120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クロスファンクション上級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全業種（高度AI活用）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10品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AIS-121〜130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自動車・モビリティコース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自動車メーカー・ディーラー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AIS-131〜138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医薬品・ライフサイエンス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製薬・CRO・医療機器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AIS-139〜146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エネルギー・インフラ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電力・ガス・再エネ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AIS-147〜154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旅行・観光・ホテル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旅行代理店・宿泊施設・DMO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AIS-155〜162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農業・食品加工コース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農業法人・食品メーカー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AIS-163〜170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合計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21コース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170品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AIS-01〜170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6400800"/>
            <a:ext cx="3657600" cy="3200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■ オレンジ = 今回の新規追加提案 50品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既存120品：業界別 人気メニュー TOP3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各業界で最もROIが高い「まず試すべき」ワークフロー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ファミレスメニュー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共通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41732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4173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全業種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議事録AI要約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社内ナレッジ検索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323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営業提案書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137160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製造業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41732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4173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品質・安全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品質検査レポート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SOP自動生成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24323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設備保全計画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137160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金融・保険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141732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4173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規制対応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融資審査コメント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AML/KYCチェック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24323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リスク管理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137160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医療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141732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14173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文書作成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診療サマリー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患者説明文書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24323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医療安全レポート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92640" y="137160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小売・EC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109960" y="141732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09960" y="14173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売上直結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商品説明文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レビュー分析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24323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在庫分析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306324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不動産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65960" y="310896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65960" y="31089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業務効率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物件紹介文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3776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重説チェックリスト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123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物件査定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34640" y="306324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教育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51960" y="310896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51960" y="31089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教員支援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718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通知表所見文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71800" y="3776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テスト問題生成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4123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授業計画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20640" y="306324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1208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物流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37960" y="310896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37960" y="31089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コスト削減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配送ルート最適化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57800" y="3776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通関書類チェック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4123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在庫最適化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06640" y="306324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IT・SaaS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23960" y="310896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23960" y="31089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開発効率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438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障害報告書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43800" y="3776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テストケース生成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43800" y="4123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コードレビュー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92640" y="306324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飲食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1109960" y="310896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109960" y="31089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品質・利益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8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メニュー説明文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29800" y="3776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衛生管理チェック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29800" y="4123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原価分析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475488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建設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965960" y="480060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65960" y="480060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書類DX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施工計画書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5468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安全管理計画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5815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工事見積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834640" y="475488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2608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メディア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51960" y="480060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51960" y="480060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コンテンツ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7180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プレスリリース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71800" y="5468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動画台本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71800" y="5815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広告効果分析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120640" y="475488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1208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士業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537960" y="480060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37960" y="480060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専門効率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5780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法律相談ドラフト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57800" y="5468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経営コンサルレポート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57800" y="5815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監査チェック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406640" y="475488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49808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自治体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823960" y="480060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823960" y="480060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住民SV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54380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住民広報文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543800" y="5468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議会答弁ドラフト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43800" y="5815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補助金申請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692640" y="4754880"/>
            <a:ext cx="2057400" cy="1508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78408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CDF"/>
                </a:solidFill>
                <a:latin typeface="Meiryo"/>
              </a:defRPr>
            </a:pPr>
            <a:r>
              <a:t>人材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109960" y="4800600"/>
            <a:ext cx="594360" cy="2286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109960" y="480060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営業効率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82980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スカウトメール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829800" y="5468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求人原稿一括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29800" y="5815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eiryo"/>
              </a:defRPr>
            </a:pPr>
            <a:r>
              <a:t>  人材紹介レポート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【NEW】クロスファンクション上級コース 10品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既存の単独AIサービスを Dify で再現し、外部コストを削減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ファミレスメニュー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9601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メニュー名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再現対象（既存AIサービス）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主な効果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AI文書校正・品質改善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Grammarly / 文賢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外部ツール月額×人数分を削減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商談録音AI分析・コーチング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Gong / MiiTel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営業1人月2h振り返り効率化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多言語翻訳・ローカライズ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DeepL / WOVN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翻訳外注コスト70%削減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請求書AI読取→仕訳提案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freee / invox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経理1人月10h入力作業削減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SNSブランドモニタリング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Meltwater / Brandwatch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月額10〜30万のツール代替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リードスコアリング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Salesforce Einstein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営業の無駄アプローチ50%削減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RFP自動回答ジェネレーター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RFPIO / Loopio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提案書作成時間70%短縮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ESGレポート生成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Workiva / Diligent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外部コンサル費用を大幅削減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経営ダッシュボードナラティブ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Narrative Science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月次報告書作成80%短縮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社内規程AI検索・改訂ドラフト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（自社開発が必要だった領域）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規程管理の属人化を解消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5669280"/>
            <a:ext cx="11430000" cy="5943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Meiryo"/>
              </a:defRPr>
            </a:pPr>
            <a:r>
              <a:t>Point：外部AI SaaSサービスの月額合計が1人あたり5,000〜20,000円 → Difyで一括代替すれば、100名規模で年間600万〜2,400万円のコスト削減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【NEW】自動車・モビリティコース 8品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日本の基幹産業。品質文書・ディーラー業務をAIで革新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ファミレスメニュー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9601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49377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メニュー名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対象ユーザー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品質不具合分析（DRBFM）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不具合→DRBFM形式の変化点分析・対策レポート自動生成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品質管理部門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リコール影響範囲分析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リコール情報→影響範囲・優先度・顧客通知文を生成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品質保証・CS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FMEA分析シート生成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設計/工程情報→故障モード・影響・検出のFMEAシート作成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設計・生産技術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ディーラー接客スクリプト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車種・顧客属性→試乗誘導・クロージングのスクリプト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ディーラー営業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車両点検レポート生成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点検データ→顧客向けレポート＋整備提案を自動作成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サービスフロント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自動車保険見積説明書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車両・顧客情報→保険見積の比較説明書を自動生成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保険窓口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サービスキャンペーン通知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キャンペーン情報→DM・メール・SMS通知文を一括生成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マーケティング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IATF 16949監査チェック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監査範囲→IATF要求事項の監査チェックリスト生成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品質管理・監査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【NEW】医薬品・ライフサイエンスコース 8品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GxP文書・治験・薬事申請の膨大な文書作成をAIで効率化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ファミレスメニュー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9601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49377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メニュー名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対象ユーザー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治験プロトコル要約生成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治験計画書→IRB向け構造化要約（PICOT形式）を自動作成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臨床開発部門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添付文書ドラフト生成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薬理情報・臨床データ→添付文書ドラフトを自動生成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薬事部門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副作用報告（CIOMS）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副作用情報→CIOMS-I形式の安全性報告書ドラフト作成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PV部門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MRディテーリング資料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製品・競合情報→MR用ディテーリング資料を生成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MR・営業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GMP逸脱報告書生成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逸脱概要→GMP逸脱報告書（CAPA付き）を自動作成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品質保証部門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安定性試験レポート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試験データ→ICH Q1準拠の安定性試験レポートを生成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品質管理部門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薬事申請CTD要約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CTDデータ→品質・非臨床・臨床の概要ドラフト自動生成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薬事申請担当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PVシグナル分析レポート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有害事象データ→シグナル検出・評価・対応推奨を分析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PV責任者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【NEW】エネルギー・インフラコース 8品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脱炭素・電力自由化時代の安全管理・環境対応をAIで支援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ファミレスメニュー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9601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49377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メニュー名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対象ユーザー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プラント巡視点検レポート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点検データ→異常検知ハイライト付きレポート自動作成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保全担当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電力需給予測ナラティブ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需給データ・気象予報→需給予測説明レポート自動生成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需給運用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環境アセスメント報告書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環境調査データ→環境影響評価報告書ドラフト生成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環境部門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設備故障RCAレポート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故障情報→根本原因分析＋再発防止策レポート自動作成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設備保全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カーボンフットプリント計算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排出データ→CO2排出量計算書（Scope1-3）を生成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ESG推進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保安規程チェックリスト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施設情報→電気/ガス事業法の保安規程チェック生成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保安管理者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電力料金プラン提案書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使用電力量→最適料金プラン比較＋提案書を自動作成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営業担当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再エネ発電所月次報告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発電データ→月次運転報告書を自動生成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発電所管理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【NEW】旅行・観光・ホテルコース 8品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インバウンド4,000万人時代。多言語対応と顧客体験をAIで強化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ファミレスメニュー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9601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49377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メニュー名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対象ユーザー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旅行プラン自動提案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希望条件→パーソナライズ旅行プラン＋見積を自動生成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旅行カウンター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観光地多言語ガイド生成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スポット情報→日英中韓の多言語ガイド文を一括生成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DMO・観光協会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OTA口コミ分析・改善提案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Booking/じゃらん口コミ→分析・改善優先度・回答文生成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宿泊施設GM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宿泊プラン企画書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施設特徴・ターゲット→プラン企画書（料金・販促文含む）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企画担当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インバウンド接客フレーズ集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業態・FAQ→英中韓の接客フレーズ＋対応マニュアル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フロント・接客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ツアーガイド台本生成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ルート情報→ガイドスクリプト（歴史・豆知識含む）作成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ツアーガイド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旅行業約款チェックリスト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ツアー内容→旅行業法に基づく説明事項チェック生成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旅行業務取扱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観光マーケティングレポート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観光客データ→観光DMP分析レポートを自動生成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DMO・行政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【NEW】農業・食品加工コース 8品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スマート農業・HACCP対応・6次産業化をAIで推進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ファミレスメニュー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9601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49377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メニュー名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対象ユーザー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栽培記録・出荷記録生成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作物情報・農薬使用→GAP準拠の栽培・出荷記録作成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農業法人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HACCP管理記録シート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加工工程・CCP情報→HACCP対応の管理記録シート生成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食品工場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農産物POP・商品説明文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農産物特徴→直売所POP＋EC用商品説明を自動生成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直売所・EC担当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食品表示ラベルチェック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原材料・アレルゲン→食品表示法準拠のチェック結果生成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農水省補助金申請ドラフト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事業計画→農水省系補助金の申請書ドラフト自動作成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経営企画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病害虫診断・対策提案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症状・栽培環境→病害虫の推定診断＋防除対策を提案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営農指導員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トレーサビリティ報告書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生産〜流通データ→食品トレーサビリティ報告書を生成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品質保証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6次産業化事業計画書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農産物・加工品→6次産業化の事業計画書ドラフト作成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農業経営者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導入効果シミュレーション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ワークフロー1品あたりの平均ROIは年間900万円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ファミレスメニュー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2926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6CDF"/>
                </a:solidFill>
                <a:latin typeface="Meiryo"/>
              </a:defRPr>
            </a:pPr>
            <a:r>
              <a:t>1品あたりの年間コスト削減効果（試算）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対象担当者数:                    10名</a:t>
            </a:r>
          </a:p>
          <a:p>
            <a:pPr algn="l">
              <a:spcAft>
                <a:spcPts val="112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利用頻度:                              週2回</a:t>
            </a:r>
          </a:p>
          <a:p>
            <a:pPr algn="l">
              <a:spcAft>
                <a:spcPts val="112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1回あたり時間削減:            1.8時間（3h → 1.2h）</a:t>
            </a:r>
          </a:p>
          <a:p>
            <a:pPr algn="l">
              <a:spcAft>
                <a:spcPts val="112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年間削減時間:                      1,800時間</a:t>
            </a:r>
          </a:p>
          <a:p>
            <a:pPr algn="l">
              <a:spcAft>
                <a:spcPts val="112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時給換算（@5,000円）:       900万円 / 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Meiryo"/>
              </a:defRPr>
            </a:pPr>
            <a:r>
              <a:t>導入パターン別 年間効果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011680"/>
          <a:ext cx="47548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40080"/>
                <a:gridCol w="91440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導入パターン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品数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コスト削減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売上向上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年間合計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スモールスタート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5品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600万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600万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部門導入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1,500万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300万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1,800万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全社導入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25品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3,000万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1,000万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4,000万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フル活用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30品+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5,000万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2,000万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7,000万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4572000"/>
            <a:ext cx="1097280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eiryo"/>
              </a:defRPr>
            </a:pPr>
            <a:r>
              <a:t>外部AI SaaSサービスの代替効果（クロスファンクション上級コース導入時）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Grammarly Business: 月額$25/人 × 100名 = 年間約450万円 → Difyで代替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翻訳外注: 月50万円 × 12ヶ月 = 年間600万円 → 70%削減で420万円の効果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ブランドモニタリングツール: 月額30万 × 12ヶ月 = 年間360万円 → Difyで代替</a:t>
            </a:r>
          </a:p>
          <a:p>
            <a:pPr algn="l">
              <a:spcAft>
                <a:spcPts val="700"/>
              </a:spcAft>
              <a:defRPr sz="1400" b="1">
                <a:solidFill>
                  <a:srgbClr val="27AE60"/>
                </a:solidFill>
                <a:latin typeface="Meiryo"/>
              </a:defRPr>
            </a:pPr>
            <a:r>
              <a:t>合計: 年間1,200万円以上の外部サービスコストを Dify に一本化可能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選び方ガイド：業界×課題マトリクス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「何から始めるべきか」を一目で判断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ファミレスメニュー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969264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274320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業界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まず試すべき1品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次に広げる2品目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最終ゴール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製造業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AIS-26 品質検査レポート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AIS-27 SOP自動生成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品質文書の完全自動化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金融・保険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AIS-34 融資審査コメント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AIS-37 AML/KYCチェック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規制対応のスピード化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医療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AIS-43 診療サマリー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AIS-42 患者説明文書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医師の文書作成ゼロ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小売・EC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AIS-50 商品説明文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AIS-51 レビュー分析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データドリブン経営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不動産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AIS-58 物件紹介文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AIS-59 重説チェック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物件登録スピード3倍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AIS-68 通知表所見文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AIS-66 テスト問題生成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教員の働き方改革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IT・SaaS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AIS-78 障害報告書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AIS-81 テストケース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ドキュメント負債の解消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自動車【NEW】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AIS-131 DRBFM分析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AIS-133 FMEA生成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品質管理DX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医薬品【NEW】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AIS-139 治験プロトコル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AIS-143 GMP逸脱報告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GxP文書の効率化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エネルギー【NEW】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AIS-147 巡視点検レポート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AIS-151 CO2計算書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脱炭素対応の加速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旅行・観光【NEW】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AIS-155 旅行プラン提案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AIS-156 多言語ガイド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インバウンド対応完備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農業【NEW】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AIS-163 栽培記録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AIS-164 HACCP記録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スマート農業の実現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導入ロードマップ：5ステップ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PoC（概念実証）から全社展開まで、段階的に進めます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ファミレスメニュー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14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1645920"/>
            <a:ext cx="731520" cy="73152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6CDF"/>
                </a:solidFill>
                <a:latin typeface="Meiryo"/>
              </a:defRPr>
            </a:pPr>
            <a:r>
              <a:t>課題特定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280160" cy="27432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1日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現場ヒアリングで</a:t>
            </a:r>
            <a:br/>
            <a:r>
              <a:t>対象業務を選定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77440" y="1874520"/>
            <a:ext cx="27432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91840" y="164592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  <a:latin typeface="Meiryo"/>
              </a:defRPr>
            </a:pPr>
            <a:r>
              <a:t>PoC構築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926080"/>
            <a:ext cx="1280160" cy="2743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1〜2週間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337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メニューから2〜3品を</a:t>
            </a:r>
            <a:br/>
            <a:r>
              <a:t>選びプロトタイプ構築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663440" y="1874520"/>
            <a:ext cx="27432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77840" y="164592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Meiryo"/>
              </a:defRPr>
            </a:pPr>
            <a:r>
              <a:t>パイロット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2926080"/>
            <a:ext cx="128016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1ヶ月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337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限定チーム(5-10名)で</a:t>
            </a:r>
            <a:br/>
            <a:r>
              <a:t>実運用・KPI測定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949440" y="1874520"/>
            <a:ext cx="27432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63840" y="1645920"/>
            <a:ext cx="731520" cy="7315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9C12"/>
                </a:solidFill>
                <a:latin typeface="Meiryo"/>
              </a:defRPr>
            </a:pPr>
            <a:r>
              <a:t>本格導入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2926080"/>
            <a:ext cx="128016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2〜3ヶ月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337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全社展開</a:t>
            </a:r>
            <a:br/>
            <a:r>
              <a:t>追加ワークフロー導入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235440" y="1874520"/>
            <a:ext cx="27432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49840" y="164592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Meiryo"/>
              </a:defRPr>
            </a:pPr>
            <a:r>
              <a:t>拡張最適化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0" y="2926080"/>
            <a:ext cx="128016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継続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337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プロンプトチューニング</a:t>
            </a:r>
            <a:br/>
            <a:r>
              <a:t>他部門・他拠点へ横展開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572000"/>
            <a:ext cx="11430000" cy="36576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パイロット運用の成功基準（KPI）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20640"/>
            <a:ext cx="2468880" cy="11887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CDF"/>
                </a:solidFill>
                <a:latin typeface="Meiryo"/>
              </a:defRPr>
            </a:pPr>
            <a:r>
              <a:t>時間削減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532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対象業務の</a:t>
            </a:r>
            <a:br/>
            <a:r>
              <a:t>作成時間 50%↓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5120640"/>
            <a:ext cx="2468880" cy="11887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CDF"/>
                </a:solidFill>
                <a:latin typeface="Meiryo"/>
              </a:defRPr>
            </a:pPr>
            <a:r>
              <a:t>品質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5532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出力修正率</a:t>
            </a:r>
            <a:br/>
            <a:r>
              <a:t>30%以下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120640"/>
            <a:ext cx="2468880" cy="11887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CDF"/>
                </a:solidFill>
                <a:latin typeface="Meiryo"/>
              </a:defRPr>
            </a:pPr>
            <a:r>
              <a:t>利用率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532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対象者の</a:t>
            </a:r>
            <a:br/>
            <a:r>
              <a:t>80%以上が利用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52560" y="5120640"/>
            <a:ext cx="2468880" cy="11887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CDF"/>
                </a:solidFill>
                <a:latin typeface="Meiryo"/>
              </a:defRPr>
            </a:pPr>
            <a:r>
              <a:t>満足度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5532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ユーザー満足度</a:t>
            </a:r>
            <a:br/>
            <a:r>
              <a:t>4.0 / 5.0 以上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6B35"/>
                </a:solidFill>
                <a:latin typeface="Meiryo"/>
              </a:defRPr>
            </a:pPr>
            <a:r>
              <a:t>170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6B35"/>
                </a:solidFill>
                <a:latin typeface="Meiryo"/>
              </a:defRPr>
            </a:pPr>
            <a:r>
              <a:t>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CCFF"/>
                </a:solidFill>
                <a:latin typeface="Meiryo"/>
              </a:defRPr>
            </a:pPr>
            <a:r>
              <a:t>AIワークフロー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6B35"/>
                </a:solidFill>
                <a:latin typeface="Meiryo"/>
              </a:defRPr>
            </a:pPr>
            <a: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6B35"/>
                </a:solidFill>
                <a:latin typeface="Meiryo"/>
              </a:defRPr>
            </a:pPr>
            <a:r>
              <a:t>コース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CCFF"/>
                </a:solidFill>
                <a:latin typeface="Meiryo"/>
              </a:defRPr>
            </a:pPr>
            <a:r>
              <a:t>業界カバー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1828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6B35"/>
                </a:solidFill>
                <a:latin typeface="Meiryo"/>
              </a:defRPr>
            </a:pPr>
            <a:r>
              <a:t>7,000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6B35"/>
                </a:solidFill>
                <a:latin typeface="Meiryo"/>
              </a:defRPr>
            </a:pPr>
            <a:r>
              <a:t>万円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CCFF"/>
                </a:solidFill>
                <a:latin typeface="Meiryo"/>
              </a:defRPr>
            </a:pPr>
            <a:r>
              <a:t>年間最大ROI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「うちの業界の、この業務に、このAIワークフローが使える！」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FFFFFF"/>
                </a:solidFill>
                <a:latin typeface="Meiryo"/>
              </a:defRPr>
            </a:pPr>
          </a:p>
          <a:p>
            <a:pPr algn="l">
              <a:spcAft>
                <a:spcPts val="700"/>
              </a:spcAft>
              <a:defRPr sz="1600" b="0">
                <a:solidFill>
                  <a:srgbClr val="CCDDFF"/>
                </a:solidFill>
                <a:latin typeface="Meiryo"/>
              </a:defRPr>
            </a:pPr>
            <a:r>
              <a:t>170品のファミレスメニューがあれば、どの業界のどの部門の顧客に対しても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CCDDFF"/>
                </a:solidFill>
                <a:latin typeface="Meiryo"/>
              </a:defRPr>
            </a:pPr>
            <a:r>
              <a:t>「御社に最適なAIワークフローが、すでにご用意されています」と即座に提案できます。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303520"/>
            <a:ext cx="91440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Meiryo"/>
              </a:defRPr>
            </a:pPr>
            <a:r>
              <a:t>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760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CCDDFF"/>
                </a:solidFill>
                <a:latin typeface="Meiryo"/>
              </a:defRPr>
            </a:pPr>
            <a:r>
              <a:t>Step 1: メニューから2〜3品を選定 → Step 2: 1〜2週間でPoC構築 → Step 3: 効果を実感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